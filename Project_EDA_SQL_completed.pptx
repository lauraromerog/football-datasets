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Nunito"/>
      <p:regular r:id="rId34"/>
      <p:bold r:id="rId35"/>
      <p:italic r:id="rId36"/>
      <p:boldItalic r:id="rId37"/>
    </p:embeddedFont>
    <p:embeddedFont>
      <p:font typeface="Maven Pro"/>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0" roundtripDataSignature="AMtx7miAgMRfxm1n3k3/WJJoiSQJnIDA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Nunito-bold.fntdata"/><Relationship Id="rId12" Type="http://schemas.openxmlformats.org/officeDocument/2006/relationships/slide" Target="slides/slide7.xml"/><Relationship Id="rId34" Type="http://schemas.openxmlformats.org/officeDocument/2006/relationships/font" Target="fonts/Nunito-regular.fntdata"/><Relationship Id="rId15" Type="http://schemas.openxmlformats.org/officeDocument/2006/relationships/slide" Target="slides/slide10.xml"/><Relationship Id="rId37" Type="http://schemas.openxmlformats.org/officeDocument/2006/relationships/font" Target="fonts/Nunito-boldItalic.fntdata"/><Relationship Id="rId14" Type="http://schemas.openxmlformats.org/officeDocument/2006/relationships/slide" Target="slides/slide9.xml"/><Relationship Id="rId36" Type="http://schemas.openxmlformats.org/officeDocument/2006/relationships/font" Target="fonts/Nunito-italic.fntdata"/><Relationship Id="rId17" Type="http://schemas.openxmlformats.org/officeDocument/2006/relationships/slide" Target="slides/slide12.xml"/><Relationship Id="rId39" Type="http://schemas.openxmlformats.org/officeDocument/2006/relationships/font" Target="fonts/MavenPro-bold.fntdata"/><Relationship Id="rId16" Type="http://schemas.openxmlformats.org/officeDocument/2006/relationships/slide" Target="slides/slide11.xml"/><Relationship Id="rId38" Type="http://schemas.openxmlformats.org/officeDocument/2006/relationships/font" Target="fonts/MavenPr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Today I'm presenting my EDA project on football transfers, specifically looking at trends and dynamics in how players are bought, sold, and valued across football. The data comes from Transfermarkt, one of the most comprehensive public databases for football valuations and transfer records.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objective was to answer 10 analytical questions using both Python/SQL. The questions are grouped into four themes: Market Value and Player Worth, Transfer Market Dynamics, League and Geography Economics, and Career and Value Trajectories. I'll walk you through each.</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Here's the full list of questions. You can see they range from fairly descriptive — which positions are worth the most — to more investigative ones like whether paying a high fee actually gets you better performance, or whether a player's market value grows after moving to a bigger league. I'll go through them in order.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first step was getting the data into SQL. The dataset is structured as a set of CSVs, one per table. I used Python's glob module to loop through all the files recursively and load each one into a SQLite database using pandas.to_sql. This gave me a single .db file I could then query in DB Browser.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Before any analysis, I cleaned the data. The main filters were removing players without a market value, without a position, without foot preference data, and without a main position properly assigned. I also normalised the value column into millions and extracted the year from a Unix timestamp. This left me with a clean, analysis-ready DataFrame. I did this whenever it was </a:t>
            </a:r>
            <a:r>
              <a:rPr lang="en"/>
              <a:t>necessary</a:t>
            </a:r>
            <a:r>
              <a:rPr lang="en"/>
              <a:t> or to excluye outliers.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On the SQL side, the equivalent cleaning was done at query time using WHERE clauses — filtering out nulls, zero values, and incomplete records inline. The SQL and Python cleaning logic mirrors each other, which was important for consistency across both tools.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which positions command the highest market values? The SQL shows the average value grouped by position. We can already see from the table that attacking positions — forwards and attacking midfielders — come out on top.</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charts confirm it visually. The distribution of market values is heavily right-skewed — most players are worth under €5M, but a small number of elite players pull the average up significantly. When we break it down by position, forwards lead clearly, followed by attacking mids. Interestingly, the foot preference charts show that left-footed players often carry a slight premium — particularly in wide attacking positions.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Question 2 asks whether these position rankings have changed over time. I filtered to the last decade, 2015 to 2025, and grouped average value by position and year.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trend lines show that all positions have inflated in value over the decade, but the ranking has remained fairly stable — forwards consistently at the top. The gap between positions has actually widened slightly, suggesting the premium on attacking talent has grown faster than other roles.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Question 3 zooms in on foot preference. The pie charts show the distribution of left-footed versus right-footed players per position. Left-footed players are a minority across all positions, and this scarcity likely contributes to their premium.</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Question 4 looks at the overall transfer market. I compared average transfer fees to average market values season by season to see whether fees are growing faster than the underlying valuations. The SQL calculates this as a fee premium percentage. 2020-2021 are highlighted bc of covid, you can see that they are not as consistent when comparing them to the other years.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charts tell a clear story. Both fees and values have grown substantially, but fees have grown faster — the gap between the two lines has widened over time. This suggests the market is increasingly willing to pay above market value, driven by competition for elite talent and the fear of losing key players.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Question 5: which clubs consistently buy below market value? I filtered to Big 5 league buyers, required at least 10 transfers per club, and took the average discount percentage — only including clubs where the average fee is lower than the average value at transfer.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mirror question — which clubs sell above market value? Same logic, but from the seller's perspective, looking at clubs whose average fee exceeds the player's market value at the time of sale.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combined chart shows the top 15 buyers and sellers by efficiency. You can see interesting patterns by league — some leagues appear more frequently in the buying efficiency chart, others in the selling chart. The colour coding by league makes it easy to spot these trends.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Question 7 asks whether paying more actually gets you better performance. I split players into transfer fee quartiles and compared average goals, assists, and minutes played — excluding goalkeepers since their contribution isn't captured by these metrics.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bar charts show a clear positive correlation — Q4 players, the most expensive quarter, average significantly more goals, assists, and minutes. However, the relationship is not perfectly linear. Q2 and Q3 are closer together than you might expect. This suggests that you're not necessarily getting twice the performance for twice the price.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7" name="Google Shape;42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Question 8 looks at nationality. Rather than trying to control for stats — which gets complicated — I looked at the distribution of transfer fee to market value ratios across the top 20 countries of birth. A ratio above 1 means the player transferred above their listed value.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5" name="Google Shape;43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box plots show the distribution per country, sorted by median ratio. Some nationalities cluster consistently above 1, while others sit at or below it. The outliers are particularly interesting — a few transfers involve ratios far above any reasonable premium, likely driven by exceptional players from those countries.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2" name="Google Shape;44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Question 9: does a player's market value grow after moving to a bigger league? I classified each transfer as a step-up — from outside the Big 5 to inside — or step-down, and then looked at the next recorded transfer value to measure the change.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2" name="Google Shape;45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Question 10: do players with more international caps earn a market value premium? I bucketed players into 1–10, 11–50, and 50+ caps, using only active players — no retired ones — and using the most up-to-date available market value. The result is fairly conclusive: the 50+ caps group has a dramatically higher median and average value than the other two groups.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7" name="Google Shape;46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3" name="Google Shape;47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9" name="Google Shape;47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cd3b4258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cd3b4258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9"/>
          <p:cNvGrpSpPr/>
          <p:nvPr/>
        </p:nvGrpSpPr>
        <p:grpSpPr>
          <a:xfrm>
            <a:off x="7343003" y="3409675"/>
            <a:ext cx="1691422" cy="1732548"/>
            <a:chOff x="7343003" y="3409675"/>
            <a:chExt cx="1691422" cy="1732548"/>
          </a:xfrm>
        </p:grpSpPr>
        <p:grpSp>
          <p:nvGrpSpPr>
            <p:cNvPr id="11" name="Google Shape;11;p29"/>
            <p:cNvGrpSpPr/>
            <p:nvPr/>
          </p:nvGrpSpPr>
          <p:grpSpPr>
            <a:xfrm>
              <a:off x="7343003" y="4453711"/>
              <a:ext cx="316800" cy="688512"/>
              <a:chOff x="7343003" y="4453711"/>
              <a:chExt cx="316800" cy="688512"/>
            </a:xfrm>
          </p:grpSpPr>
          <p:sp>
            <p:nvSpPr>
              <p:cNvPr id="12" name="Google Shape;12;p29"/>
              <p:cNvSpPr/>
              <p:nvPr/>
            </p:nvSpPr>
            <p:spPr>
              <a:xfrm>
                <a:off x="7343003" y="4453711"/>
                <a:ext cx="316800" cy="688500"/>
              </a:xfrm>
              <a:prstGeom prst="round2SameRect">
                <a:avLst>
                  <a:gd fmla="val 50000" name="adj1"/>
                  <a:gd fmla="val 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9"/>
              <p:cNvSpPr/>
              <p:nvPr/>
            </p:nvSpPr>
            <p:spPr>
              <a:xfrm>
                <a:off x="7343003" y="4801723"/>
                <a:ext cx="316800" cy="340500"/>
              </a:xfrm>
              <a:prstGeom prst="round2SameRect">
                <a:avLst>
                  <a:gd fmla="val 50000" name="adj1"/>
                  <a:gd fmla="val 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 name="Google Shape;14;p29"/>
            <p:cNvGrpSpPr/>
            <p:nvPr/>
          </p:nvGrpSpPr>
          <p:grpSpPr>
            <a:xfrm>
              <a:off x="7801210" y="4105700"/>
              <a:ext cx="316800" cy="1036523"/>
              <a:chOff x="7801210" y="4105700"/>
              <a:chExt cx="316800" cy="1036523"/>
            </a:xfrm>
          </p:grpSpPr>
          <p:sp>
            <p:nvSpPr>
              <p:cNvPr id="15" name="Google Shape;15;p29"/>
              <p:cNvSpPr/>
              <p:nvPr/>
            </p:nvSpPr>
            <p:spPr>
              <a:xfrm>
                <a:off x="7801210" y="4453711"/>
                <a:ext cx="316800" cy="688500"/>
              </a:xfrm>
              <a:prstGeom prst="round2SameRect">
                <a:avLst>
                  <a:gd fmla="val 50000" name="adj1"/>
                  <a:gd fmla="val 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9"/>
              <p:cNvSpPr/>
              <p:nvPr/>
            </p:nvSpPr>
            <p:spPr>
              <a:xfrm>
                <a:off x="7801210" y="4105700"/>
                <a:ext cx="316800" cy="1036500"/>
              </a:xfrm>
              <a:prstGeom prst="round2SameRect">
                <a:avLst>
                  <a:gd fmla="val 50000" name="adj1"/>
                  <a:gd fmla="val 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9"/>
              <p:cNvSpPr/>
              <p:nvPr/>
            </p:nvSpPr>
            <p:spPr>
              <a:xfrm>
                <a:off x="7801210" y="4801723"/>
                <a:ext cx="316800" cy="340500"/>
              </a:xfrm>
              <a:prstGeom prst="round2SameRect">
                <a:avLst>
                  <a:gd fmla="val 50000" name="adj1"/>
                  <a:gd fmla="val 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 name="Google Shape;18;p29"/>
            <p:cNvGrpSpPr/>
            <p:nvPr/>
          </p:nvGrpSpPr>
          <p:grpSpPr>
            <a:xfrm>
              <a:off x="8259418" y="3757688"/>
              <a:ext cx="316800" cy="1384535"/>
              <a:chOff x="8259418" y="3757688"/>
              <a:chExt cx="316800" cy="1384535"/>
            </a:xfrm>
          </p:grpSpPr>
          <p:sp>
            <p:nvSpPr>
              <p:cNvPr id="19" name="Google Shape;19;p29"/>
              <p:cNvSpPr/>
              <p:nvPr/>
            </p:nvSpPr>
            <p:spPr>
              <a:xfrm>
                <a:off x="8259418" y="4453711"/>
                <a:ext cx="316800" cy="688500"/>
              </a:xfrm>
              <a:prstGeom prst="round2SameRect">
                <a:avLst>
                  <a:gd fmla="val 50000" name="adj1"/>
                  <a:gd fmla="val 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9"/>
              <p:cNvSpPr/>
              <p:nvPr/>
            </p:nvSpPr>
            <p:spPr>
              <a:xfrm>
                <a:off x="8259418" y="3757688"/>
                <a:ext cx="316800" cy="1384500"/>
              </a:xfrm>
              <a:prstGeom prst="round2SameRect">
                <a:avLst>
                  <a:gd fmla="val 50000" name="adj1"/>
                  <a:gd fmla="val 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9"/>
              <p:cNvSpPr/>
              <p:nvPr/>
            </p:nvSpPr>
            <p:spPr>
              <a:xfrm>
                <a:off x="8259418" y="4105700"/>
                <a:ext cx="316800" cy="1036500"/>
              </a:xfrm>
              <a:prstGeom prst="round2SameRect">
                <a:avLst>
                  <a:gd fmla="val 50000" name="adj1"/>
                  <a:gd fmla="val 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9"/>
              <p:cNvSpPr/>
              <p:nvPr/>
            </p:nvSpPr>
            <p:spPr>
              <a:xfrm>
                <a:off x="8259418" y="4801723"/>
                <a:ext cx="316800" cy="340500"/>
              </a:xfrm>
              <a:prstGeom prst="round2SameRect">
                <a:avLst>
                  <a:gd fmla="val 50000" name="adj1"/>
                  <a:gd fmla="val 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 name="Google Shape;23;p29"/>
            <p:cNvGrpSpPr/>
            <p:nvPr/>
          </p:nvGrpSpPr>
          <p:grpSpPr>
            <a:xfrm>
              <a:off x="8717625" y="3409675"/>
              <a:ext cx="316800" cy="1732548"/>
              <a:chOff x="8717625" y="3409675"/>
              <a:chExt cx="316800" cy="1732548"/>
            </a:xfrm>
          </p:grpSpPr>
          <p:sp>
            <p:nvSpPr>
              <p:cNvPr id="24" name="Google Shape;24;p29"/>
              <p:cNvSpPr/>
              <p:nvPr/>
            </p:nvSpPr>
            <p:spPr>
              <a:xfrm>
                <a:off x="8717625" y="4453711"/>
                <a:ext cx="316800" cy="688500"/>
              </a:xfrm>
              <a:prstGeom prst="round2SameRect">
                <a:avLst>
                  <a:gd fmla="val 50000" name="adj1"/>
                  <a:gd fmla="val 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9"/>
              <p:cNvSpPr/>
              <p:nvPr/>
            </p:nvSpPr>
            <p:spPr>
              <a:xfrm>
                <a:off x="8717625" y="3757688"/>
                <a:ext cx="316800" cy="1384500"/>
              </a:xfrm>
              <a:prstGeom prst="round2SameRect">
                <a:avLst>
                  <a:gd fmla="val 50000" name="adj1"/>
                  <a:gd fmla="val 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9"/>
              <p:cNvSpPr/>
              <p:nvPr/>
            </p:nvSpPr>
            <p:spPr>
              <a:xfrm>
                <a:off x="8717625" y="4105700"/>
                <a:ext cx="316800" cy="1036500"/>
              </a:xfrm>
              <a:prstGeom prst="round2SameRect">
                <a:avLst>
                  <a:gd fmla="val 50000" name="adj1"/>
                  <a:gd fmla="val 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9"/>
              <p:cNvSpPr/>
              <p:nvPr/>
            </p:nvSpPr>
            <p:spPr>
              <a:xfrm>
                <a:off x="8717625" y="3409675"/>
                <a:ext cx="316800" cy="1732500"/>
              </a:xfrm>
              <a:prstGeom prst="round2SameRect">
                <a:avLst>
                  <a:gd fmla="val 50000" name="adj1"/>
                  <a:gd fmla="val 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9"/>
              <p:cNvSpPr/>
              <p:nvPr/>
            </p:nvSpPr>
            <p:spPr>
              <a:xfrm>
                <a:off x="8717625" y="4801723"/>
                <a:ext cx="316800" cy="340500"/>
              </a:xfrm>
              <a:prstGeom prst="round2SameRect">
                <a:avLst>
                  <a:gd fmla="val 50000" name="adj1"/>
                  <a:gd fmla="val 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9" name="Google Shape;29;p29"/>
          <p:cNvGrpSpPr/>
          <p:nvPr/>
        </p:nvGrpSpPr>
        <p:grpSpPr>
          <a:xfrm>
            <a:off x="5043503" y="0"/>
            <a:ext cx="3814072" cy="3839102"/>
            <a:chOff x="5043503" y="0"/>
            <a:chExt cx="3814072" cy="3839102"/>
          </a:xfrm>
        </p:grpSpPr>
        <p:sp>
          <p:nvSpPr>
            <p:cNvPr id="30" name="Google Shape;30;p29"/>
            <p:cNvSpPr/>
            <p:nvPr/>
          </p:nvSpPr>
          <p:spPr>
            <a:xfrm>
              <a:off x="8460975" y="1817775"/>
              <a:ext cx="396600" cy="396600"/>
            </a:xfrm>
            <a:prstGeom prst="ellipse">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9"/>
            <p:cNvSpPr/>
            <p:nvPr/>
          </p:nvSpPr>
          <p:spPr>
            <a:xfrm rot="-9830444">
              <a:off x="6469759" y="3480728"/>
              <a:ext cx="320148" cy="320148"/>
            </a:xfrm>
            <a:prstGeom prst="ellipse">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 name="Google Shape;32;p29"/>
            <p:cNvGrpSpPr/>
            <p:nvPr/>
          </p:nvGrpSpPr>
          <p:grpSpPr>
            <a:xfrm>
              <a:off x="7647812" y="2704283"/>
              <a:ext cx="635219" cy="635219"/>
              <a:chOff x="6725724" y="2701260"/>
              <a:chExt cx="1208101" cy="1208100"/>
            </a:xfrm>
          </p:grpSpPr>
          <p:sp>
            <p:nvSpPr>
              <p:cNvPr id="33" name="Google Shape;33;p29"/>
              <p:cNvSpPr/>
              <p:nvPr/>
            </p:nvSpPr>
            <p:spPr>
              <a:xfrm rot="5400000">
                <a:off x="6725725" y="2701260"/>
                <a:ext cx="1208100" cy="1208100"/>
              </a:xfrm>
              <a:prstGeom prst="ellipse">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9"/>
              <p:cNvSpPr/>
              <p:nvPr/>
            </p:nvSpPr>
            <p:spPr>
              <a:xfrm rot="5400000">
                <a:off x="6725724" y="2701260"/>
                <a:ext cx="1208100" cy="1208100"/>
              </a:xfrm>
              <a:prstGeom prst="pie">
                <a:avLst>
                  <a:gd fmla="val 8244818" name="adj1"/>
                  <a:gd fmla="val 16246175"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9"/>
              <p:cNvSpPr/>
              <p:nvPr/>
            </p:nvSpPr>
            <p:spPr>
              <a:xfrm rot="5400000">
                <a:off x="6954988" y="2930398"/>
                <a:ext cx="749700" cy="749700"/>
              </a:xfrm>
              <a:prstGeom prst="ellipse">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29"/>
            <p:cNvSpPr/>
            <p:nvPr/>
          </p:nvSpPr>
          <p:spPr>
            <a:xfrm>
              <a:off x="8460975" y="1817775"/>
              <a:ext cx="396600" cy="396600"/>
            </a:xfrm>
            <a:prstGeom prst="pie">
              <a:avLst>
                <a:gd fmla="val 19376841" name="adj1"/>
                <a:gd fmla="val 1620000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 name="Google Shape;37;p29"/>
            <p:cNvGrpSpPr/>
            <p:nvPr/>
          </p:nvGrpSpPr>
          <p:grpSpPr>
            <a:xfrm>
              <a:off x="7952720" y="179238"/>
              <a:ext cx="873165" cy="873003"/>
              <a:chOff x="7754428" y="208725"/>
              <a:chExt cx="541800" cy="541800"/>
            </a:xfrm>
          </p:grpSpPr>
          <p:sp>
            <p:nvSpPr>
              <p:cNvPr id="38" name="Google Shape;38;p29"/>
              <p:cNvSpPr/>
              <p:nvPr/>
            </p:nvSpPr>
            <p:spPr>
              <a:xfrm rot="-8647347">
                <a:off x="7831319" y="285616"/>
                <a:ext cx="388018" cy="388018"/>
              </a:xfrm>
              <a:prstGeom prst="ellipse">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9"/>
              <p:cNvSpPr/>
              <p:nvPr/>
            </p:nvSpPr>
            <p:spPr>
              <a:xfrm rot="-8647347">
                <a:off x="7831319" y="285616"/>
                <a:ext cx="388018" cy="388018"/>
              </a:xfrm>
              <a:prstGeom prst="pie">
                <a:avLst>
                  <a:gd fmla="val 19376841" name="adj1"/>
                  <a:gd fmla="val 12313574"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 name="Google Shape;40;p29"/>
            <p:cNvSpPr/>
            <p:nvPr/>
          </p:nvSpPr>
          <p:spPr>
            <a:xfrm>
              <a:off x="5399840" y="356365"/>
              <a:ext cx="2577000" cy="2577000"/>
            </a:xfrm>
            <a:prstGeom prst="ellipse">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9"/>
            <p:cNvSpPr/>
            <p:nvPr/>
          </p:nvSpPr>
          <p:spPr>
            <a:xfrm rot="2043858">
              <a:off x="5503813" y="460310"/>
              <a:ext cx="2369480" cy="2369480"/>
            </a:xfrm>
            <a:prstGeom prst="ellipse">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9"/>
            <p:cNvSpPr/>
            <p:nvPr/>
          </p:nvSpPr>
          <p:spPr>
            <a:xfrm>
              <a:off x="5399795" y="360281"/>
              <a:ext cx="2577000" cy="2577000"/>
            </a:xfrm>
            <a:prstGeom prst="pie">
              <a:avLst>
                <a:gd fmla="val 8801158" name="adj1"/>
                <a:gd fmla="val 1620000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9"/>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9"/>
            <p:cNvSpPr/>
            <p:nvPr/>
          </p:nvSpPr>
          <p:spPr>
            <a:xfrm>
              <a:off x="5399795" y="356358"/>
              <a:ext cx="2577000" cy="2577000"/>
            </a:xfrm>
            <a:prstGeom prst="pie">
              <a:avLst>
                <a:gd fmla="val 12554101" name="adj1"/>
                <a:gd fmla="val 1620000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9"/>
            <p:cNvSpPr/>
            <p:nvPr/>
          </p:nvSpPr>
          <p:spPr>
            <a:xfrm rot="-9830444">
              <a:off x="6469759" y="3480727"/>
              <a:ext cx="320148" cy="320148"/>
            </a:xfrm>
            <a:prstGeom prst="pie">
              <a:avLst>
                <a:gd fmla="val 19376841" name="adj1"/>
                <a:gd fmla="val 16200000" name="adj2"/>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 name="Google Shape;46;p29"/>
          <p:cNvSpPr txBox="1"/>
          <p:nvPr>
            <p:ph type="ctrTitle"/>
          </p:nvPr>
        </p:nvSpPr>
        <p:spPr>
          <a:xfrm>
            <a:off x="824000" y="1613813"/>
            <a:ext cx="4255500" cy="187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47" name="Google Shape;47;p29"/>
          <p:cNvSpPr txBox="1"/>
          <p:nvPr>
            <p:ph idx="1" type="subTitle"/>
          </p:nvPr>
        </p:nvSpPr>
        <p:spPr>
          <a:xfrm>
            <a:off x="824000" y="3596300"/>
            <a:ext cx="4255500" cy="695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9"/>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9" name="Shape 49"/>
        <p:cNvGrpSpPr/>
        <p:nvPr/>
      </p:nvGrpSpPr>
      <p:grpSpPr>
        <a:xfrm>
          <a:off x="0" y="0"/>
          <a:ext cx="0" cy="0"/>
          <a:chOff x="0" y="0"/>
          <a:chExt cx="0" cy="0"/>
        </a:xfrm>
      </p:grpSpPr>
      <p:grpSp>
        <p:nvGrpSpPr>
          <p:cNvPr id="50" name="Google Shape;50;p30"/>
          <p:cNvGrpSpPr/>
          <p:nvPr/>
        </p:nvGrpSpPr>
        <p:grpSpPr>
          <a:xfrm>
            <a:off x="625966" y="299376"/>
            <a:ext cx="999312" cy="999312"/>
            <a:chOff x="348199" y="179450"/>
            <a:chExt cx="1116300" cy="1116300"/>
          </a:xfrm>
        </p:grpSpPr>
        <p:sp>
          <p:nvSpPr>
            <p:cNvPr id="51" name="Google Shape;51;p3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3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 name="Google Shape;53;p30"/>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4" name="Google Shape;54;p30"/>
          <p:cNvSpPr txBox="1"/>
          <p:nvPr>
            <p:ph idx="1" type="body"/>
          </p:nvPr>
        </p:nvSpPr>
        <p:spPr>
          <a:xfrm>
            <a:off x="1303800" y="1990050"/>
            <a:ext cx="7030500" cy="2541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5" name="Google Shape;55;p30"/>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56" name="Shape 56"/>
        <p:cNvGrpSpPr/>
        <p:nvPr/>
      </p:nvGrpSpPr>
      <p:grpSpPr>
        <a:xfrm>
          <a:off x="0" y="0"/>
          <a:ext cx="0" cy="0"/>
          <a:chOff x="0" y="0"/>
          <a:chExt cx="0" cy="0"/>
        </a:xfrm>
      </p:grpSpPr>
      <p:grpSp>
        <p:nvGrpSpPr>
          <p:cNvPr id="57" name="Google Shape;57;p31"/>
          <p:cNvGrpSpPr/>
          <p:nvPr/>
        </p:nvGrpSpPr>
        <p:grpSpPr>
          <a:xfrm>
            <a:off x="146769" y="3406"/>
            <a:ext cx="1233214" cy="1384535"/>
            <a:chOff x="146769" y="3406"/>
            <a:chExt cx="1233214" cy="1384535"/>
          </a:xfrm>
        </p:grpSpPr>
        <p:grpSp>
          <p:nvGrpSpPr>
            <p:cNvPr id="58" name="Google Shape;58;p31"/>
            <p:cNvGrpSpPr/>
            <p:nvPr/>
          </p:nvGrpSpPr>
          <p:grpSpPr>
            <a:xfrm>
              <a:off x="1063183" y="3406"/>
              <a:ext cx="316800" cy="688513"/>
              <a:chOff x="1063183" y="3406"/>
              <a:chExt cx="316800" cy="688513"/>
            </a:xfrm>
          </p:grpSpPr>
          <p:sp>
            <p:nvSpPr>
              <p:cNvPr id="59" name="Google Shape;59;p31"/>
              <p:cNvSpPr/>
              <p:nvPr/>
            </p:nvSpPr>
            <p:spPr>
              <a:xfrm rot="10800000">
                <a:off x="1063183"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31"/>
              <p:cNvSpPr/>
              <p:nvPr/>
            </p:nvSpPr>
            <p:spPr>
              <a:xfrm rot="10800000">
                <a:off x="1063183"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1" name="Google Shape;61;p31"/>
            <p:cNvGrpSpPr/>
            <p:nvPr/>
          </p:nvGrpSpPr>
          <p:grpSpPr>
            <a:xfrm>
              <a:off x="604976" y="3406"/>
              <a:ext cx="316800" cy="1036524"/>
              <a:chOff x="604976" y="3406"/>
              <a:chExt cx="316800" cy="1036524"/>
            </a:xfrm>
          </p:grpSpPr>
          <p:sp>
            <p:nvSpPr>
              <p:cNvPr id="62" name="Google Shape;62;p31"/>
              <p:cNvSpPr/>
              <p:nvPr/>
            </p:nvSpPr>
            <p:spPr>
              <a:xfrm rot="10800000">
                <a:off x="604976"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31"/>
              <p:cNvSpPr/>
              <p:nvPr/>
            </p:nvSpPr>
            <p:spPr>
              <a:xfrm rot="10800000">
                <a:off x="604976" y="343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31"/>
              <p:cNvSpPr/>
              <p:nvPr/>
            </p:nvSpPr>
            <p:spPr>
              <a:xfrm rot="10800000">
                <a:off x="604976"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5" name="Google Shape;65;p31"/>
            <p:cNvGrpSpPr/>
            <p:nvPr/>
          </p:nvGrpSpPr>
          <p:grpSpPr>
            <a:xfrm>
              <a:off x="146769" y="3406"/>
              <a:ext cx="316800" cy="1384535"/>
              <a:chOff x="146769" y="3406"/>
              <a:chExt cx="316800" cy="1384535"/>
            </a:xfrm>
          </p:grpSpPr>
          <p:sp>
            <p:nvSpPr>
              <p:cNvPr id="66" name="Google Shape;66;p31"/>
              <p:cNvSpPr/>
              <p:nvPr/>
            </p:nvSpPr>
            <p:spPr>
              <a:xfrm rot="10800000">
                <a:off x="146769"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31"/>
              <p:cNvSpPr/>
              <p:nvPr/>
            </p:nvSpPr>
            <p:spPr>
              <a:xfrm rot="10800000">
                <a:off x="146769" y="3441"/>
                <a:ext cx="316800" cy="1384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1"/>
              <p:cNvSpPr/>
              <p:nvPr/>
            </p:nvSpPr>
            <p:spPr>
              <a:xfrm rot="10800000">
                <a:off x="146769" y="343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1"/>
              <p:cNvSpPr/>
              <p:nvPr/>
            </p:nvSpPr>
            <p:spPr>
              <a:xfrm rot="10800000">
                <a:off x="146769"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70" name="Google Shape;70;p31"/>
          <p:cNvGrpSpPr/>
          <p:nvPr/>
        </p:nvGrpSpPr>
        <p:grpSpPr>
          <a:xfrm>
            <a:off x="6775084" y="2904008"/>
            <a:ext cx="2186147" cy="2239500"/>
            <a:chOff x="6775084" y="2904008"/>
            <a:chExt cx="2186147" cy="2239500"/>
          </a:xfrm>
        </p:grpSpPr>
        <p:grpSp>
          <p:nvGrpSpPr>
            <p:cNvPr id="71" name="Google Shape;71;p31"/>
            <p:cNvGrpSpPr/>
            <p:nvPr/>
          </p:nvGrpSpPr>
          <p:grpSpPr>
            <a:xfrm>
              <a:off x="6775084" y="4253708"/>
              <a:ext cx="409500" cy="889800"/>
              <a:chOff x="6775084" y="4253708"/>
              <a:chExt cx="409500" cy="889800"/>
            </a:xfrm>
          </p:grpSpPr>
          <p:sp>
            <p:nvSpPr>
              <p:cNvPr id="72" name="Google Shape;72;p31"/>
              <p:cNvSpPr/>
              <p:nvPr/>
            </p:nvSpPr>
            <p:spPr>
              <a:xfrm>
                <a:off x="6775084"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1"/>
              <p:cNvSpPr/>
              <p:nvPr/>
            </p:nvSpPr>
            <p:spPr>
              <a:xfrm>
                <a:off x="6775084"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 name="Google Shape;74;p31"/>
            <p:cNvGrpSpPr/>
            <p:nvPr/>
          </p:nvGrpSpPr>
          <p:grpSpPr>
            <a:xfrm>
              <a:off x="7367299" y="3804008"/>
              <a:ext cx="409500" cy="1339500"/>
              <a:chOff x="7367299" y="3804008"/>
              <a:chExt cx="409500" cy="1339500"/>
            </a:xfrm>
          </p:grpSpPr>
          <p:sp>
            <p:nvSpPr>
              <p:cNvPr id="75" name="Google Shape;75;p31"/>
              <p:cNvSpPr/>
              <p:nvPr/>
            </p:nvSpPr>
            <p:spPr>
              <a:xfrm>
                <a:off x="7367299"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1"/>
              <p:cNvSpPr/>
              <p:nvPr/>
            </p:nvSpPr>
            <p:spPr>
              <a:xfrm>
                <a:off x="7367299"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1"/>
              <p:cNvSpPr/>
              <p:nvPr/>
            </p:nvSpPr>
            <p:spPr>
              <a:xfrm>
                <a:off x="7367299"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 name="Google Shape;78;p31"/>
            <p:cNvGrpSpPr/>
            <p:nvPr/>
          </p:nvGrpSpPr>
          <p:grpSpPr>
            <a:xfrm>
              <a:off x="7959516" y="3354008"/>
              <a:ext cx="409500" cy="1789500"/>
              <a:chOff x="7959516" y="3354008"/>
              <a:chExt cx="409500" cy="1789500"/>
            </a:xfrm>
          </p:grpSpPr>
          <p:sp>
            <p:nvSpPr>
              <p:cNvPr id="79" name="Google Shape;79;p31"/>
              <p:cNvSpPr/>
              <p:nvPr/>
            </p:nvSpPr>
            <p:spPr>
              <a:xfrm>
                <a:off x="7959516"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31"/>
              <p:cNvSpPr/>
              <p:nvPr/>
            </p:nvSpPr>
            <p:spPr>
              <a:xfrm>
                <a:off x="7959516" y="3354008"/>
                <a:ext cx="409500" cy="178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1"/>
              <p:cNvSpPr/>
              <p:nvPr/>
            </p:nvSpPr>
            <p:spPr>
              <a:xfrm>
                <a:off x="7959516"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1"/>
              <p:cNvSpPr/>
              <p:nvPr/>
            </p:nvSpPr>
            <p:spPr>
              <a:xfrm>
                <a:off x="7959516"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3" name="Google Shape;83;p31"/>
            <p:cNvGrpSpPr/>
            <p:nvPr/>
          </p:nvGrpSpPr>
          <p:grpSpPr>
            <a:xfrm>
              <a:off x="8551731" y="2904008"/>
              <a:ext cx="409500" cy="2239500"/>
              <a:chOff x="8551731" y="2904008"/>
              <a:chExt cx="409500" cy="2239500"/>
            </a:xfrm>
          </p:grpSpPr>
          <p:sp>
            <p:nvSpPr>
              <p:cNvPr id="84" name="Google Shape;84;p31"/>
              <p:cNvSpPr/>
              <p:nvPr/>
            </p:nvSpPr>
            <p:spPr>
              <a:xfrm>
                <a:off x="8551731"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31"/>
              <p:cNvSpPr/>
              <p:nvPr/>
            </p:nvSpPr>
            <p:spPr>
              <a:xfrm>
                <a:off x="8551731" y="3354008"/>
                <a:ext cx="409500" cy="178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31"/>
              <p:cNvSpPr/>
              <p:nvPr/>
            </p:nvSpPr>
            <p:spPr>
              <a:xfrm>
                <a:off x="8551731"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1"/>
              <p:cNvSpPr/>
              <p:nvPr/>
            </p:nvSpPr>
            <p:spPr>
              <a:xfrm>
                <a:off x="8551731" y="2904008"/>
                <a:ext cx="409500" cy="22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31"/>
              <p:cNvSpPr/>
              <p:nvPr/>
            </p:nvSpPr>
            <p:spPr>
              <a:xfrm>
                <a:off x="8551731"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9" name="Google Shape;89;p31"/>
          <p:cNvSpPr txBox="1"/>
          <p:nvPr>
            <p:ph type="title"/>
          </p:nvPr>
        </p:nvSpPr>
        <p:spPr>
          <a:xfrm>
            <a:off x="824000" y="1613825"/>
            <a:ext cx="5857800" cy="187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90" name="Google Shape;90;p3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32"/>
          <p:cNvGrpSpPr/>
          <p:nvPr/>
        </p:nvGrpSpPr>
        <p:grpSpPr>
          <a:xfrm>
            <a:off x="625966" y="299376"/>
            <a:ext cx="999312" cy="999312"/>
            <a:chOff x="348199" y="179450"/>
            <a:chExt cx="1116300" cy="1116300"/>
          </a:xfrm>
        </p:grpSpPr>
        <p:sp>
          <p:nvSpPr>
            <p:cNvPr id="93" name="Google Shape;93;p32"/>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32"/>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 name="Google Shape;95;p32"/>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6" name="Google Shape;96;p32"/>
          <p:cNvSpPr txBox="1"/>
          <p:nvPr>
            <p:ph idx="1" type="body"/>
          </p:nvPr>
        </p:nvSpPr>
        <p:spPr>
          <a:xfrm>
            <a:off x="1303800" y="1990050"/>
            <a:ext cx="3430500" cy="2541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7" name="Google Shape;97;p32"/>
          <p:cNvSpPr txBox="1"/>
          <p:nvPr>
            <p:ph idx="2" type="body"/>
          </p:nvPr>
        </p:nvSpPr>
        <p:spPr>
          <a:xfrm>
            <a:off x="4903650" y="1990050"/>
            <a:ext cx="3430500" cy="2541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8" name="Google Shape;98;p32"/>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33"/>
          <p:cNvGrpSpPr/>
          <p:nvPr/>
        </p:nvGrpSpPr>
        <p:grpSpPr>
          <a:xfrm>
            <a:off x="625966" y="299376"/>
            <a:ext cx="999312" cy="999312"/>
            <a:chOff x="348199" y="179450"/>
            <a:chExt cx="1116300" cy="1116300"/>
          </a:xfrm>
        </p:grpSpPr>
        <p:sp>
          <p:nvSpPr>
            <p:cNvPr id="101" name="Google Shape;101;p33"/>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33"/>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 name="Google Shape;103;p33"/>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4" name="Google Shape;104;p33"/>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34"/>
          <p:cNvGrpSpPr/>
          <p:nvPr/>
        </p:nvGrpSpPr>
        <p:grpSpPr>
          <a:xfrm>
            <a:off x="625966" y="299376"/>
            <a:ext cx="999312" cy="999312"/>
            <a:chOff x="348199" y="179450"/>
            <a:chExt cx="1116300" cy="1116300"/>
          </a:xfrm>
        </p:grpSpPr>
        <p:sp>
          <p:nvSpPr>
            <p:cNvPr id="107" name="Google Shape;107;p3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9" name="Google Shape;109;p34"/>
          <p:cNvSpPr txBox="1"/>
          <p:nvPr>
            <p:ph type="title"/>
          </p:nvPr>
        </p:nvSpPr>
        <p:spPr>
          <a:xfrm>
            <a:off x="1303800" y="598575"/>
            <a:ext cx="3312000" cy="1590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0" name="Google Shape;110;p34"/>
          <p:cNvSpPr txBox="1"/>
          <p:nvPr>
            <p:ph idx="1" type="body"/>
          </p:nvPr>
        </p:nvSpPr>
        <p:spPr>
          <a:xfrm>
            <a:off x="1303800" y="2309675"/>
            <a:ext cx="3312000" cy="22218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11" name="Google Shape;111;p34"/>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35"/>
          <p:cNvGrpSpPr/>
          <p:nvPr/>
        </p:nvGrpSpPr>
        <p:grpSpPr>
          <a:xfrm>
            <a:off x="6866714" y="1255"/>
            <a:ext cx="2267380" cy="2601741"/>
            <a:chOff x="6790514" y="1255"/>
            <a:chExt cx="2267380" cy="2601741"/>
          </a:xfrm>
        </p:grpSpPr>
        <p:grpSp>
          <p:nvGrpSpPr>
            <p:cNvPr id="114" name="Google Shape;114;p35"/>
            <p:cNvGrpSpPr/>
            <p:nvPr/>
          </p:nvGrpSpPr>
          <p:grpSpPr>
            <a:xfrm>
              <a:off x="7067536" y="1255"/>
              <a:ext cx="1990358" cy="1990303"/>
              <a:chOff x="7067536" y="1255"/>
              <a:chExt cx="1990358" cy="1990303"/>
            </a:xfrm>
          </p:grpSpPr>
          <p:sp>
            <p:nvSpPr>
              <p:cNvPr id="115" name="Google Shape;115;p35"/>
              <p:cNvSpPr/>
              <p:nvPr/>
            </p:nvSpPr>
            <p:spPr>
              <a:xfrm rot="-8648551">
                <a:off x="7594313" y="527721"/>
                <a:ext cx="937226" cy="937226"/>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5"/>
              <p:cNvSpPr/>
              <p:nvPr/>
            </p:nvSpPr>
            <p:spPr>
              <a:xfrm rot="-8648551">
                <a:off x="7594313" y="527721"/>
                <a:ext cx="937226" cy="937226"/>
              </a:xfrm>
              <a:prstGeom prst="pie">
                <a:avLst>
                  <a:gd fmla="val 19376841"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5"/>
              <p:cNvSpPr/>
              <p:nvPr/>
            </p:nvSpPr>
            <p:spPr>
              <a:xfrm rot="-8649154">
                <a:off x="7349891" y="283705"/>
                <a:ext cx="1425647" cy="14254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 name="Google Shape;118;p35"/>
            <p:cNvGrpSpPr/>
            <p:nvPr/>
          </p:nvGrpSpPr>
          <p:grpSpPr>
            <a:xfrm>
              <a:off x="8207126" y="1807997"/>
              <a:ext cx="795000" cy="795000"/>
              <a:chOff x="8207126" y="1807997"/>
              <a:chExt cx="795000" cy="795000"/>
            </a:xfrm>
          </p:grpSpPr>
          <p:sp>
            <p:nvSpPr>
              <p:cNvPr id="119" name="Google Shape;119;p35"/>
              <p:cNvSpPr/>
              <p:nvPr/>
            </p:nvSpPr>
            <p:spPr>
              <a:xfrm rot="2152054">
                <a:off x="8319942" y="1920813"/>
                <a:ext cx="569367" cy="569367"/>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5"/>
              <p:cNvSpPr/>
              <p:nvPr/>
            </p:nvSpPr>
            <p:spPr>
              <a:xfrm rot="2150259">
                <a:off x="8408218" y="2008610"/>
                <a:ext cx="393004" cy="3930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5"/>
              <p:cNvSpPr/>
              <p:nvPr/>
            </p:nvSpPr>
            <p:spPr>
              <a:xfrm rot="2150259">
                <a:off x="8408218" y="2008610"/>
                <a:ext cx="393004" cy="393004"/>
              </a:xfrm>
              <a:prstGeom prst="pie">
                <a:avLst>
                  <a:gd fmla="val 5699893"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2" name="Google Shape;122;p35"/>
            <p:cNvGrpSpPr/>
            <p:nvPr/>
          </p:nvGrpSpPr>
          <p:grpSpPr>
            <a:xfrm>
              <a:off x="6790514" y="118857"/>
              <a:ext cx="548700" cy="548700"/>
              <a:chOff x="6790514" y="118857"/>
              <a:chExt cx="548700" cy="548700"/>
            </a:xfrm>
          </p:grpSpPr>
          <p:sp>
            <p:nvSpPr>
              <p:cNvPr id="123" name="Google Shape;123;p35"/>
              <p:cNvSpPr/>
              <p:nvPr/>
            </p:nvSpPr>
            <p:spPr>
              <a:xfrm rot="2150259">
                <a:off x="6868362" y="196705"/>
                <a:ext cx="393004" cy="3930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35"/>
              <p:cNvSpPr/>
              <p:nvPr/>
            </p:nvSpPr>
            <p:spPr>
              <a:xfrm rot="2150259">
                <a:off x="6868362" y="196705"/>
                <a:ext cx="393004" cy="393004"/>
              </a:xfrm>
              <a:prstGeom prst="pie">
                <a:avLst>
                  <a:gd fmla="val 5699893"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25" name="Google Shape;125;p35"/>
          <p:cNvSpPr txBox="1"/>
          <p:nvPr>
            <p:ph type="title"/>
          </p:nvPr>
        </p:nvSpPr>
        <p:spPr>
          <a:xfrm>
            <a:off x="824000" y="763600"/>
            <a:ext cx="5857800" cy="3573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126" name="Google Shape;126;p35"/>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36"/>
          <p:cNvGrpSpPr/>
          <p:nvPr/>
        </p:nvGrpSpPr>
        <p:grpSpPr>
          <a:xfrm>
            <a:off x="625966" y="299376"/>
            <a:ext cx="999312" cy="999312"/>
            <a:chOff x="348199" y="179450"/>
            <a:chExt cx="1116300" cy="1116300"/>
          </a:xfrm>
        </p:grpSpPr>
        <p:sp>
          <p:nvSpPr>
            <p:cNvPr id="129" name="Google Shape;129;p3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3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1" name="Google Shape;131;p36"/>
          <p:cNvSpPr txBox="1"/>
          <p:nvPr>
            <p:ph type="title"/>
          </p:nvPr>
        </p:nvSpPr>
        <p:spPr>
          <a:xfrm>
            <a:off x="1303800" y="598575"/>
            <a:ext cx="3430500" cy="1990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2" name="Google Shape;132;p36"/>
          <p:cNvSpPr txBox="1"/>
          <p:nvPr>
            <p:ph idx="1" type="subTitle"/>
          </p:nvPr>
        </p:nvSpPr>
        <p:spPr>
          <a:xfrm>
            <a:off x="1303800" y="2743203"/>
            <a:ext cx="3430500" cy="7260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33" name="Google Shape;133;p36"/>
          <p:cNvSpPr txBox="1"/>
          <p:nvPr>
            <p:ph idx="2" type="body"/>
          </p:nvPr>
        </p:nvSpPr>
        <p:spPr>
          <a:xfrm>
            <a:off x="4903700" y="661000"/>
            <a:ext cx="3430500" cy="38706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34" name="Google Shape;134;p36"/>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37"/>
          <p:cNvGrpSpPr/>
          <p:nvPr/>
        </p:nvGrpSpPr>
        <p:grpSpPr>
          <a:xfrm>
            <a:off x="713373" y="3847119"/>
            <a:ext cx="825392" cy="825392"/>
            <a:chOff x="348199" y="179450"/>
            <a:chExt cx="1116300" cy="1116300"/>
          </a:xfrm>
        </p:grpSpPr>
        <p:sp>
          <p:nvSpPr>
            <p:cNvPr id="137" name="Google Shape;137;p3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9" name="Google Shape;139;p37"/>
          <p:cNvSpPr txBox="1"/>
          <p:nvPr>
            <p:ph idx="1" type="body"/>
          </p:nvPr>
        </p:nvSpPr>
        <p:spPr>
          <a:xfrm>
            <a:off x="1303800" y="4138975"/>
            <a:ext cx="5843100" cy="534900"/>
          </a:xfrm>
          <a:prstGeom prst="rect">
            <a:avLst/>
          </a:prstGeom>
          <a:noFill/>
          <a:ln>
            <a:noFill/>
          </a:ln>
        </p:spPr>
        <p:txBody>
          <a:bodyPr anchorCtr="0" anchor="t"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40" name="Google Shape;140;p37"/>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38"/>
          <p:cNvGrpSpPr/>
          <p:nvPr/>
        </p:nvGrpSpPr>
        <p:grpSpPr>
          <a:xfrm>
            <a:off x="52" y="4099200"/>
            <a:ext cx="9144036" cy="1044300"/>
            <a:chOff x="52" y="4099200"/>
            <a:chExt cx="9144036" cy="1044300"/>
          </a:xfrm>
        </p:grpSpPr>
        <p:grpSp>
          <p:nvGrpSpPr>
            <p:cNvPr id="143" name="Google Shape;143;p38"/>
            <p:cNvGrpSpPr/>
            <p:nvPr/>
          </p:nvGrpSpPr>
          <p:grpSpPr>
            <a:xfrm>
              <a:off x="52" y="4309200"/>
              <a:ext cx="231622" cy="834300"/>
              <a:chOff x="2688737" y="4301380"/>
              <a:chExt cx="231900" cy="834300"/>
            </a:xfrm>
          </p:grpSpPr>
          <p:sp>
            <p:nvSpPr>
              <p:cNvPr id="144" name="Google Shape;144;p38"/>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38"/>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38"/>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8"/>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 name="Google Shape;148;p38"/>
            <p:cNvGrpSpPr/>
            <p:nvPr/>
          </p:nvGrpSpPr>
          <p:grpSpPr>
            <a:xfrm>
              <a:off x="371406" y="4099200"/>
              <a:ext cx="231622" cy="1044300"/>
              <a:chOff x="2688737" y="4091380"/>
              <a:chExt cx="231900" cy="1044300"/>
            </a:xfrm>
          </p:grpSpPr>
          <p:sp>
            <p:nvSpPr>
              <p:cNvPr id="149" name="Google Shape;149;p38"/>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8"/>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38"/>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38"/>
              <p:cNvSpPr/>
              <p:nvPr/>
            </p:nvSpPr>
            <p:spPr>
              <a:xfrm flipH="1">
                <a:off x="2688737" y="4091380"/>
                <a:ext cx="2319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38"/>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4" name="Google Shape;154;p38"/>
            <p:cNvGrpSpPr/>
            <p:nvPr/>
          </p:nvGrpSpPr>
          <p:grpSpPr>
            <a:xfrm>
              <a:off x="742761" y="4309200"/>
              <a:ext cx="231622" cy="834300"/>
              <a:chOff x="2688737" y="4301380"/>
              <a:chExt cx="231900" cy="834300"/>
            </a:xfrm>
          </p:grpSpPr>
          <p:sp>
            <p:nvSpPr>
              <p:cNvPr id="155" name="Google Shape;155;p38"/>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38"/>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38"/>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38"/>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9" name="Google Shape;159;p38"/>
            <p:cNvGrpSpPr/>
            <p:nvPr/>
          </p:nvGrpSpPr>
          <p:grpSpPr>
            <a:xfrm>
              <a:off x="1114115" y="4518900"/>
              <a:ext cx="231622" cy="624600"/>
              <a:chOff x="2688737" y="4511080"/>
              <a:chExt cx="231900" cy="624600"/>
            </a:xfrm>
          </p:grpSpPr>
          <p:sp>
            <p:nvSpPr>
              <p:cNvPr id="160" name="Google Shape;160;p38"/>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38"/>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8"/>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3" name="Google Shape;163;p38"/>
            <p:cNvGrpSpPr/>
            <p:nvPr/>
          </p:nvGrpSpPr>
          <p:grpSpPr>
            <a:xfrm>
              <a:off x="1856753" y="4099200"/>
              <a:ext cx="231600" cy="1044300"/>
              <a:chOff x="1856753" y="4099200"/>
              <a:chExt cx="231600" cy="1044300"/>
            </a:xfrm>
          </p:grpSpPr>
          <p:sp>
            <p:nvSpPr>
              <p:cNvPr id="164" name="Google Shape;164;p38"/>
              <p:cNvSpPr/>
              <p:nvPr/>
            </p:nvSpPr>
            <p:spPr>
              <a:xfrm flipH="1">
                <a:off x="185675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8"/>
              <p:cNvSpPr/>
              <p:nvPr/>
            </p:nvSpPr>
            <p:spPr>
              <a:xfrm flipH="1">
                <a:off x="1856753"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8"/>
              <p:cNvSpPr/>
              <p:nvPr/>
            </p:nvSpPr>
            <p:spPr>
              <a:xfrm flipH="1">
                <a:off x="185675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8"/>
              <p:cNvSpPr/>
              <p:nvPr/>
            </p:nvSpPr>
            <p:spPr>
              <a:xfrm flipH="1">
                <a:off x="1856753"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38"/>
              <p:cNvSpPr/>
              <p:nvPr/>
            </p:nvSpPr>
            <p:spPr>
              <a:xfrm flipH="1">
                <a:off x="185675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9" name="Google Shape;169;p38"/>
            <p:cNvGrpSpPr/>
            <p:nvPr/>
          </p:nvGrpSpPr>
          <p:grpSpPr>
            <a:xfrm>
              <a:off x="2228107" y="4309200"/>
              <a:ext cx="231600" cy="834300"/>
              <a:chOff x="2228107" y="4309200"/>
              <a:chExt cx="231600" cy="834300"/>
            </a:xfrm>
          </p:grpSpPr>
          <p:sp>
            <p:nvSpPr>
              <p:cNvPr id="170" name="Google Shape;170;p38"/>
              <p:cNvSpPr/>
              <p:nvPr/>
            </p:nvSpPr>
            <p:spPr>
              <a:xfrm flipH="1">
                <a:off x="2228107"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8"/>
              <p:cNvSpPr/>
              <p:nvPr/>
            </p:nvSpPr>
            <p:spPr>
              <a:xfrm flipH="1">
                <a:off x="2228107"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38"/>
              <p:cNvSpPr/>
              <p:nvPr/>
            </p:nvSpPr>
            <p:spPr>
              <a:xfrm flipH="1">
                <a:off x="2228107"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8"/>
              <p:cNvSpPr/>
              <p:nvPr/>
            </p:nvSpPr>
            <p:spPr>
              <a:xfrm flipH="1">
                <a:off x="2228107"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4" name="Google Shape;174;p38"/>
            <p:cNvGrpSpPr/>
            <p:nvPr/>
          </p:nvGrpSpPr>
          <p:grpSpPr>
            <a:xfrm>
              <a:off x="2599462" y="4518900"/>
              <a:ext cx="231600" cy="624600"/>
              <a:chOff x="2599462" y="4518900"/>
              <a:chExt cx="231600" cy="624600"/>
            </a:xfrm>
          </p:grpSpPr>
          <p:sp>
            <p:nvSpPr>
              <p:cNvPr id="175" name="Google Shape;175;p38"/>
              <p:cNvSpPr/>
              <p:nvPr/>
            </p:nvSpPr>
            <p:spPr>
              <a:xfrm flipH="1">
                <a:off x="2599462"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38"/>
              <p:cNvSpPr/>
              <p:nvPr/>
            </p:nvSpPr>
            <p:spPr>
              <a:xfrm flipH="1">
                <a:off x="2599462"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38"/>
              <p:cNvSpPr/>
              <p:nvPr/>
            </p:nvSpPr>
            <p:spPr>
              <a:xfrm flipH="1">
                <a:off x="2599462"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8" name="Google Shape;178;p38"/>
            <p:cNvGrpSpPr/>
            <p:nvPr/>
          </p:nvGrpSpPr>
          <p:grpSpPr>
            <a:xfrm>
              <a:off x="3342171" y="4099200"/>
              <a:ext cx="231600" cy="1044300"/>
              <a:chOff x="3342171" y="4099200"/>
              <a:chExt cx="231600" cy="1044300"/>
            </a:xfrm>
          </p:grpSpPr>
          <p:sp>
            <p:nvSpPr>
              <p:cNvPr id="179" name="Google Shape;179;p38"/>
              <p:cNvSpPr/>
              <p:nvPr/>
            </p:nvSpPr>
            <p:spPr>
              <a:xfrm flipH="1">
                <a:off x="3342171"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38"/>
              <p:cNvSpPr/>
              <p:nvPr/>
            </p:nvSpPr>
            <p:spPr>
              <a:xfrm flipH="1">
                <a:off x="3342171"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38"/>
              <p:cNvSpPr/>
              <p:nvPr/>
            </p:nvSpPr>
            <p:spPr>
              <a:xfrm flipH="1">
                <a:off x="3342171"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38"/>
              <p:cNvSpPr/>
              <p:nvPr/>
            </p:nvSpPr>
            <p:spPr>
              <a:xfrm flipH="1">
                <a:off x="3342171"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38"/>
              <p:cNvSpPr/>
              <p:nvPr/>
            </p:nvSpPr>
            <p:spPr>
              <a:xfrm flipH="1">
                <a:off x="3342171"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4" name="Google Shape;184;p38"/>
            <p:cNvGrpSpPr/>
            <p:nvPr/>
          </p:nvGrpSpPr>
          <p:grpSpPr>
            <a:xfrm>
              <a:off x="3713525" y="4309200"/>
              <a:ext cx="231600" cy="834300"/>
              <a:chOff x="3713525" y="4309200"/>
              <a:chExt cx="231600" cy="834300"/>
            </a:xfrm>
          </p:grpSpPr>
          <p:sp>
            <p:nvSpPr>
              <p:cNvPr id="185" name="Google Shape;185;p38"/>
              <p:cNvSpPr/>
              <p:nvPr/>
            </p:nvSpPr>
            <p:spPr>
              <a:xfrm flipH="1">
                <a:off x="3713525"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38"/>
              <p:cNvSpPr/>
              <p:nvPr/>
            </p:nvSpPr>
            <p:spPr>
              <a:xfrm flipH="1">
                <a:off x="3713525"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38"/>
              <p:cNvSpPr/>
              <p:nvPr/>
            </p:nvSpPr>
            <p:spPr>
              <a:xfrm flipH="1">
                <a:off x="3713525"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8"/>
              <p:cNvSpPr/>
              <p:nvPr/>
            </p:nvSpPr>
            <p:spPr>
              <a:xfrm flipH="1">
                <a:off x="3713525"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9" name="Google Shape;189;p38"/>
            <p:cNvGrpSpPr/>
            <p:nvPr/>
          </p:nvGrpSpPr>
          <p:grpSpPr>
            <a:xfrm>
              <a:off x="1485398" y="4309200"/>
              <a:ext cx="231600" cy="834300"/>
              <a:chOff x="1485398" y="4309200"/>
              <a:chExt cx="231600" cy="834300"/>
            </a:xfrm>
          </p:grpSpPr>
          <p:sp>
            <p:nvSpPr>
              <p:cNvPr id="190" name="Google Shape;190;p38"/>
              <p:cNvSpPr/>
              <p:nvPr/>
            </p:nvSpPr>
            <p:spPr>
              <a:xfrm flipH="1">
                <a:off x="148539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38"/>
              <p:cNvSpPr/>
              <p:nvPr/>
            </p:nvSpPr>
            <p:spPr>
              <a:xfrm flipH="1">
                <a:off x="148539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38"/>
              <p:cNvSpPr/>
              <p:nvPr/>
            </p:nvSpPr>
            <p:spPr>
              <a:xfrm flipH="1">
                <a:off x="148539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38"/>
              <p:cNvSpPr/>
              <p:nvPr/>
            </p:nvSpPr>
            <p:spPr>
              <a:xfrm flipH="1">
                <a:off x="148539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4" name="Google Shape;194;p38"/>
            <p:cNvGrpSpPr/>
            <p:nvPr/>
          </p:nvGrpSpPr>
          <p:grpSpPr>
            <a:xfrm>
              <a:off x="4084879" y="4518900"/>
              <a:ext cx="231600" cy="624600"/>
              <a:chOff x="4084879" y="4518900"/>
              <a:chExt cx="231600" cy="624600"/>
            </a:xfrm>
          </p:grpSpPr>
          <p:sp>
            <p:nvSpPr>
              <p:cNvPr id="195" name="Google Shape;195;p38"/>
              <p:cNvSpPr/>
              <p:nvPr/>
            </p:nvSpPr>
            <p:spPr>
              <a:xfrm flipH="1">
                <a:off x="4084879"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8"/>
              <p:cNvSpPr/>
              <p:nvPr/>
            </p:nvSpPr>
            <p:spPr>
              <a:xfrm flipH="1">
                <a:off x="4084879"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8"/>
              <p:cNvSpPr/>
              <p:nvPr/>
            </p:nvSpPr>
            <p:spPr>
              <a:xfrm flipH="1">
                <a:off x="4084879"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 name="Google Shape;198;p38"/>
            <p:cNvGrpSpPr/>
            <p:nvPr/>
          </p:nvGrpSpPr>
          <p:grpSpPr>
            <a:xfrm>
              <a:off x="2970816" y="4309200"/>
              <a:ext cx="231600" cy="834300"/>
              <a:chOff x="2970816" y="4309200"/>
              <a:chExt cx="231600" cy="834300"/>
            </a:xfrm>
          </p:grpSpPr>
          <p:sp>
            <p:nvSpPr>
              <p:cNvPr id="199" name="Google Shape;199;p38"/>
              <p:cNvSpPr/>
              <p:nvPr/>
            </p:nvSpPr>
            <p:spPr>
              <a:xfrm flipH="1">
                <a:off x="2970816"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8"/>
              <p:cNvSpPr/>
              <p:nvPr/>
            </p:nvSpPr>
            <p:spPr>
              <a:xfrm flipH="1">
                <a:off x="2970816"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38"/>
              <p:cNvSpPr/>
              <p:nvPr/>
            </p:nvSpPr>
            <p:spPr>
              <a:xfrm flipH="1">
                <a:off x="2970816"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38"/>
              <p:cNvSpPr/>
              <p:nvPr/>
            </p:nvSpPr>
            <p:spPr>
              <a:xfrm flipH="1">
                <a:off x="2970816"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3" name="Google Shape;203;p38"/>
            <p:cNvGrpSpPr/>
            <p:nvPr/>
          </p:nvGrpSpPr>
          <p:grpSpPr>
            <a:xfrm>
              <a:off x="4456234" y="4309200"/>
              <a:ext cx="231600" cy="834300"/>
              <a:chOff x="4456234" y="4309200"/>
              <a:chExt cx="231600" cy="834300"/>
            </a:xfrm>
          </p:grpSpPr>
          <p:sp>
            <p:nvSpPr>
              <p:cNvPr id="204" name="Google Shape;204;p38"/>
              <p:cNvSpPr/>
              <p:nvPr/>
            </p:nvSpPr>
            <p:spPr>
              <a:xfrm flipH="1">
                <a:off x="4456234"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38"/>
              <p:cNvSpPr/>
              <p:nvPr/>
            </p:nvSpPr>
            <p:spPr>
              <a:xfrm flipH="1">
                <a:off x="4456234"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38"/>
              <p:cNvSpPr/>
              <p:nvPr/>
            </p:nvSpPr>
            <p:spPr>
              <a:xfrm flipH="1">
                <a:off x="4456234"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8"/>
              <p:cNvSpPr/>
              <p:nvPr/>
            </p:nvSpPr>
            <p:spPr>
              <a:xfrm flipH="1">
                <a:off x="4456234"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8" name="Google Shape;208;p38"/>
            <p:cNvGrpSpPr/>
            <p:nvPr/>
          </p:nvGrpSpPr>
          <p:grpSpPr>
            <a:xfrm>
              <a:off x="4827588" y="4099200"/>
              <a:ext cx="231600" cy="1044300"/>
              <a:chOff x="4827588" y="4099200"/>
              <a:chExt cx="231600" cy="1044300"/>
            </a:xfrm>
          </p:grpSpPr>
          <p:sp>
            <p:nvSpPr>
              <p:cNvPr id="209" name="Google Shape;209;p38"/>
              <p:cNvSpPr/>
              <p:nvPr/>
            </p:nvSpPr>
            <p:spPr>
              <a:xfrm flipH="1">
                <a:off x="482758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38"/>
              <p:cNvSpPr/>
              <p:nvPr/>
            </p:nvSpPr>
            <p:spPr>
              <a:xfrm flipH="1">
                <a:off x="482758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38"/>
              <p:cNvSpPr/>
              <p:nvPr/>
            </p:nvSpPr>
            <p:spPr>
              <a:xfrm flipH="1">
                <a:off x="482758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38"/>
              <p:cNvSpPr/>
              <p:nvPr/>
            </p:nvSpPr>
            <p:spPr>
              <a:xfrm flipH="1">
                <a:off x="4827588"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38"/>
              <p:cNvSpPr/>
              <p:nvPr/>
            </p:nvSpPr>
            <p:spPr>
              <a:xfrm flipH="1">
                <a:off x="482758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4" name="Google Shape;214;p38"/>
            <p:cNvGrpSpPr/>
            <p:nvPr/>
          </p:nvGrpSpPr>
          <p:grpSpPr>
            <a:xfrm>
              <a:off x="5198943" y="4309200"/>
              <a:ext cx="231600" cy="834300"/>
              <a:chOff x="5198943" y="4309200"/>
              <a:chExt cx="231600" cy="834300"/>
            </a:xfrm>
          </p:grpSpPr>
          <p:sp>
            <p:nvSpPr>
              <p:cNvPr id="215" name="Google Shape;215;p38"/>
              <p:cNvSpPr/>
              <p:nvPr/>
            </p:nvSpPr>
            <p:spPr>
              <a:xfrm flipH="1">
                <a:off x="519894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38"/>
              <p:cNvSpPr/>
              <p:nvPr/>
            </p:nvSpPr>
            <p:spPr>
              <a:xfrm flipH="1">
                <a:off x="5198943"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38"/>
              <p:cNvSpPr/>
              <p:nvPr/>
            </p:nvSpPr>
            <p:spPr>
              <a:xfrm flipH="1">
                <a:off x="519894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38"/>
              <p:cNvSpPr/>
              <p:nvPr/>
            </p:nvSpPr>
            <p:spPr>
              <a:xfrm flipH="1">
                <a:off x="519894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9" name="Google Shape;219;p38"/>
            <p:cNvGrpSpPr/>
            <p:nvPr/>
          </p:nvGrpSpPr>
          <p:grpSpPr>
            <a:xfrm>
              <a:off x="5570297" y="4518900"/>
              <a:ext cx="231600" cy="624600"/>
              <a:chOff x="5570297" y="4518900"/>
              <a:chExt cx="231600" cy="624600"/>
            </a:xfrm>
          </p:grpSpPr>
          <p:sp>
            <p:nvSpPr>
              <p:cNvPr id="220" name="Google Shape;220;p38"/>
              <p:cNvSpPr/>
              <p:nvPr/>
            </p:nvSpPr>
            <p:spPr>
              <a:xfrm flipH="1">
                <a:off x="5570297"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38"/>
              <p:cNvSpPr/>
              <p:nvPr/>
            </p:nvSpPr>
            <p:spPr>
              <a:xfrm flipH="1">
                <a:off x="5570297"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8"/>
              <p:cNvSpPr/>
              <p:nvPr/>
            </p:nvSpPr>
            <p:spPr>
              <a:xfrm flipH="1">
                <a:off x="5570297"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3" name="Google Shape;223;p38"/>
            <p:cNvGrpSpPr/>
            <p:nvPr/>
          </p:nvGrpSpPr>
          <p:grpSpPr>
            <a:xfrm>
              <a:off x="5941652" y="4309200"/>
              <a:ext cx="231600" cy="834300"/>
              <a:chOff x="5941652" y="4309200"/>
              <a:chExt cx="231600" cy="834300"/>
            </a:xfrm>
          </p:grpSpPr>
          <p:sp>
            <p:nvSpPr>
              <p:cNvPr id="224" name="Google Shape;224;p38"/>
              <p:cNvSpPr/>
              <p:nvPr/>
            </p:nvSpPr>
            <p:spPr>
              <a:xfrm flipH="1">
                <a:off x="5941652"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8"/>
              <p:cNvSpPr/>
              <p:nvPr/>
            </p:nvSpPr>
            <p:spPr>
              <a:xfrm flipH="1">
                <a:off x="5941652"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8"/>
              <p:cNvSpPr/>
              <p:nvPr/>
            </p:nvSpPr>
            <p:spPr>
              <a:xfrm flipH="1">
                <a:off x="5941652"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38"/>
              <p:cNvSpPr/>
              <p:nvPr/>
            </p:nvSpPr>
            <p:spPr>
              <a:xfrm flipH="1">
                <a:off x="5941652"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8" name="Google Shape;228;p38"/>
            <p:cNvGrpSpPr/>
            <p:nvPr/>
          </p:nvGrpSpPr>
          <p:grpSpPr>
            <a:xfrm>
              <a:off x="6313006" y="4099200"/>
              <a:ext cx="231600" cy="1044300"/>
              <a:chOff x="6313006" y="4099200"/>
              <a:chExt cx="231600" cy="1044300"/>
            </a:xfrm>
          </p:grpSpPr>
          <p:sp>
            <p:nvSpPr>
              <p:cNvPr id="229" name="Google Shape;229;p38"/>
              <p:cNvSpPr/>
              <p:nvPr/>
            </p:nvSpPr>
            <p:spPr>
              <a:xfrm flipH="1">
                <a:off x="6313006"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38"/>
              <p:cNvSpPr/>
              <p:nvPr/>
            </p:nvSpPr>
            <p:spPr>
              <a:xfrm flipH="1">
                <a:off x="6313006"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38"/>
              <p:cNvSpPr/>
              <p:nvPr/>
            </p:nvSpPr>
            <p:spPr>
              <a:xfrm flipH="1">
                <a:off x="6313006"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38"/>
              <p:cNvSpPr/>
              <p:nvPr/>
            </p:nvSpPr>
            <p:spPr>
              <a:xfrm flipH="1">
                <a:off x="6313006"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8"/>
              <p:cNvSpPr/>
              <p:nvPr/>
            </p:nvSpPr>
            <p:spPr>
              <a:xfrm flipH="1">
                <a:off x="6313006"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4" name="Google Shape;234;p38"/>
            <p:cNvGrpSpPr/>
            <p:nvPr/>
          </p:nvGrpSpPr>
          <p:grpSpPr>
            <a:xfrm>
              <a:off x="6684361" y="4309200"/>
              <a:ext cx="231600" cy="834300"/>
              <a:chOff x="6684361" y="4309200"/>
              <a:chExt cx="231600" cy="834300"/>
            </a:xfrm>
          </p:grpSpPr>
          <p:sp>
            <p:nvSpPr>
              <p:cNvPr id="235" name="Google Shape;235;p38"/>
              <p:cNvSpPr/>
              <p:nvPr/>
            </p:nvSpPr>
            <p:spPr>
              <a:xfrm flipH="1">
                <a:off x="6684361"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8"/>
              <p:cNvSpPr/>
              <p:nvPr/>
            </p:nvSpPr>
            <p:spPr>
              <a:xfrm flipH="1">
                <a:off x="6684361"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8"/>
              <p:cNvSpPr/>
              <p:nvPr/>
            </p:nvSpPr>
            <p:spPr>
              <a:xfrm flipH="1">
                <a:off x="6684361"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8"/>
              <p:cNvSpPr/>
              <p:nvPr/>
            </p:nvSpPr>
            <p:spPr>
              <a:xfrm flipH="1">
                <a:off x="6684361"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9" name="Google Shape;239;p38"/>
            <p:cNvGrpSpPr/>
            <p:nvPr/>
          </p:nvGrpSpPr>
          <p:grpSpPr>
            <a:xfrm>
              <a:off x="7055715" y="4518900"/>
              <a:ext cx="231600" cy="624600"/>
              <a:chOff x="7055715" y="4518900"/>
              <a:chExt cx="231600" cy="624600"/>
            </a:xfrm>
          </p:grpSpPr>
          <p:sp>
            <p:nvSpPr>
              <p:cNvPr id="240" name="Google Shape;240;p38"/>
              <p:cNvSpPr/>
              <p:nvPr/>
            </p:nvSpPr>
            <p:spPr>
              <a:xfrm flipH="1">
                <a:off x="7055715"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38"/>
              <p:cNvSpPr/>
              <p:nvPr/>
            </p:nvSpPr>
            <p:spPr>
              <a:xfrm flipH="1">
                <a:off x="7055715"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38"/>
              <p:cNvSpPr/>
              <p:nvPr/>
            </p:nvSpPr>
            <p:spPr>
              <a:xfrm flipH="1">
                <a:off x="7055715"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3" name="Google Shape;243;p38"/>
            <p:cNvGrpSpPr/>
            <p:nvPr/>
          </p:nvGrpSpPr>
          <p:grpSpPr>
            <a:xfrm>
              <a:off x="7798424" y="4099200"/>
              <a:ext cx="231600" cy="1044300"/>
              <a:chOff x="7798424" y="4099200"/>
              <a:chExt cx="231600" cy="1044300"/>
            </a:xfrm>
          </p:grpSpPr>
          <p:sp>
            <p:nvSpPr>
              <p:cNvPr id="244" name="Google Shape;244;p38"/>
              <p:cNvSpPr/>
              <p:nvPr/>
            </p:nvSpPr>
            <p:spPr>
              <a:xfrm flipH="1">
                <a:off x="7798424"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38"/>
              <p:cNvSpPr/>
              <p:nvPr/>
            </p:nvSpPr>
            <p:spPr>
              <a:xfrm flipH="1">
                <a:off x="7798424"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38"/>
              <p:cNvSpPr/>
              <p:nvPr/>
            </p:nvSpPr>
            <p:spPr>
              <a:xfrm flipH="1">
                <a:off x="7798424"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38"/>
              <p:cNvSpPr/>
              <p:nvPr/>
            </p:nvSpPr>
            <p:spPr>
              <a:xfrm flipH="1">
                <a:off x="7798424"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38"/>
              <p:cNvSpPr/>
              <p:nvPr/>
            </p:nvSpPr>
            <p:spPr>
              <a:xfrm flipH="1">
                <a:off x="7798424"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9" name="Google Shape;249;p38"/>
            <p:cNvGrpSpPr/>
            <p:nvPr/>
          </p:nvGrpSpPr>
          <p:grpSpPr>
            <a:xfrm>
              <a:off x="8169779" y="4309200"/>
              <a:ext cx="231600" cy="834300"/>
              <a:chOff x="8169779" y="4309200"/>
              <a:chExt cx="231600" cy="834300"/>
            </a:xfrm>
          </p:grpSpPr>
          <p:sp>
            <p:nvSpPr>
              <p:cNvPr id="250" name="Google Shape;250;p38"/>
              <p:cNvSpPr/>
              <p:nvPr/>
            </p:nvSpPr>
            <p:spPr>
              <a:xfrm flipH="1">
                <a:off x="8169779"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38"/>
              <p:cNvSpPr/>
              <p:nvPr/>
            </p:nvSpPr>
            <p:spPr>
              <a:xfrm flipH="1">
                <a:off x="8169779"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38"/>
              <p:cNvSpPr/>
              <p:nvPr/>
            </p:nvSpPr>
            <p:spPr>
              <a:xfrm flipH="1">
                <a:off x="8169779"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38"/>
              <p:cNvSpPr/>
              <p:nvPr/>
            </p:nvSpPr>
            <p:spPr>
              <a:xfrm flipH="1">
                <a:off x="8169779"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4" name="Google Shape;254;p38"/>
            <p:cNvGrpSpPr/>
            <p:nvPr/>
          </p:nvGrpSpPr>
          <p:grpSpPr>
            <a:xfrm>
              <a:off x="7427070" y="4309200"/>
              <a:ext cx="231600" cy="834300"/>
              <a:chOff x="7427070" y="4309200"/>
              <a:chExt cx="231600" cy="834300"/>
            </a:xfrm>
          </p:grpSpPr>
          <p:sp>
            <p:nvSpPr>
              <p:cNvPr id="255" name="Google Shape;255;p38"/>
              <p:cNvSpPr/>
              <p:nvPr/>
            </p:nvSpPr>
            <p:spPr>
              <a:xfrm flipH="1">
                <a:off x="7427070"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38"/>
              <p:cNvSpPr/>
              <p:nvPr/>
            </p:nvSpPr>
            <p:spPr>
              <a:xfrm flipH="1">
                <a:off x="7427070"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38"/>
              <p:cNvSpPr/>
              <p:nvPr/>
            </p:nvSpPr>
            <p:spPr>
              <a:xfrm flipH="1">
                <a:off x="7427070"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38"/>
              <p:cNvSpPr/>
              <p:nvPr/>
            </p:nvSpPr>
            <p:spPr>
              <a:xfrm flipH="1">
                <a:off x="7427070"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9" name="Google Shape;259;p38"/>
            <p:cNvGrpSpPr/>
            <p:nvPr/>
          </p:nvGrpSpPr>
          <p:grpSpPr>
            <a:xfrm>
              <a:off x="8541133" y="4518900"/>
              <a:ext cx="231600" cy="624600"/>
              <a:chOff x="8541133" y="4518900"/>
              <a:chExt cx="231600" cy="624600"/>
            </a:xfrm>
          </p:grpSpPr>
          <p:sp>
            <p:nvSpPr>
              <p:cNvPr id="260" name="Google Shape;260;p38"/>
              <p:cNvSpPr/>
              <p:nvPr/>
            </p:nvSpPr>
            <p:spPr>
              <a:xfrm flipH="1">
                <a:off x="854113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38"/>
              <p:cNvSpPr/>
              <p:nvPr/>
            </p:nvSpPr>
            <p:spPr>
              <a:xfrm flipH="1">
                <a:off x="854113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38"/>
              <p:cNvSpPr/>
              <p:nvPr/>
            </p:nvSpPr>
            <p:spPr>
              <a:xfrm flipH="1">
                <a:off x="854113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3" name="Google Shape;263;p38"/>
            <p:cNvGrpSpPr/>
            <p:nvPr/>
          </p:nvGrpSpPr>
          <p:grpSpPr>
            <a:xfrm>
              <a:off x="8912488" y="4309200"/>
              <a:ext cx="231600" cy="834300"/>
              <a:chOff x="8912488" y="4309200"/>
              <a:chExt cx="231600" cy="834300"/>
            </a:xfrm>
          </p:grpSpPr>
          <p:sp>
            <p:nvSpPr>
              <p:cNvPr id="264" name="Google Shape;264;p38"/>
              <p:cNvSpPr/>
              <p:nvPr/>
            </p:nvSpPr>
            <p:spPr>
              <a:xfrm flipH="1">
                <a:off x="891248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8"/>
              <p:cNvSpPr/>
              <p:nvPr/>
            </p:nvSpPr>
            <p:spPr>
              <a:xfrm flipH="1">
                <a:off x="891248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8"/>
              <p:cNvSpPr/>
              <p:nvPr/>
            </p:nvSpPr>
            <p:spPr>
              <a:xfrm flipH="1">
                <a:off x="891248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38"/>
              <p:cNvSpPr/>
              <p:nvPr/>
            </p:nvSpPr>
            <p:spPr>
              <a:xfrm flipH="1">
                <a:off x="891248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68" name="Google Shape;268;p38"/>
          <p:cNvSpPr txBox="1"/>
          <p:nvPr>
            <p:ph hasCustomPrompt="1" type="title"/>
          </p:nvPr>
        </p:nvSpPr>
        <p:spPr>
          <a:xfrm>
            <a:off x="1388625" y="772725"/>
            <a:ext cx="6366900" cy="1863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8000"/>
              <a:buNone/>
              <a:defRPr sz="8000">
                <a:solidFill>
                  <a:schemeClr val="lt1"/>
                </a:solidFill>
              </a:defRPr>
            </a:lvl1pPr>
            <a:lvl2pPr lvl="1" algn="ctr">
              <a:lnSpc>
                <a:spcPct val="100000"/>
              </a:lnSpc>
              <a:spcBef>
                <a:spcPts val="0"/>
              </a:spcBef>
              <a:spcAft>
                <a:spcPts val="0"/>
              </a:spcAft>
              <a:buClr>
                <a:schemeClr val="lt1"/>
              </a:buClr>
              <a:buSzPts val="8000"/>
              <a:buNone/>
              <a:defRPr sz="8000">
                <a:solidFill>
                  <a:schemeClr val="lt1"/>
                </a:solidFill>
              </a:defRPr>
            </a:lvl2pPr>
            <a:lvl3pPr lvl="2" algn="ctr">
              <a:lnSpc>
                <a:spcPct val="100000"/>
              </a:lnSpc>
              <a:spcBef>
                <a:spcPts val="0"/>
              </a:spcBef>
              <a:spcAft>
                <a:spcPts val="0"/>
              </a:spcAft>
              <a:buClr>
                <a:schemeClr val="lt1"/>
              </a:buClr>
              <a:buSzPts val="8000"/>
              <a:buNone/>
              <a:defRPr sz="8000">
                <a:solidFill>
                  <a:schemeClr val="lt1"/>
                </a:solidFill>
              </a:defRPr>
            </a:lvl3pPr>
            <a:lvl4pPr lvl="3" algn="ctr">
              <a:lnSpc>
                <a:spcPct val="100000"/>
              </a:lnSpc>
              <a:spcBef>
                <a:spcPts val="0"/>
              </a:spcBef>
              <a:spcAft>
                <a:spcPts val="0"/>
              </a:spcAft>
              <a:buClr>
                <a:schemeClr val="lt1"/>
              </a:buClr>
              <a:buSzPts val="8000"/>
              <a:buNone/>
              <a:defRPr sz="8000">
                <a:solidFill>
                  <a:schemeClr val="lt1"/>
                </a:solidFill>
              </a:defRPr>
            </a:lvl4pPr>
            <a:lvl5pPr lvl="4" algn="ctr">
              <a:lnSpc>
                <a:spcPct val="100000"/>
              </a:lnSpc>
              <a:spcBef>
                <a:spcPts val="0"/>
              </a:spcBef>
              <a:spcAft>
                <a:spcPts val="0"/>
              </a:spcAft>
              <a:buClr>
                <a:schemeClr val="lt1"/>
              </a:buClr>
              <a:buSzPts val="8000"/>
              <a:buNone/>
              <a:defRPr sz="8000">
                <a:solidFill>
                  <a:schemeClr val="lt1"/>
                </a:solidFill>
              </a:defRPr>
            </a:lvl5pPr>
            <a:lvl6pPr lvl="5" algn="ctr">
              <a:lnSpc>
                <a:spcPct val="100000"/>
              </a:lnSpc>
              <a:spcBef>
                <a:spcPts val="0"/>
              </a:spcBef>
              <a:spcAft>
                <a:spcPts val="0"/>
              </a:spcAft>
              <a:buClr>
                <a:schemeClr val="lt1"/>
              </a:buClr>
              <a:buSzPts val="8000"/>
              <a:buNone/>
              <a:defRPr sz="8000">
                <a:solidFill>
                  <a:schemeClr val="lt1"/>
                </a:solidFill>
              </a:defRPr>
            </a:lvl6pPr>
            <a:lvl7pPr lvl="6" algn="ctr">
              <a:lnSpc>
                <a:spcPct val="100000"/>
              </a:lnSpc>
              <a:spcBef>
                <a:spcPts val="0"/>
              </a:spcBef>
              <a:spcAft>
                <a:spcPts val="0"/>
              </a:spcAft>
              <a:buClr>
                <a:schemeClr val="lt1"/>
              </a:buClr>
              <a:buSzPts val="8000"/>
              <a:buNone/>
              <a:defRPr sz="8000">
                <a:solidFill>
                  <a:schemeClr val="lt1"/>
                </a:solidFill>
              </a:defRPr>
            </a:lvl7pPr>
            <a:lvl8pPr lvl="7" algn="ctr">
              <a:lnSpc>
                <a:spcPct val="100000"/>
              </a:lnSpc>
              <a:spcBef>
                <a:spcPts val="0"/>
              </a:spcBef>
              <a:spcAft>
                <a:spcPts val="0"/>
              </a:spcAft>
              <a:buClr>
                <a:schemeClr val="lt1"/>
              </a:buClr>
              <a:buSzPts val="8000"/>
              <a:buNone/>
              <a:defRPr sz="8000">
                <a:solidFill>
                  <a:schemeClr val="lt1"/>
                </a:solidFill>
              </a:defRPr>
            </a:lvl8pPr>
            <a:lvl9pPr lvl="8" algn="ctr">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269" name="Google Shape;269;p38"/>
          <p:cNvSpPr txBox="1"/>
          <p:nvPr>
            <p:ph idx="1" type="body"/>
          </p:nvPr>
        </p:nvSpPr>
        <p:spPr>
          <a:xfrm>
            <a:off x="1388625" y="2712300"/>
            <a:ext cx="6366900" cy="1111200"/>
          </a:xfrm>
          <a:prstGeom prst="rect">
            <a:avLst/>
          </a:prstGeom>
          <a:noFill/>
          <a:ln>
            <a:noFill/>
          </a:ln>
        </p:spPr>
        <p:txBody>
          <a:bodyPr anchorCtr="0" anchor="t" bIns="91425" lIns="91425" spcFirstLastPara="1" rIns="91425" wrap="square" tIns="91425">
            <a:normAutofit/>
          </a:bodyPr>
          <a:lstStyle>
            <a:lvl1pPr indent="-311150" lvl="0" marL="457200" algn="ctr">
              <a:lnSpc>
                <a:spcPct val="115000"/>
              </a:lnSpc>
              <a:spcBef>
                <a:spcPts val="0"/>
              </a:spcBef>
              <a:spcAft>
                <a:spcPts val="0"/>
              </a:spcAft>
              <a:buClr>
                <a:schemeClr val="lt1"/>
              </a:buClr>
              <a:buSzPts val="1300"/>
              <a:buChar char="●"/>
              <a:defRPr>
                <a:solidFill>
                  <a:schemeClr val="lt1"/>
                </a:solidFill>
              </a:defRPr>
            </a:lvl1pPr>
            <a:lvl2pPr indent="-298450" lvl="1" marL="914400" algn="ctr">
              <a:lnSpc>
                <a:spcPct val="115000"/>
              </a:lnSpc>
              <a:spcBef>
                <a:spcPts val="0"/>
              </a:spcBef>
              <a:spcAft>
                <a:spcPts val="0"/>
              </a:spcAft>
              <a:buClr>
                <a:schemeClr val="lt1"/>
              </a:buClr>
              <a:buSzPts val="1100"/>
              <a:buChar char="○"/>
              <a:defRPr>
                <a:solidFill>
                  <a:schemeClr val="lt1"/>
                </a:solidFill>
              </a:defRPr>
            </a:lvl2pPr>
            <a:lvl3pPr indent="-298450" lvl="2" marL="1371600" algn="ctr">
              <a:lnSpc>
                <a:spcPct val="115000"/>
              </a:lnSpc>
              <a:spcBef>
                <a:spcPts val="0"/>
              </a:spcBef>
              <a:spcAft>
                <a:spcPts val="0"/>
              </a:spcAft>
              <a:buClr>
                <a:schemeClr val="lt1"/>
              </a:buClr>
              <a:buSzPts val="1100"/>
              <a:buChar char="■"/>
              <a:defRPr>
                <a:solidFill>
                  <a:schemeClr val="lt1"/>
                </a:solidFill>
              </a:defRPr>
            </a:lvl3pPr>
            <a:lvl4pPr indent="-298450" lvl="3" marL="1828800" algn="ctr">
              <a:lnSpc>
                <a:spcPct val="115000"/>
              </a:lnSpc>
              <a:spcBef>
                <a:spcPts val="0"/>
              </a:spcBef>
              <a:spcAft>
                <a:spcPts val="0"/>
              </a:spcAft>
              <a:buClr>
                <a:schemeClr val="lt1"/>
              </a:buClr>
              <a:buSzPts val="1100"/>
              <a:buChar char="●"/>
              <a:defRPr>
                <a:solidFill>
                  <a:schemeClr val="lt1"/>
                </a:solidFill>
              </a:defRPr>
            </a:lvl4pPr>
            <a:lvl5pPr indent="-298450" lvl="4" marL="2286000" algn="ctr">
              <a:lnSpc>
                <a:spcPct val="115000"/>
              </a:lnSpc>
              <a:spcBef>
                <a:spcPts val="0"/>
              </a:spcBef>
              <a:spcAft>
                <a:spcPts val="0"/>
              </a:spcAft>
              <a:buClr>
                <a:schemeClr val="lt1"/>
              </a:buClr>
              <a:buSzPts val="1100"/>
              <a:buChar char="○"/>
              <a:defRPr>
                <a:solidFill>
                  <a:schemeClr val="lt1"/>
                </a:solidFill>
              </a:defRPr>
            </a:lvl5pPr>
            <a:lvl6pPr indent="-298450" lvl="5" marL="2743200" algn="ctr">
              <a:lnSpc>
                <a:spcPct val="115000"/>
              </a:lnSpc>
              <a:spcBef>
                <a:spcPts val="0"/>
              </a:spcBef>
              <a:spcAft>
                <a:spcPts val="0"/>
              </a:spcAft>
              <a:buClr>
                <a:schemeClr val="lt1"/>
              </a:buClr>
              <a:buSzPts val="1100"/>
              <a:buChar char="■"/>
              <a:defRPr>
                <a:solidFill>
                  <a:schemeClr val="lt1"/>
                </a:solidFill>
              </a:defRPr>
            </a:lvl6pPr>
            <a:lvl7pPr indent="-298450" lvl="6" marL="3200400" algn="ctr">
              <a:lnSpc>
                <a:spcPct val="115000"/>
              </a:lnSpc>
              <a:spcBef>
                <a:spcPts val="0"/>
              </a:spcBef>
              <a:spcAft>
                <a:spcPts val="0"/>
              </a:spcAft>
              <a:buClr>
                <a:schemeClr val="lt1"/>
              </a:buClr>
              <a:buSzPts val="1100"/>
              <a:buChar char="●"/>
              <a:defRPr>
                <a:solidFill>
                  <a:schemeClr val="lt1"/>
                </a:solidFill>
              </a:defRPr>
            </a:lvl7pPr>
            <a:lvl8pPr indent="-298450" lvl="7" marL="3657600" algn="ctr">
              <a:lnSpc>
                <a:spcPct val="115000"/>
              </a:lnSpc>
              <a:spcBef>
                <a:spcPts val="0"/>
              </a:spcBef>
              <a:spcAft>
                <a:spcPts val="0"/>
              </a:spcAft>
              <a:buClr>
                <a:schemeClr val="lt1"/>
              </a:buClr>
              <a:buSzPts val="1100"/>
              <a:buChar char="○"/>
              <a:defRPr>
                <a:solidFill>
                  <a:schemeClr val="lt1"/>
                </a:solidFill>
              </a:defRPr>
            </a:lvl8pPr>
            <a:lvl9pPr indent="-298450" lvl="8" marL="4114800" algn="ctr">
              <a:lnSpc>
                <a:spcPct val="115000"/>
              </a:lnSpc>
              <a:spcBef>
                <a:spcPts val="0"/>
              </a:spcBef>
              <a:spcAft>
                <a:spcPts val="0"/>
              </a:spcAft>
              <a:buClr>
                <a:schemeClr val="lt1"/>
              </a:buClr>
              <a:buSzPts val="1100"/>
              <a:buChar char="■"/>
              <a:defRPr>
                <a:solidFill>
                  <a:schemeClr val="lt1"/>
                </a:solidFill>
              </a:defRPr>
            </a:lvl9pPr>
          </a:lstStyle>
          <a:p/>
        </p:txBody>
      </p:sp>
      <p:sp>
        <p:nvSpPr>
          <p:cNvPr id="270" name="Google Shape;270;p38"/>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39"/>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1pPr>
            <a:lvl2pPr lvl="1"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2pPr>
            <a:lvl3pPr lvl="2"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3pPr>
            <a:lvl4pPr lvl="3"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4pPr>
            <a:lvl5pPr lvl="4"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5pPr>
            <a:lvl6pPr lvl="5"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6pPr>
            <a:lvl7pPr lvl="6"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7pPr>
            <a:lvl8pPr lvl="7"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8pPr>
            <a:lvl9pPr lvl="8"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9pPr>
          </a:lstStyle>
          <a:p/>
        </p:txBody>
      </p:sp>
      <p:sp>
        <p:nvSpPr>
          <p:cNvPr id="7" name="Google Shape;7;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1pPr>
            <a:lvl2pPr indent="-298450" lvl="1" marL="9144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2pPr>
            <a:lvl3pPr indent="-298450" lvl="2" marL="13716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3pPr>
            <a:lvl4pPr indent="-298450" lvl="3" marL="18288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8450" lvl="4" marL="22860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5pPr>
            <a:lvl6pPr indent="-298450" lvl="5" marL="27432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6pPr>
            <a:lvl7pPr indent="-298450" lvl="6" marL="32004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7pPr>
            <a:lvl8pPr indent="-298450" lvl="7" marL="36576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8pPr>
            <a:lvl9pPr indent="-298450" lvl="8" marL="41148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9pPr>
          </a:lstStyle>
          <a:p/>
        </p:txBody>
      </p:sp>
      <p:sp>
        <p:nvSpPr>
          <p:cNvPr id="8" name="Google Shape;8;p28"/>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
          <p:cNvSpPr txBox="1"/>
          <p:nvPr>
            <p:ph type="ctrTitle"/>
          </p:nvPr>
        </p:nvSpPr>
        <p:spPr>
          <a:xfrm>
            <a:off x="824000" y="1490900"/>
            <a:ext cx="4801500" cy="18729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600"/>
              <a:buNone/>
            </a:pPr>
            <a:r>
              <a:rPr lang="en"/>
              <a:t>Trends &amp; Dynamics in Football Transfers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Project Overview</a:t>
            </a:r>
            <a:endParaRPr/>
          </a:p>
        </p:txBody>
      </p:sp>
      <p:sp>
        <p:nvSpPr>
          <p:cNvPr id="283" name="Google Shape;283;p2"/>
          <p:cNvSpPr txBox="1"/>
          <p:nvPr>
            <p:ph idx="1" type="body"/>
          </p:nvPr>
        </p:nvSpPr>
        <p:spPr>
          <a:xfrm>
            <a:off x="1303800" y="1423400"/>
            <a:ext cx="7030500" cy="3108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n"/>
              <a:t>Focus</a:t>
            </a:r>
            <a:r>
              <a:rPr lang="en"/>
              <a:t>: Analysing trends and dynamics in football transfers. </a:t>
            </a:r>
            <a:endParaRPr/>
          </a:p>
          <a:p>
            <a:pPr indent="0" lvl="0" marL="0" rtl="0" algn="l">
              <a:lnSpc>
                <a:spcPct val="115000"/>
              </a:lnSpc>
              <a:spcBef>
                <a:spcPts val="0"/>
              </a:spcBef>
              <a:spcAft>
                <a:spcPts val="0"/>
              </a:spcAft>
              <a:buSzPts val="1300"/>
              <a:buNone/>
            </a:pPr>
            <a:r>
              <a:t/>
            </a:r>
            <a:endParaRPr/>
          </a:p>
          <a:p>
            <a:pPr indent="0" lvl="0" marL="0" rtl="0" algn="l">
              <a:lnSpc>
                <a:spcPct val="115000"/>
              </a:lnSpc>
              <a:spcBef>
                <a:spcPts val="0"/>
              </a:spcBef>
              <a:spcAft>
                <a:spcPts val="0"/>
              </a:spcAft>
              <a:buSzPts val="1300"/>
              <a:buNone/>
            </a:pPr>
            <a:r>
              <a:rPr b="1" lang="en"/>
              <a:t>Objective</a:t>
            </a:r>
            <a:r>
              <a:rPr lang="en"/>
              <a:t>: Answer a set of questions using Python and SQL with a free source database containing data extracted from Transfermarkt (a German-based football website that, (among other data) provides estimated market values for players).</a:t>
            </a:r>
            <a:endParaRPr/>
          </a:p>
          <a:p>
            <a:pPr indent="0" lvl="0" marL="0" rtl="0" algn="l">
              <a:lnSpc>
                <a:spcPct val="115000"/>
              </a:lnSpc>
              <a:spcBef>
                <a:spcPts val="0"/>
              </a:spcBef>
              <a:spcAft>
                <a:spcPts val="0"/>
              </a:spcAft>
              <a:buSzPts val="1300"/>
              <a:buNone/>
            </a:pPr>
            <a:r>
              <a:t/>
            </a:r>
            <a:endParaRPr b="1"/>
          </a:p>
          <a:p>
            <a:pPr indent="0" lvl="0" marL="457200" rtl="0" algn="l">
              <a:lnSpc>
                <a:spcPct val="115000"/>
              </a:lnSpc>
              <a:spcBef>
                <a:spcPts val="0"/>
              </a:spcBef>
              <a:spcAft>
                <a:spcPts val="0"/>
              </a:spcAft>
              <a:buSzPts val="1300"/>
              <a:buNone/>
            </a:pPr>
            <a:r>
              <a:rPr lang="en"/>
              <a:t>The questions to answer are subdivided into 4 categories:</a:t>
            </a:r>
            <a:endParaRPr/>
          </a:p>
          <a:p>
            <a:pPr indent="-311150" lvl="0" marL="914400" rtl="0" algn="l">
              <a:lnSpc>
                <a:spcPct val="115000"/>
              </a:lnSpc>
              <a:spcBef>
                <a:spcPts val="0"/>
              </a:spcBef>
              <a:spcAft>
                <a:spcPts val="0"/>
              </a:spcAft>
              <a:buSzPts val="1300"/>
              <a:buAutoNum type="arabicPeriod"/>
            </a:pPr>
            <a:r>
              <a:rPr lang="en"/>
              <a:t>Market Value &amp; Player Worth</a:t>
            </a:r>
            <a:endParaRPr/>
          </a:p>
          <a:p>
            <a:pPr indent="-311150" lvl="0" marL="914400" rtl="0" algn="l">
              <a:lnSpc>
                <a:spcPct val="115000"/>
              </a:lnSpc>
              <a:spcBef>
                <a:spcPts val="0"/>
              </a:spcBef>
              <a:spcAft>
                <a:spcPts val="0"/>
              </a:spcAft>
              <a:buSzPts val="1300"/>
              <a:buAutoNum type="arabicPeriod"/>
            </a:pPr>
            <a:r>
              <a:rPr lang="en"/>
              <a:t>Transfer Market Dynamics</a:t>
            </a:r>
            <a:endParaRPr/>
          </a:p>
          <a:p>
            <a:pPr indent="-311150" lvl="0" marL="914400" rtl="0" algn="l">
              <a:lnSpc>
                <a:spcPct val="115000"/>
              </a:lnSpc>
              <a:spcBef>
                <a:spcPts val="0"/>
              </a:spcBef>
              <a:spcAft>
                <a:spcPts val="0"/>
              </a:spcAft>
              <a:buSzPts val="1300"/>
              <a:buAutoNum type="arabicPeriod"/>
            </a:pPr>
            <a:r>
              <a:rPr lang="en"/>
              <a:t>League &amp; Geography Economics</a:t>
            </a:r>
            <a:endParaRPr/>
          </a:p>
          <a:p>
            <a:pPr indent="-311150" lvl="0" marL="914400" rtl="0" algn="l">
              <a:lnSpc>
                <a:spcPct val="115000"/>
              </a:lnSpc>
              <a:spcBef>
                <a:spcPts val="0"/>
              </a:spcBef>
              <a:spcAft>
                <a:spcPts val="0"/>
              </a:spcAft>
              <a:buSzPts val="1300"/>
              <a:buAutoNum type="arabicPeriod"/>
            </a:pPr>
            <a:r>
              <a:rPr lang="en"/>
              <a:t>Career &amp; Value Trajectories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Project Overview: Questions</a:t>
            </a:r>
            <a:endParaRPr/>
          </a:p>
        </p:txBody>
      </p:sp>
      <p:sp>
        <p:nvSpPr>
          <p:cNvPr id="289" name="Google Shape;289;p3"/>
          <p:cNvSpPr txBox="1"/>
          <p:nvPr/>
        </p:nvSpPr>
        <p:spPr>
          <a:xfrm>
            <a:off x="1303800" y="1398150"/>
            <a:ext cx="7030500" cy="3136500"/>
          </a:xfrm>
          <a:prstGeom prst="rect">
            <a:avLst/>
          </a:prstGeom>
          <a:noFill/>
          <a:ln>
            <a:noFill/>
          </a:ln>
        </p:spPr>
        <p:txBody>
          <a:bodyPr anchorCtr="0" anchor="t" bIns="91425" lIns="91425" spcFirstLastPara="1" rIns="91425" wrap="square" tIns="91425">
            <a:noAutofit/>
          </a:bodyPr>
          <a:lstStyle/>
          <a:p>
            <a:pPr indent="0" lvl="0" marL="457200" rtl="0" algn="l">
              <a:lnSpc>
                <a:spcPct val="105000"/>
              </a:lnSpc>
              <a:spcBef>
                <a:spcPts val="0"/>
              </a:spcBef>
              <a:spcAft>
                <a:spcPts val="0"/>
              </a:spcAft>
              <a:buNone/>
            </a:pPr>
            <a:r>
              <a:rPr b="1" lang="en" sz="1107">
                <a:solidFill>
                  <a:srgbClr val="424242"/>
                </a:solidFill>
                <a:latin typeface="Nunito"/>
                <a:ea typeface="Nunito"/>
                <a:cs typeface="Nunito"/>
                <a:sym typeface="Nunito"/>
              </a:rPr>
              <a:t>Market Value &amp; Player Worth</a:t>
            </a:r>
            <a:endParaRPr b="1" sz="1107">
              <a:solidFill>
                <a:srgbClr val="424242"/>
              </a:solidFill>
              <a:latin typeface="Nunito"/>
              <a:ea typeface="Nunito"/>
              <a:cs typeface="Nunito"/>
              <a:sym typeface="Nunito"/>
            </a:endParaRPr>
          </a:p>
          <a:p>
            <a:pPr indent="-298926" lvl="0" marL="457200" rtl="0" algn="l">
              <a:lnSpc>
                <a:spcPct val="105000"/>
              </a:lnSpc>
              <a:spcBef>
                <a:spcPts val="0"/>
              </a:spcBef>
              <a:spcAft>
                <a:spcPts val="0"/>
              </a:spcAft>
              <a:buClr>
                <a:srgbClr val="424242"/>
              </a:buClr>
              <a:buSzPts val="1108"/>
              <a:buFont typeface="Nunito"/>
              <a:buAutoNum type="arabicPeriod"/>
            </a:pPr>
            <a:r>
              <a:rPr lang="en" sz="1107">
                <a:solidFill>
                  <a:srgbClr val="424242"/>
                </a:solidFill>
                <a:latin typeface="Nunito"/>
                <a:ea typeface="Nunito"/>
                <a:cs typeface="Nunito"/>
                <a:sym typeface="Nunito"/>
              </a:rPr>
              <a:t>Which positions command the highest market values?</a:t>
            </a:r>
            <a:endParaRPr sz="1107">
              <a:solidFill>
                <a:srgbClr val="424242"/>
              </a:solidFill>
              <a:latin typeface="Nunito"/>
              <a:ea typeface="Nunito"/>
              <a:cs typeface="Nunito"/>
              <a:sym typeface="Nunito"/>
            </a:endParaRPr>
          </a:p>
          <a:p>
            <a:pPr indent="-298926" lvl="0" marL="457200" rtl="0" algn="l">
              <a:lnSpc>
                <a:spcPct val="105000"/>
              </a:lnSpc>
              <a:spcBef>
                <a:spcPts val="0"/>
              </a:spcBef>
              <a:spcAft>
                <a:spcPts val="0"/>
              </a:spcAft>
              <a:buClr>
                <a:srgbClr val="424242"/>
              </a:buClr>
              <a:buSzPts val="1108"/>
              <a:buFont typeface="Nunito"/>
              <a:buAutoNum type="arabicPeriod"/>
            </a:pPr>
            <a:r>
              <a:rPr lang="en" sz="1107">
                <a:solidFill>
                  <a:srgbClr val="424242"/>
                </a:solidFill>
                <a:latin typeface="Nunito"/>
                <a:ea typeface="Nunito"/>
                <a:cs typeface="Nunito"/>
                <a:sym typeface="Nunito"/>
              </a:rPr>
              <a:t>Has this shifted over the last decade?</a:t>
            </a:r>
            <a:endParaRPr sz="1107">
              <a:solidFill>
                <a:srgbClr val="424242"/>
              </a:solidFill>
              <a:latin typeface="Nunito"/>
              <a:ea typeface="Nunito"/>
              <a:cs typeface="Nunito"/>
              <a:sym typeface="Nunito"/>
            </a:endParaRPr>
          </a:p>
          <a:p>
            <a:pPr indent="-298926" lvl="0" marL="457200" rtl="0" algn="l">
              <a:lnSpc>
                <a:spcPct val="105000"/>
              </a:lnSpc>
              <a:spcBef>
                <a:spcPts val="0"/>
              </a:spcBef>
              <a:spcAft>
                <a:spcPts val="0"/>
              </a:spcAft>
              <a:buClr>
                <a:srgbClr val="424242"/>
              </a:buClr>
              <a:buSzPts val="1108"/>
              <a:buFont typeface="Nunito"/>
              <a:buAutoNum type="arabicPeriod"/>
            </a:pPr>
            <a:r>
              <a:rPr lang="en" sz="1107">
                <a:solidFill>
                  <a:srgbClr val="424242"/>
                </a:solidFill>
                <a:latin typeface="Nunito"/>
                <a:ea typeface="Nunito"/>
                <a:cs typeface="Nunito"/>
                <a:sym typeface="Nunito"/>
              </a:rPr>
              <a:t>Is the agile foot determinant?</a:t>
            </a:r>
            <a:endParaRPr sz="1107">
              <a:solidFill>
                <a:srgbClr val="424242"/>
              </a:solidFill>
              <a:latin typeface="Nunito"/>
              <a:ea typeface="Nunito"/>
              <a:cs typeface="Nunito"/>
              <a:sym typeface="Nunito"/>
            </a:endParaRPr>
          </a:p>
          <a:p>
            <a:pPr indent="0" lvl="0" marL="457200" rtl="0" algn="l">
              <a:lnSpc>
                <a:spcPct val="105000"/>
              </a:lnSpc>
              <a:spcBef>
                <a:spcPts val="0"/>
              </a:spcBef>
              <a:spcAft>
                <a:spcPts val="0"/>
              </a:spcAft>
              <a:buNone/>
            </a:pPr>
            <a:r>
              <a:t/>
            </a:r>
            <a:endParaRPr sz="1107">
              <a:solidFill>
                <a:srgbClr val="424242"/>
              </a:solidFill>
              <a:latin typeface="Nunito"/>
              <a:ea typeface="Nunito"/>
              <a:cs typeface="Nunito"/>
              <a:sym typeface="Nunito"/>
            </a:endParaRPr>
          </a:p>
          <a:p>
            <a:pPr indent="0" lvl="0" marL="457200" rtl="0" algn="l">
              <a:lnSpc>
                <a:spcPct val="105000"/>
              </a:lnSpc>
              <a:spcBef>
                <a:spcPts val="0"/>
              </a:spcBef>
              <a:spcAft>
                <a:spcPts val="0"/>
              </a:spcAft>
              <a:buNone/>
            </a:pPr>
            <a:r>
              <a:rPr b="1" lang="en" sz="1107">
                <a:solidFill>
                  <a:srgbClr val="424242"/>
                </a:solidFill>
                <a:latin typeface="Nunito"/>
                <a:ea typeface="Nunito"/>
                <a:cs typeface="Nunito"/>
                <a:sym typeface="Nunito"/>
              </a:rPr>
              <a:t>Transfer Market Dynamics</a:t>
            </a:r>
            <a:endParaRPr b="1" sz="1107">
              <a:solidFill>
                <a:srgbClr val="424242"/>
              </a:solidFill>
              <a:latin typeface="Nunito"/>
              <a:ea typeface="Nunito"/>
              <a:cs typeface="Nunito"/>
              <a:sym typeface="Nunito"/>
            </a:endParaRPr>
          </a:p>
          <a:p>
            <a:pPr indent="-298926" lvl="0" marL="457200" rtl="0" algn="l">
              <a:lnSpc>
                <a:spcPct val="105000"/>
              </a:lnSpc>
              <a:spcBef>
                <a:spcPts val="0"/>
              </a:spcBef>
              <a:spcAft>
                <a:spcPts val="0"/>
              </a:spcAft>
              <a:buClr>
                <a:srgbClr val="424242"/>
              </a:buClr>
              <a:buSzPts val="1108"/>
              <a:buFont typeface="Nunito"/>
              <a:buAutoNum type="arabicPeriod"/>
            </a:pPr>
            <a:r>
              <a:rPr lang="en" sz="1107">
                <a:solidFill>
                  <a:srgbClr val="424242"/>
                </a:solidFill>
                <a:latin typeface="Nunito"/>
                <a:ea typeface="Nunito"/>
                <a:cs typeface="Nunito"/>
                <a:sym typeface="Nunito"/>
              </a:rPr>
              <a:t>How has the overall transfer market inflated yearly, are fees growing faster than market values?</a:t>
            </a:r>
            <a:endParaRPr sz="1107">
              <a:solidFill>
                <a:srgbClr val="424242"/>
              </a:solidFill>
              <a:latin typeface="Nunito"/>
              <a:ea typeface="Nunito"/>
              <a:cs typeface="Nunito"/>
              <a:sym typeface="Nunito"/>
            </a:endParaRPr>
          </a:p>
          <a:p>
            <a:pPr indent="-298926" lvl="0" marL="457200" rtl="0" algn="l">
              <a:lnSpc>
                <a:spcPct val="105000"/>
              </a:lnSpc>
              <a:spcBef>
                <a:spcPts val="0"/>
              </a:spcBef>
              <a:spcAft>
                <a:spcPts val="0"/>
              </a:spcAft>
              <a:buClr>
                <a:srgbClr val="424242"/>
              </a:buClr>
              <a:buSzPts val="1108"/>
              <a:buFont typeface="Nunito"/>
              <a:buAutoNum type="arabicPeriod"/>
            </a:pPr>
            <a:r>
              <a:rPr lang="en" sz="1107">
                <a:solidFill>
                  <a:srgbClr val="424242"/>
                </a:solidFill>
                <a:latin typeface="Nunito"/>
                <a:ea typeface="Nunito"/>
                <a:cs typeface="Nunito"/>
                <a:sym typeface="Nunito"/>
              </a:rPr>
              <a:t>Which clubs consistently buy undervalued players?</a:t>
            </a:r>
            <a:endParaRPr sz="1107">
              <a:solidFill>
                <a:srgbClr val="424242"/>
              </a:solidFill>
              <a:latin typeface="Nunito"/>
              <a:ea typeface="Nunito"/>
              <a:cs typeface="Nunito"/>
              <a:sym typeface="Nunito"/>
            </a:endParaRPr>
          </a:p>
          <a:p>
            <a:pPr indent="-298926" lvl="0" marL="457200" rtl="0" algn="l">
              <a:lnSpc>
                <a:spcPct val="105000"/>
              </a:lnSpc>
              <a:spcBef>
                <a:spcPts val="0"/>
              </a:spcBef>
              <a:spcAft>
                <a:spcPts val="0"/>
              </a:spcAft>
              <a:buClr>
                <a:srgbClr val="424242"/>
              </a:buClr>
              <a:buSzPts val="1108"/>
              <a:buFont typeface="Nunito"/>
              <a:buAutoNum type="arabicPeriod"/>
            </a:pPr>
            <a:r>
              <a:rPr lang="en" sz="1107">
                <a:solidFill>
                  <a:srgbClr val="424242"/>
                </a:solidFill>
                <a:latin typeface="Nunito"/>
                <a:ea typeface="Nunito"/>
                <a:cs typeface="Nunito"/>
                <a:sym typeface="Nunito"/>
              </a:rPr>
              <a:t>Which clubs consistently sells overvalued players?</a:t>
            </a:r>
            <a:endParaRPr sz="1107">
              <a:solidFill>
                <a:srgbClr val="424242"/>
              </a:solidFill>
              <a:latin typeface="Nunito"/>
              <a:ea typeface="Nunito"/>
              <a:cs typeface="Nunito"/>
              <a:sym typeface="Nunito"/>
            </a:endParaRPr>
          </a:p>
          <a:p>
            <a:pPr indent="-298926" lvl="0" marL="457200" rtl="0" algn="l">
              <a:lnSpc>
                <a:spcPct val="105000"/>
              </a:lnSpc>
              <a:spcBef>
                <a:spcPts val="0"/>
              </a:spcBef>
              <a:spcAft>
                <a:spcPts val="0"/>
              </a:spcAft>
              <a:buClr>
                <a:srgbClr val="424242"/>
              </a:buClr>
              <a:buSzPts val="1108"/>
              <a:buFont typeface="Nunito"/>
              <a:buAutoNum type="arabicPeriod"/>
            </a:pPr>
            <a:r>
              <a:rPr lang="en" sz="1107">
                <a:solidFill>
                  <a:srgbClr val="424242"/>
                </a:solidFill>
                <a:latin typeface="Nunito"/>
                <a:ea typeface="Nunito"/>
                <a:cs typeface="Nunito"/>
                <a:sym typeface="Nunito"/>
              </a:rPr>
              <a:t>Does a high transfer fee actually translate into better performance (goals, assists, minutes played)?</a:t>
            </a:r>
            <a:endParaRPr sz="1107">
              <a:solidFill>
                <a:srgbClr val="424242"/>
              </a:solidFill>
              <a:latin typeface="Nunito"/>
              <a:ea typeface="Nunito"/>
              <a:cs typeface="Nunito"/>
              <a:sym typeface="Nunito"/>
            </a:endParaRPr>
          </a:p>
          <a:p>
            <a:pPr indent="0" lvl="0" marL="457200" rtl="0" algn="l">
              <a:lnSpc>
                <a:spcPct val="105000"/>
              </a:lnSpc>
              <a:spcBef>
                <a:spcPts val="0"/>
              </a:spcBef>
              <a:spcAft>
                <a:spcPts val="0"/>
              </a:spcAft>
              <a:buNone/>
            </a:pPr>
            <a:r>
              <a:t/>
            </a:r>
            <a:endParaRPr sz="1107">
              <a:solidFill>
                <a:srgbClr val="424242"/>
              </a:solidFill>
              <a:latin typeface="Nunito"/>
              <a:ea typeface="Nunito"/>
              <a:cs typeface="Nunito"/>
              <a:sym typeface="Nunito"/>
            </a:endParaRPr>
          </a:p>
          <a:p>
            <a:pPr indent="0" lvl="0" marL="457200" rtl="0" algn="l">
              <a:lnSpc>
                <a:spcPct val="105000"/>
              </a:lnSpc>
              <a:spcBef>
                <a:spcPts val="0"/>
              </a:spcBef>
              <a:spcAft>
                <a:spcPts val="0"/>
              </a:spcAft>
              <a:buNone/>
            </a:pPr>
            <a:r>
              <a:rPr b="1" lang="en" sz="1107">
                <a:solidFill>
                  <a:srgbClr val="424242"/>
                </a:solidFill>
                <a:latin typeface="Nunito"/>
                <a:ea typeface="Nunito"/>
                <a:cs typeface="Nunito"/>
                <a:sym typeface="Nunito"/>
              </a:rPr>
              <a:t>League &amp; Geography Economics</a:t>
            </a:r>
            <a:endParaRPr b="1" sz="1107">
              <a:solidFill>
                <a:srgbClr val="424242"/>
              </a:solidFill>
              <a:latin typeface="Nunito"/>
              <a:ea typeface="Nunito"/>
              <a:cs typeface="Nunito"/>
              <a:sym typeface="Nunito"/>
            </a:endParaRPr>
          </a:p>
          <a:p>
            <a:pPr indent="0" lvl="0" marL="457200" rtl="0" algn="l">
              <a:lnSpc>
                <a:spcPct val="105000"/>
              </a:lnSpc>
              <a:spcBef>
                <a:spcPts val="0"/>
              </a:spcBef>
              <a:spcAft>
                <a:spcPts val="0"/>
              </a:spcAft>
              <a:buNone/>
            </a:pPr>
            <a:r>
              <a:t/>
            </a:r>
            <a:endParaRPr sz="1107">
              <a:solidFill>
                <a:srgbClr val="424242"/>
              </a:solidFill>
              <a:latin typeface="Nunito"/>
              <a:ea typeface="Nunito"/>
              <a:cs typeface="Nunito"/>
              <a:sym typeface="Nunito"/>
            </a:endParaRPr>
          </a:p>
          <a:p>
            <a:pPr indent="-298926" lvl="0" marL="457200" rtl="0" algn="l">
              <a:lnSpc>
                <a:spcPct val="105000"/>
              </a:lnSpc>
              <a:spcBef>
                <a:spcPts val="0"/>
              </a:spcBef>
              <a:spcAft>
                <a:spcPts val="0"/>
              </a:spcAft>
              <a:buClr>
                <a:srgbClr val="424242"/>
              </a:buClr>
              <a:buSzPts val="1108"/>
              <a:buFont typeface="Nunito"/>
              <a:buAutoNum type="arabicPeriod"/>
            </a:pPr>
            <a:r>
              <a:rPr lang="en" sz="1107">
                <a:solidFill>
                  <a:srgbClr val="424242"/>
                </a:solidFill>
                <a:latin typeface="Nunito"/>
                <a:ea typeface="Nunito"/>
                <a:cs typeface="Nunito"/>
                <a:sym typeface="Nunito"/>
              </a:rPr>
              <a:t>Which nationalities command a market value premium beyond what their stats would suggest?</a:t>
            </a:r>
            <a:endParaRPr sz="1107">
              <a:solidFill>
                <a:srgbClr val="424242"/>
              </a:solidFill>
              <a:latin typeface="Nunito"/>
              <a:ea typeface="Nunito"/>
              <a:cs typeface="Nunito"/>
              <a:sym typeface="Nunito"/>
            </a:endParaRPr>
          </a:p>
          <a:p>
            <a:pPr indent="0" lvl="0" marL="457200" rtl="0" algn="l">
              <a:lnSpc>
                <a:spcPct val="105000"/>
              </a:lnSpc>
              <a:spcBef>
                <a:spcPts val="0"/>
              </a:spcBef>
              <a:spcAft>
                <a:spcPts val="0"/>
              </a:spcAft>
              <a:buNone/>
            </a:pPr>
            <a:r>
              <a:t/>
            </a:r>
            <a:endParaRPr sz="1107">
              <a:solidFill>
                <a:srgbClr val="424242"/>
              </a:solidFill>
              <a:latin typeface="Nunito"/>
              <a:ea typeface="Nunito"/>
              <a:cs typeface="Nunito"/>
              <a:sym typeface="Nunito"/>
            </a:endParaRPr>
          </a:p>
          <a:p>
            <a:pPr indent="0" lvl="0" marL="457200" rtl="0" algn="l">
              <a:lnSpc>
                <a:spcPct val="105000"/>
              </a:lnSpc>
              <a:spcBef>
                <a:spcPts val="0"/>
              </a:spcBef>
              <a:spcAft>
                <a:spcPts val="0"/>
              </a:spcAft>
              <a:buNone/>
            </a:pPr>
            <a:r>
              <a:rPr b="1" lang="en" sz="1107">
                <a:solidFill>
                  <a:srgbClr val="424242"/>
                </a:solidFill>
                <a:latin typeface="Nunito"/>
                <a:ea typeface="Nunito"/>
                <a:cs typeface="Nunito"/>
                <a:sym typeface="Nunito"/>
              </a:rPr>
              <a:t>Career &amp; Value Trajectories</a:t>
            </a:r>
            <a:endParaRPr b="1" sz="1107">
              <a:solidFill>
                <a:srgbClr val="424242"/>
              </a:solidFill>
              <a:latin typeface="Nunito"/>
              <a:ea typeface="Nunito"/>
              <a:cs typeface="Nunito"/>
              <a:sym typeface="Nunito"/>
            </a:endParaRPr>
          </a:p>
          <a:p>
            <a:pPr indent="-298926" lvl="0" marL="457200" rtl="0" algn="l">
              <a:lnSpc>
                <a:spcPct val="105000"/>
              </a:lnSpc>
              <a:spcBef>
                <a:spcPts val="0"/>
              </a:spcBef>
              <a:spcAft>
                <a:spcPts val="0"/>
              </a:spcAft>
              <a:buClr>
                <a:srgbClr val="424242"/>
              </a:buClr>
              <a:buSzPts val="1108"/>
              <a:buFont typeface="Nunito"/>
              <a:buAutoNum type="arabicPeriod"/>
            </a:pPr>
            <a:r>
              <a:rPr lang="en" sz="1107">
                <a:solidFill>
                  <a:srgbClr val="424242"/>
                </a:solidFill>
                <a:latin typeface="Nunito"/>
                <a:ea typeface="Nunito"/>
                <a:cs typeface="Nunito"/>
                <a:sym typeface="Nunito"/>
              </a:rPr>
              <a:t>How does a player's market value evolve after moving to a bigger or smaller league?</a:t>
            </a:r>
            <a:endParaRPr sz="1107">
              <a:solidFill>
                <a:srgbClr val="424242"/>
              </a:solidFill>
              <a:latin typeface="Nunito"/>
              <a:ea typeface="Nunito"/>
              <a:cs typeface="Nunito"/>
              <a:sym typeface="Nunito"/>
            </a:endParaRPr>
          </a:p>
          <a:p>
            <a:pPr indent="-298926" lvl="0" marL="457200" rtl="0" algn="l">
              <a:lnSpc>
                <a:spcPct val="105000"/>
              </a:lnSpc>
              <a:spcBef>
                <a:spcPts val="0"/>
              </a:spcBef>
              <a:spcAft>
                <a:spcPts val="0"/>
              </a:spcAft>
              <a:buClr>
                <a:srgbClr val="424242"/>
              </a:buClr>
              <a:buSzPts val="1108"/>
              <a:buFont typeface="Nunito"/>
              <a:buAutoNum type="arabicPeriod"/>
            </a:pPr>
            <a:r>
              <a:rPr lang="en" sz="1107">
                <a:solidFill>
                  <a:srgbClr val="424242"/>
                </a:solidFill>
                <a:latin typeface="Nunito"/>
                <a:ea typeface="Nunito"/>
                <a:cs typeface="Nunito"/>
                <a:sym typeface="Nunito"/>
              </a:rPr>
              <a:t>Do players with more international caps earn a market value premium independent of club performance?</a:t>
            </a:r>
            <a:endParaRPr sz="1107">
              <a:solidFill>
                <a:srgbClr val="424242"/>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Importing to SQL</a:t>
            </a:r>
            <a:endParaRPr/>
          </a:p>
        </p:txBody>
      </p:sp>
      <p:sp>
        <p:nvSpPr>
          <p:cNvPr id="295" name="Google Shape;295;p4"/>
          <p:cNvSpPr txBox="1"/>
          <p:nvPr>
            <p:ph idx="1" type="body"/>
          </p:nvPr>
        </p:nvSpPr>
        <p:spPr>
          <a:xfrm>
            <a:off x="1303800" y="1556775"/>
            <a:ext cx="5162400" cy="3267300"/>
          </a:xfrm>
          <a:prstGeom prst="rect">
            <a:avLst/>
          </a:prstGeom>
          <a:noFill/>
          <a:ln>
            <a:noFill/>
          </a:ln>
        </p:spPr>
        <p:txBody>
          <a:bodyPr anchorCtr="0" anchor="t" bIns="91425" lIns="91425" spcFirstLastPara="1" rIns="91425" wrap="square" tIns="91425">
            <a:noAutofit/>
          </a:bodyPr>
          <a:lstStyle/>
          <a:p>
            <a:pPr indent="0" lvl="0" marL="0" rtl="0" algn="l">
              <a:lnSpc>
                <a:spcPct val="115714"/>
              </a:lnSpc>
              <a:spcBef>
                <a:spcPts val="0"/>
              </a:spcBef>
              <a:spcAft>
                <a:spcPts val="0"/>
              </a:spcAft>
              <a:buSzPts val="770"/>
              <a:buNone/>
            </a:pPr>
            <a:r>
              <a:rPr b="1" lang="en" sz="935">
                <a:solidFill>
                  <a:srgbClr val="C586C0"/>
                </a:solidFill>
                <a:highlight>
                  <a:srgbClr val="1F1F1F"/>
                </a:highlight>
                <a:latin typeface="Courier New"/>
                <a:ea typeface="Courier New"/>
                <a:cs typeface="Courier New"/>
                <a:sym typeface="Courier New"/>
              </a:rPr>
              <a:t>import</a:t>
            </a:r>
            <a:r>
              <a:rPr b="1" lang="en" sz="935">
                <a:solidFill>
                  <a:srgbClr val="CCCCCC"/>
                </a:solidFill>
                <a:highlight>
                  <a:srgbClr val="1F1F1F"/>
                </a:highlight>
                <a:latin typeface="Courier New"/>
                <a:ea typeface="Courier New"/>
                <a:cs typeface="Courier New"/>
                <a:sym typeface="Courier New"/>
              </a:rPr>
              <a:t> </a:t>
            </a:r>
            <a:r>
              <a:rPr b="1" lang="en" sz="935">
                <a:solidFill>
                  <a:srgbClr val="4EC9B0"/>
                </a:solidFill>
                <a:highlight>
                  <a:srgbClr val="1F1F1F"/>
                </a:highlight>
                <a:latin typeface="Courier New"/>
                <a:ea typeface="Courier New"/>
                <a:cs typeface="Courier New"/>
                <a:sym typeface="Courier New"/>
              </a:rPr>
              <a:t>sqlite3</a:t>
            </a:r>
            <a:endParaRPr b="1" sz="935">
              <a:solidFill>
                <a:srgbClr val="4EC9B0"/>
              </a:solidFill>
              <a:highlight>
                <a:srgbClr val="1F1F1F"/>
              </a:highlight>
              <a:latin typeface="Courier New"/>
              <a:ea typeface="Courier New"/>
              <a:cs typeface="Courier New"/>
              <a:sym typeface="Courier New"/>
            </a:endParaRPr>
          </a:p>
          <a:p>
            <a:pPr indent="0" lvl="0" marL="0" rtl="0" algn="l">
              <a:lnSpc>
                <a:spcPct val="115714"/>
              </a:lnSpc>
              <a:spcBef>
                <a:spcPts val="0"/>
              </a:spcBef>
              <a:spcAft>
                <a:spcPts val="0"/>
              </a:spcAft>
              <a:buSzPts val="770"/>
              <a:buNone/>
            </a:pPr>
            <a:r>
              <a:rPr b="1" lang="en" sz="935">
                <a:solidFill>
                  <a:srgbClr val="C586C0"/>
                </a:solidFill>
                <a:highlight>
                  <a:srgbClr val="1F1F1F"/>
                </a:highlight>
                <a:latin typeface="Courier New"/>
                <a:ea typeface="Courier New"/>
                <a:cs typeface="Courier New"/>
                <a:sym typeface="Courier New"/>
              </a:rPr>
              <a:t>import</a:t>
            </a:r>
            <a:r>
              <a:rPr b="1" lang="en" sz="935">
                <a:solidFill>
                  <a:srgbClr val="CCCCCC"/>
                </a:solidFill>
                <a:highlight>
                  <a:srgbClr val="1F1F1F"/>
                </a:highlight>
                <a:latin typeface="Courier New"/>
                <a:ea typeface="Courier New"/>
                <a:cs typeface="Courier New"/>
                <a:sym typeface="Courier New"/>
              </a:rPr>
              <a:t> </a:t>
            </a:r>
            <a:r>
              <a:rPr b="1" lang="en" sz="935">
                <a:solidFill>
                  <a:srgbClr val="4EC9B0"/>
                </a:solidFill>
                <a:highlight>
                  <a:srgbClr val="1F1F1F"/>
                </a:highlight>
                <a:latin typeface="Courier New"/>
                <a:ea typeface="Courier New"/>
                <a:cs typeface="Courier New"/>
                <a:sym typeface="Courier New"/>
              </a:rPr>
              <a:t>pandas</a:t>
            </a:r>
            <a:r>
              <a:rPr b="1" lang="en" sz="935">
                <a:solidFill>
                  <a:srgbClr val="CCCCCC"/>
                </a:solidFill>
                <a:highlight>
                  <a:srgbClr val="1F1F1F"/>
                </a:highlight>
                <a:latin typeface="Courier New"/>
                <a:ea typeface="Courier New"/>
                <a:cs typeface="Courier New"/>
                <a:sym typeface="Courier New"/>
              </a:rPr>
              <a:t> </a:t>
            </a:r>
            <a:r>
              <a:rPr b="1" lang="en" sz="935">
                <a:solidFill>
                  <a:srgbClr val="C586C0"/>
                </a:solidFill>
                <a:highlight>
                  <a:srgbClr val="1F1F1F"/>
                </a:highlight>
                <a:latin typeface="Courier New"/>
                <a:ea typeface="Courier New"/>
                <a:cs typeface="Courier New"/>
                <a:sym typeface="Courier New"/>
              </a:rPr>
              <a:t>as</a:t>
            </a:r>
            <a:r>
              <a:rPr b="1" lang="en" sz="935">
                <a:solidFill>
                  <a:srgbClr val="CCCCCC"/>
                </a:solidFill>
                <a:highlight>
                  <a:srgbClr val="1F1F1F"/>
                </a:highlight>
                <a:latin typeface="Courier New"/>
                <a:ea typeface="Courier New"/>
                <a:cs typeface="Courier New"/>
                <a:sym typeface="Courier New"/>
              </a:rPr>
              <a:t> </a:t>
            </a:r>
            <a:r>
              <a:rPr b="1" lang="en" sz="935">
                <a:solidFill>
                  <a:srgbClr val="4EC9B0"/>
                </a:solidFill>
                <a:highlight>
                  <a:srgbClr val="1F1F1F"/>
                </a:highlight>
                <a:latin typeface="Courier New"/>
                <a:ea typeface="Courier New"/>
                <a:cs typeface="Courier New"/>
                <a:sym typeface="Courier New"/>
              </a:rPr>
              <a:t>pd</a:t>
            </a:r>
            <a:endParaRPr b="1" sz="935">
              <a:solidFill>
                <a:srgbClr val="4EC9B0"/>
              </a:solidFill>
              <a:highlight>
                <a:srgbClr val="1F1F1F"/>
              </a:highlight>
              <a:latin typeface="Courier New"/>
              <a:ea typeface="Courier New"/>
              <a:cs typeface="Courier New"/>
              <a:sym typeface="Courier New"/>
            </a:endParaRPr>
          </a:p>
          <a:p>
            <a:pPr indent="0" lvl="0" marL="0" rtl="0" algn="l">
              <a:lnSpc>
                <a:spcPct val="115714"/>
              </a:lnSpc>
              <a:spcBef>
                <a:spcPts val="0"/>
              </a:spcBef>
              <a:spcAft>
                <a:spcPts val="0"/>
              </a:spcAft>
              <a:buSzPts val="770"/>
              <a:buNone/>
            </a:pPr>
            <a:r>
              <a:rPr b="1" lang="en" sz="935">
                <a:solidFill>
                  <a:srgbClr val="C586C0"/>
                </a:solidFill>
                <a:highlight>
                  <a:srgbClr val="1F1F1F"/>
                </a:highlight>
                <a:latin typeface="Courier New"/>
                <a:ea typeface="Courier New"/>
                <a:cs typeface="Courier New"/>
                <a:sym typeface="Courier New"/>
              </a:rPr>
              <a:t>import</a:t>
            </a:r>
            <a:r>
              <a:rPr b="1" lang="en" sz="935">
                <a:solidFill>
                  <a:srgbClr val="CCCCCC"/>
                </a:solidFill>
                <a:highlight>
                  <a:srgbClr val="1F1F1F"/>
                </a:highlight>
                <a:latin typeface="Courier New"/>
                <a:ea typeface="Courier New"/>
                <a:cs typeface="Courier New"/>
                <a:sym typeface="Courier New"/>
              </a:rPr>
              <a:t> </a:t>
            </a:r>
            <a:r>
              <a:rPr b="1" lang="en" sz="935">
                <a:solidFill>
                  <a:srgbClr val="4EC9B0"/>
                </a:solidFill>
                <a:highlight>
                  <a:srgbClr val="1F1F1F"/>
                </a:highlight>
                <a:latin typeface="Courier New"/>
                <a:ea typeface="Courier New"/>
                <a:cs typeface="Courier New"/>
                <a:sym typeface="Courier New"/>
              </a:rPr>
              <a:t>glob</a:t>
            </a:r>
            <a:endParaRPr b="1" sz="935">
              <a:solidFill>
                <a:srgbClr val="4EC9B0"/>
              </a:solidFill>
              <a:highlight>
                <a:srgbClr val="1F1F1F"/>
              </a:highlight>
              <a:latin typeface="Courier New"/>
              <a:ea typeface="Courier New"/>
              <a:cs typeface="Courier New"/>
              <a:sym typeface="Courier New"/>
            </a:endParaRPr>
          </a:p>
          <a:p>
            <a:pPr indent="0" lvl="0" marL="0" rtl="0" algn="l">
              <a:lnSpc>
                <a:spcPct val="115714"/>
              </a:lnSpc>
              <a:spcBef>
                <a:spcPts val="0"/>
              </a:spcBef>
              <a:spcAft>
                <a:spcPts val="0"/>
              </a:spcAft>
              <a:buSzPts val="770"/>
              <a:buNone/>
            </a:pPr>
            <a:r>
              <a:t/>
            </a:r>
            <a:endParaRPr b="1" sz="935">
              <a:solidFill>
                <a:srgbClr val="CCCCCC"/>
              </a:solidFill>
              <a:highlight>
                <a:srgbClr val="1F1F1F"/>
              </a:highlight>
              <a:latin typeface="Courier New"/>
              <a:ea typeface="Courier New"/>
              <a:cs typeface="Courier New"/>
              <a:sym typeface="Courier New"/>
            </a:endParaRPr>
          </a:p>
          <a:p>
            <a:pPr indent="0" lvl="0" marL="0" rtl="0" algn="l">
              <a:lnSpc>
                <a:spcPct val="115714"/>
              </a:lnSpc>
              <a:spcBef>
                <a:spcPts val="0"/>
              </a:spcBef>
              <a:spcAft>
                <a:spcPts val="0"/>
              </a:spcAft>
              <a:buSzPts val="770"/>
              <a:buNone/>
            </a:pPr>
            <a:r>
              <a:rPr b="1" lang="en" sz="935">
                <a:solidFill>
                  <a:srgbClr val="4FC1FF"/>
                </a:solidFill>
                <a:highlight>
                  <a:srgbClr val="1F1F1F"/>
                </a:highlight>
                <a:latin typeface="Courier New"/>
                <a:ea typeface="Courier New"/>
                <a:cs typeface="Courier New"/>
                <a:sym typeface="Courier New"/>
              </a:rPr>
              <a:t>BASE_PATH</a:t>
            </a:r>
            <a:r>
              <a:rPr b="1" lang="en" sz="935">
                <a:solidFill>
                  <a:srgbClr val="CCCCCC"/>
                </a:solidFill>
                <a:highlight>
                  <a:srgbClr val="1F1F1F"/>
                </a:highlight>
                <a:latin typeface="Courier New"/>
                <a:ea typeface="Courier New"/>
                <a:cs typeface="Courier New"/>
                <a:sym typeface="Courier New"/>
              </a:rPr>
              <a:t> </a:t>
            </a:r>
            <a:r>
              <a:rPr b="1" lang="en" sz="935">
                <a:solidFill>
                  <a:srgbClr val="D4D4D4"/>
                </a:solidFill>
                <a:highlight>
                  <a:srgbClr val="1F1F1F"/>
                </a:highlight>
                <a:latin typeface="Courier New"/>
                <a:ea typeface="Courier New"/>
                <a:cs typeface="Courier New"/>
                <a:sym typeface="Courier New"/>
              </a:rPr>
              <a:t>=</a:t>
            </a:r>
            <a:r>
              <a:rPr b="1" lang="en" sz="935">
                <a:solidFill>
                  <a:srgbClr val="CCCCCC"/>
                </a:solidFill>
                <a:highlight>
                  <a:srgbClr val="1F1F1F"/>
                </a:highlight>
                <a:latin typeface="Courier New"/>
                <a:ea typeface="Courier New"/>
                <a:cs typeface="Courier New"/>
                <a:sym typeface="Courier New"/>
              </a:rPr>
              <a:t> </a:t>
            </a:r>
            <a:r>
              <a:rPr b="1" lang="en" sz="935">
                <a:solidFill>
                  <a:srgbClr val="569CD6"/>
                </a:solidFill>
                <a:highlight>
                  <a:srgbClr val="1F1F1F"/>
                </a:highlight>
                <a:latin typeface="Courier New"/>
                <a:ea typeface="Courier New"/>
                <a:cs typeface="Courier New"/>
                <a:sym typeface="Courier New"/>
              </a:rPr>
              <a:t>r</a:t>
            </a:r>
            <a:r>
              <a:rPr b="1" lang="en" sz="935">
                <a:solidFill>
                  <a:srgbClr val="D16969"/>
                </a:solidFill>
                <a:highlight>
                  <a:srgbClr val="1F1F1F"/>
                </a:highlight>
                <a:latin typeface="Courier New"/>
                <a:ea typeface="Courier New"/>
                <a:cs typeface="Courier New"/>
                <a:sym typeface="Courier New"/>
              </a:rPr>
              <a:t>"C:</a:t>
            </a:r>
            <a:r>
              <a:rPr b="1" lang="en" sz="935">
                <a:solidFill>
                  <a:srgbClr val="D7BA7D"/>
                </a:solidFill>
                <a:highlight>
                  <a:srgbClr val="1F1F1F"/>
                </a:highlight>
                <a:latin typeface="Courier New"/>
                <a:ea typeface="Courier New"/>
                <a:cs typeface="Courier New"/>
                <a:sym typeface="Courier New"/>
              </a:rPr>
              <a:t>\U</a:t>
            </a:r>
            <a:r>
              <a:rPr b="1" lang="en" sz="935">
                <a:solidFill>
                  <a:srgbClr val="D16969"/>
                </a:solidFill>
                <a:highlight>
                  <a:srgbClr val="1F1F1F"/>
                </a:highlight>
                <a:latin typeface="Courier New"/>
                <a:ea typeface="Courier New"/>
                <a:cs typeface="Courier New"/>
                <a:sym typeface="Courier New"/>
              </a:rPr>
              <a:t>sers</a:t>
            </a:r>
            <a:r>
              <a:rPr b="1" lang="en" sz="935">
                <a:solidFill>
                  <a:srgbClr val="D7BA7D"/>
                </a:solidFill>
                <a:highlight>
                  <a:srgbClr val="1F1F1F"/>
                </a:highlight>
                <a:latin typeface="Courier New"/>
                <a:ea typeface="Courier New"/>
                <a:cs typeface="Courier New"/>
                <a:sym typeface="Courier New"/>
              </a:rPr>
              <a:t>\l</a:t>
            </a:r>
            <a:r>
              <a:rPr b="1" lang="en" sz="935">
                <a:solidFill>
                  <a:srgbClr val="D16969"/>
                </a:solidFill>
                <a:highlight>
                  <a:srgbClr val="1F1F1F"/>
                </a:highlight>
                <a:latin typeface="Courier New"/>
                <a:ea typeface="Courier New"/>
                <a:cs typeface="Courier New"/>
                <a:sym typeface="Courier New"/>
              </a:rPr>
              <a:t>aura</a:t>
            </a:r>
            <a:r>
              <a:rPr b="1" lang="en" sz="935">
                <a:solidFill>
                  <a:srgbClr val="D7BA7D"/>
                </a:solidFill>
                <a:highlight>
                  <a:srgbClr val="1F1F1F"/>
                </a:highlight>
                <a:latin typeface="Courier New"/>
                <a:ea typeface="Courier New"/>
                <a:cs typeface="Courier New"/>
                <a:sym typeface="Courier New"/>
              </a:rPr>
              <a:t>\O</a:t>
            </a:r>
            <a:r>
              <a:rPr b="1" lang="en" sz="935">
                <a:solidFill>
                  <a:srgbClr val="D16969"/>
                </a:solidFill>
                <a:highlight>
                  <a:srgbClr val="1F1F1F"/>
                </a:highlight>
                <a:latin typeface="Courier New"/>
                <a:ea typeface="Courier New"/>
                <a:cs typeface="Courier New"/>
                <a:sym typeface="Courier New"/>
              </a:rPr>
              <a:t>neDrive\Documents</a:t>
            </a:r>
            <a:r>
              <a:rPr b="1" lang="en" sz="935">
                <a:solidFill>
                  <a:srgbClr val="D7BA7D"/>
                </a:solidFill>
                <a:highlight>
                  <a:srgbClr val="1F1F1F"/>
                </a:highlight>
                <a:latin typeface="Courier New"/>
                <a:ea typeface="Courier New"/>
                <a:cs typeface="Courier New"/>
                <a:sym typeface="Courier New"/>
              </a:rPr>
              <a:t>\E</a:t>
            </a:r>
            <a:r>
              <a:rPr b="1" lang="en" sz="935">
                <a:solidFill>
                  <a:srgbClr val="D16969"/>
                </a:solidFill>
                <a:highlight>
                  <a:srgbClr val="1F1F1F"/>
                </a:highlight>
                <a:latin typeface="Courier New"/>
                <a:ea typeface="Courier New"/>
                <a:cs typeface="Courier New"/>
                <a:sym typeface="Courier New"/>
              </a:rPr>
              <a:t>studios\DATA SCIENCE &amp; ML\w3</a:t>
            </a:r>
            <a:r>
              <a:rPr b="1" lang="en" sz="935">
                <a:solidFill>
                  <a:srgbClr val="D7BA7D"/>
                </a:solidFill>
                <a:highlight>
                  <a:srgbClr val="1F1F1F"/>
                </a:highlight>
                <a:latin typeface="Courier New"/>
                <a:ea typeface="Courier New"/>
                <a:cs typeface="Courier New"/>
                <a:sym typeface="Courier New"/>
              </a:rPr>
              <a:t>\p</a:t>
            </a:r>
            <a:r>
              <a:rPr b="1" lang="en" sz="935">
                <a:solidFill>
                  <a:srgbClr val="D16969"/>
                </a:solidFill>
                <a:highlight>
                  <a:srgbClr val="1F1F1F"/>
                </a:highlight>
                <a:latin typeface="Courier New"/>
                <a:ea typeface="Courier New"/>
                <a:cs typeface="Courier New"/>
                <a:sym typeface="Courier New"/>
              </a:rPr>
              <a:t>roject</a:t>
            </a:r>
            <a:r>
              <a:rPr b="1" lang="en" sz="935">
                <a:solidFill>
                  <a:srgbClr val="D7BA7D"/>
                </a:solidFill>
                <a:highlight>
                  <a:srgbClr val="1F1F1F"/>
                </a:highlight>
                <a:latin typeface="Courier New"/>
                <a:ea typeface="Courier New"/>
                <a:cs typeface="Courier New"/>
                <a:sym typeface="Courier New"/>
              </a:rPr>
              <a:t>\f</a:t>
            </a:r>
            <a:r>
              <a:rPr b="1" lang="en" sz="935">
                <a:solidFill>
                  <a:srgbClr val="D16969"/>
                </a:solidFill>
                <a:highlight>
                  <a:srgbClr val="1F1F1F"/>
                </a:highlight>
                <a:latin typeface="Courier New"/>
                <a:ea typeface="Courier New"/>
                <a:cs typeface="Courier New"/>
                <a:sym typeface="Courier New"/>
              </a:rPr>
              <a:t>ootball-datasets\datalake</a:t>
            </a:r>
            <a:r>
              <a:rPr b="1" lang="en" sz="935">
                <a:solidFill>
                  <a:srgbClr val="D7BA7D"/>
                </a:solidFill>
                <a:highlight>
                  <a:srgbClr val="1F1F1F"/>
                </a:highlight>
                <a:latin typeface="Courier New"/>
                <a:ea typeface="Courier New"/>
                <a:cs typeface="Courier New"/>
                <a:sym typeface="Courier New"/>
              </a:rPr>
              <a:t>\t</a:t>
            </a:r>
            <a:r>
              <a:rPr b="1" lang="en" sz="935">
                <a:solidFill>
                  <a:srgbClr val="D16969"/>
                </a:solidFill>
                <a:highlight>
                  <a:srgbClr val="1F1F1F"/>
                </a:highlight>
                <a:latin typeface="Courier New"/>
                <a:ea typeface="Courier New"/>
                <a:cs typeface="Courier New"/>
                <a:sym typeface="Courier New"/>
              </a:rPr>
              <a:t>ransfermarkt"</a:t>
            </a:r>
            <a:endParaRPr b="1" sz="935">
              <a:solidFill>
                <a:srgbClr val="D16969"/>
              </a:solidFill>
              <a:highlight>
                <a:srgbClr val="1F1F1F"/>
              </a:highlight>
              <a:latin typeface="Courier New"/>
              <a:ea typeface="Courier New"/>
              <a:cs typeface="Courier New"/>
              <a:sym typeface="Courier New"/>
            </a:endParaRPr>
          </a:p>
          <a:p>
            <a:pPr indent="0" lvl="0" marL="0" rtl="0" algn="l">
              <a:lnSpc>
                <a:spcPct val="115714"/>
              </a:lnSpc>
              <a:spcBef>
                <a:spcPts val="0"/>
              </a:spcBef>
              <a:spcAft>
                <a:spcPts val="0"/>
              </a:spcAft>
              <a:buSzPts val="770"/>
              <a:buNone/>
            </a:pPr>
            <a:r>
              <a:rPr b="1" lang="en" sz="935">
                <a:solidFill>
                  <a:srgbClr val="4FC1FF"/>
                </a:solidFill>
                <a:highlight>
                  <a:srgbClr val="1F1F1F"/>
                </a:highlight>
                <a:latin typeface="Courier New"/>
                <a:ea typeface="Courier New"/>
                <a:cs typeface="Courier New"/>
                <a:sym typeface="Courier New"/>
              </a:rPr>
              <a:t>DB_PATH</a:t>
            </a:r>
            <a:r>
              <a:rPr b="1" lang="en" sz="935">
                <a:solidFill>
                  <a:srgbClr val="CCCCCC"/>
                </a:solidFill>
                <a:highlight>
                  <a:srgbClr val="1F1F1F"/>
                </a:highlight>
                <a:latin typeface="Courier New"/>
                <a:ea typeface="Courier New"/>
                <a:cs typeface="Courier New"/>
                <a:sym typeface="Courier New"/>
              </a:rPr>
              <a:t>   </a:t>
            </a:r>
            <a:r>
              <a:rPr b="1" lang="en" sz="935">
                <a:solidFill>
                  <a:srgbClr val="D4D4D4"/>
                </a:solidFill>
                <a:highlight>
                  <a:srgbClr val="1F1F1F"/>
                </a:highlight>
                <a:latin typeface="Courier New"/>
                <a:ea typeface="Courier New"/>
                <a:cs typeface="Courier New"/>
                <a:sym typeface="Courier New"/>
              </a:rPr>
              <a:t>=</a:t>
            </a:r>
            <a:r>
              <a:rPr b="1" lang="en" sz="935">
                <a:solidFill>
                  <a:srgbClr val="CCCCCC"/>
                </a:solidFill>
                <a:highlight>
                  <a:srgbClr val="1F1F1F"/>
                </a:highlight>
                <a:latin typeface="Courier New"/>
                <a:ea typeface="Courier New"/>
                <a:cs typeface="Courier New"/>
                <a:sym typeface="Courier New"/>
              </a:rPr>
              <a:t> </a:t>
            </a:r>
            <a:r>
              <a:rPr b="1" lang="en" sz="935">
                <a:solidFill>
                  <a:srgbClr val="4FC1FF"/>
                </a:solidFill>
                <a:highlight>
                  <a:srgbClr val="1F1F1F"/>
                </a:highlight>
                <a:latin typeface="Courier New"/>
                <a:ea typeface="Courier New"/>
                <a:cs typeface="Courier New"/>
                <a:sym typeface="Courier New"/>
              </a:rPr>
              <a:t>BASE_PATH</a:t>
            </a:r>
            <a:r>
              <a:rPr b="1" lang="en" sz="935">
                <a:solidFill>
                  <a:srgbClr val="CCCCCC"/>
                </a:solidFill>
                <a:highlight>
                  <a:srgbClr val="1F1F1F"/>
                </a:highlight>
                <a:latin typeface="Courier New"/>
                <a:ea typeface="Courier New"/>
                <a:cs typeface="Courier New"/>
                <a:sym typeface="Courier New"/>
              </a:rPr>
              <a:t> </a:t>
            </a:r>
            <a:r>
              <a:rPr b="1" lang="en" sz="935">
                <a:solidFill>
                  <a:srgbClr val="D4D4D4"/>
                </a:solidFill>
                <a:highlight>
                  <a:srgbClr val="1F1F1F"/>
                </a:highlight>
                <a:latin typeface="Courier New"/>
                <a:ea typeface="Courier New"/>
                <a:cs typeface="Courier New"/>
                <a:sym typeface="Courier New"/>
              </a:rPr>
              <a:t>+</a:t>
            </a:r>
            <a:r>
              <a:rPr b="1" lang="en" sz="935">
                <a:solidFill>
                  <a:srgbClr val="CCCCCC"/>
                </a:solidFill>
                <a:highlight>
                  <a:srgbClr val="1F1F1F"/>
                </a:highlight>
                <a:latin typeface="Courier New"/>
                <a:ea typeface="Courier New"/>
                <a:cs typeface="Courier New"/>
                <a:sym typeface="Courier New"/>
              </a:rPr>
              <a:t> </a:t>
            </a:r>
            <a:r>
              <a:rPr b="1" lang="en" sz="935">
                <a:solidFill>
                  <a:srgbClr val="569CD6"/>
                </a:solidFill>
                <a:highlight>
                  <a:srgbClr val="1F1F1F"/>
                </a:highlight>
                <a:latin typeface="Courier New"/>
                <a:ea typeface="Courier New"/>
                <a:cs typeface="Courier New"/>
                <a:sym typeface="Courier New"/>
              </a:rPr>
              <a:t>r</a:t>
            </a:r>
            <a:r>
              <a:rPr b="1" lang="en" sz="935">
                <a:solidFill>
                  <a:srgbClr val="D16969"/>
                </a:solidFill>
                <a:highlight>
                  <a:srgbClr val="1F1F1F"/>
                </a:highlight>
                <a:latin typeface="Courier New"/>
                <a:ea typeface="Courier New"/>
                <a:cs typeface="Courier New"/>
                <a:sym typeface="Courier New"/>
              </a:rPr>
              <a:t>"</a:t>
            </a:r>
            <a:r>
              <a:rPr b="1" lang="en" sz="935">
                <a:solidFill>
                  <a:srgbClr val="D7BA7D"/>
                </a:solidFill>
                <a:highlight>
                  <a:srgbClr val="1F1F1F"/>
                </a:highlight>
                <a:latin typeface="Courier New"/>
                <a:ea typeface="Courier New"/>
                <a:cs typeface="Courier New"/>
                <a:sym typeface="Courier New"/>
              </a:rPr>
              <a:t>\t</a:t>
            </a:r>
            <a:r>
              <a:rPr b="1" lang="en" sz="935">
                <a:solidFill>
                  <a:srgbClr val="D16969"/>
                </a:solidFill>
                <a:highlight>
                  <a:srgbClr val="1F1F1F"/>
                </a:highlight>
                <a:latin typeface="Courier New"/>
                <a:ea typeface="Courier New"/>
                <a:cs typeface="Courier New"/>
                <a:sym typeface="Courier New"/>
              </a:rPr>
              <a:t>ransfermarkt.db"</a:t>
            </a:r>
            <a:endParaRPr b="1" sz="935">
              <a:solidFill>
                <a:srgbClr val="D16969"/>
              </a:solidFill>
              <a:highlight>
                <a:srgbClr val="1F1F1F"/>
              </a:highlight>
              <a:latin typeface="Courier New"/>
              <a:ea typeface="Courier New"/>
              <a:cs typeface="Courier New"/>
              <a:sym typeface="Courier New"/>
            </a:endParaRPr>
          </a:p>
          <a:p>
            <a:pPr indent="0" lvl="0" marL="0" rtl="0" algn="l">
              <a:lnSpc>
                <a:spcPct val="115714"/>
              </a:lnSpc>
              <a:spcBef>
                <a:spcPts val="0"/>
              </a:spcBef>
              <a:spcAft>
                <a:spcPts val="0"/>
              </a:spcAft>
              <a:buSzPts val="770"/>
              <a:buNone/>
            </a:pPr>
            <a:r>
              <a:t/>
            </a:r>
            <a:endParaRPr b="1" sz="935">
              <a:solidFill>
                <a:srgbClr val="CCCCCC"/>
              </a:solidFill>
              <a:highlight>
                <a:srgbClr val="1F1F1F"/>
              </a:highlight>
              <a:latin typeface="Courier New"/>
              <a:ea typeface="Courier New"/>
              <a:cs typeface="Courier New"/>
              <a:sym typeface="Courier New"/>
            </a:endParaRPr>
          </a:p>
          <a:p>
            <a:pPr indent="0" lvl="0" marL="0" rtl="0" algn="l">
              <a:lnSpc>
                <a:spcPct val="115714"/>
              </a:lnSpc>
              <a:spcBef>
                <a:spcPts val="0"/>
              </a:spcBef>
              <a:spcAft>
                <a:spcPts val="0"/>
              </a:spcAft>
              <a:buSzPts val="770"/>
              <a:buNone/>
            </a:pPr>
            <a:r>
              <a:rPr b="1" lang="en" sz="935">
                <a:solidFill>
                  <a:srgbClr val="9CDCFE"/>
                </a:solidFill>
                <a:highlight>
                  <a:srgbClr val="1F1F1F"/>
                </a:highlight>
                <a:latin typeface="Courier New"/>
                <a:ea typeface="Courier New"/>
                <a:cs typeface="Courier New"/>
                <a:sym typeface="Courier New"/>
              </a:rPr>
              <a:t>conn</a:t>
            </a:r>
            <a:r>
              <a:rPr b="1" lang="en" sz="935">
                <a:solidFill>
                  <a:srgbClr val="CCCCCC"/>
                </a:solidFill>
                <a:highlight>
                  <a:srgbClr val="1F1F1F"/>
                </a:highlight>
                <a:latin typeface="Courier New"/>
                <a:ea typeface="Courier New"/>
                <a:cs typeface="Courier New"/>
                <a:sym typeface="Courier New"/>
              </a:rPr>
              <a:t> </a:t>
            </a:r>
            <a:r>
              <a:rPr b="1" lang="en" sz="935">
                <a:solidFill>
                  <a:srgbClr val="D4D4D4"/>
                </a:solidFill>
                <a:highlight>
                  <a:srgbClr val="1F1F1F"/>
                </a:highlight>
                <a:latin typeface="Courier New"/>
                <a:ea typeface="Courier New"/>
                <a:cs typeface="Courier New"/>
                <a:sym typeface="Courier New"/>
              </a:rPr>
              <a:t>=</a:t>
            </a:r>
            <a:r>
              <a:rPr b="1" lang="en" sz="935">
                <a:solidFill>
                  <a:srgbClr val="CCCCCC"/>
                </a:solidFill>
                <a:highlight>
                  <a:srgbClr val="1F1F1F"/>
                </a:highlight>
                <a:latin typeface="Courier New"/>
                <a:ea typeface="Courier New"/>
                <a:cs typeface="Courier New"/>
                <a:sym typeface="Courier New"/>
              </a:rPr>
              <a:t> </a:t>
            </a:r>
            <a:r>
              <a:rPr b="1" lang="en" sz="935">
                <a:solidFill>
                  <a:srgbClr val="4EC9B0"/>
                </a:solidFill>
                <a:highlight>
                  <a:srgbClr val="1F1F1F"/>
                </a:highlight>
                <a:latin typeface="Courier New"/>
                <a:ea typeface="Courier New"/>
                <a:cs typeface="Courier New"/>
                <a:sym typeface="Courier New"/>
              </a:rPr>
              <a:t>sqlite3</a:t>
            </a:r>
            <a:r>
              <a:rPr b="1" lang="en" sz="935">
                <a:solidFill>
                  <a:srgbClr val="CCCCCC"/>
                </a:solidFill>
                <a:highlight>
                  <a:srgbClr val="1F1F1F"/>
                </a:highlight>
                <a:latin typeface="Courier New"/>
                <a:ea typeface="Courier New"/>
                <a:cs typeface="Courier New"/>
                <a:sym typeface="Courier New"/>
              </a:rPr>
              <a:t>.</a:t>
            </a:r>
            <a:r>
              <a:rPr b="1" lang="en" sz="935">
                <a:solidFill>
                  <a:srgbClr val="DCDCAA"/>
                </a:solidFill>
                <a:highlight>
                  <a:srgbClr val="1F1F1F"/>
                </a:highlight>
                <a:latin typeface="Courier New"/>
                <a:ea typeface="Courier New"/>
                <a:cs typeface="Courier New"/>
                <a:sym typeface="Courier New"/>
              </a:rPr>
              <a:t>connect</a:t>
            </a:r>
            <a:r>
              <a:rPr b="1" lang="en" sz="935">
                <a:solidFill>
                  <a:srgbClr val="CCCCCC"/>
                </a:solidFill>
                <a:highlight>
                  <a:srgbClr val="1F1F1F"/>
                </a:highlight>
                <a:latin typeface="Courier New"/>
                <a:ea typeface="Courier New"/>
                <a:cs typeface="Courier New"/>
                <a:sym typeface="Courier New"/>
              </a:rPr>
              <a:t>(</a:t>
            </a:r>
            <a:r>
              <a:rPr b="1" lang="en" sz="935">
                <a:solidFill>
                  <a:srgbClr val="4FC1FF"/>
                </a:solidFill>
                <a:highlight>
                  <a:srgbClr val="1F1F1F"/>
                </a:highlight>
                <a:latin typeface="Courier New"/>
                <a:ea typeface="Courier New"/>
                <a:cs typeface="Courier New"/>
                <a:sym typeface="Courier New"/>
              </a:rPr>
              <a:t>DB_PATH</a:t>
            </a:r>
            <a:r>
              <a:rPr b="1" lang="en" sz="935">
                <a:solidFill>
                  <a:srgbClr val="CCCCCC"/>
                </a:solidFill>
                <a:highlight>
                  <a:srgbClr val="1F1F1F"/>
                </a:highlight>
                <a:latin typeface="Courier New"/>
                <a:ea typeface="Courier New"/>
                <a:cs typeface="Courier New"/>
                <a:sym typeface="Courier New"/>
              </a:rPr>
              <a:t>)</a:t>
            </a:r>
            <a:endParaRPr b="1" sz="935">
              <a:solidFill>
                <a:srgbClr val="CCCCCC"/>
              </a:solidFill>
              <a:highlight>
                <a:srgbClr val="1F1F1F"/>
              </a:highlight>
              <a:latin typeface="Courier New"/>
              <a:ea typeface="Courier New"/>
              <a:cs typeface="Courier New"/>
              <a:sym typeface="Courier New"/>
            </a:endParaRPr>
          </a:p>
          <a:p>
            <a:pPr indent="0" lvl="0" marL="0" rtl="0" algn="l">
              <a:lnSpc>
                <a:spcPct val="115714"/>
              </a:lnSpc>
              <a:spcBef>
                <a:spcPts val="0"/>
              </a:spcBef>
              <a:spcAft>
                <a:spcPts val="0"/>
              </a:spcAft>
              <a:buSzPts val="770"/>
              <a:buNone/>
            </a:pPr>
            <a:r>
              <a:t/>
            </a:r>
            <a:endParaRPr b="1" sz="935">
              <a:solidFill>
                <a:srgbClr val="CCCCCC"/>
              </a:solidFill>
              <a:highlight>
                <a:srgbClr val="1F1F1F"/>
              </a:highlight>
              <a:latin typeface="Courier New"/>
              <a:ea typeface="Courier New"/>
              <a:cs typeface="Courier New"/>
              <a:sym typeface="Courier New"/>
            </a:endParaRPr>
          </a:p>
          <a:p>
            <a:pPr indent="0" lvl="0" marL="0" rtl="0" algn="l">
              <a:lnSpc>
                <a:spcPct val="115714"/>
              </a:lnSpc>
              <a:spcBef>
                <a:spcPts val="0"/>
              </a:spcBef>
              <a:spcAft>
                <a:spcPts val="0"/>
              </a:spcAft>
              <a:buSzPts val="770"/>
              <a:buNone/>
            </a:pPr>
            <a:r>
              <a:rPr b="1" lang="en" sz="935">
                <a:solidFill>
                  <a:srgbClr val="C586C0"/>
                </a:solidFill>
                <a:highlight>
                  <a:srgbClr val="1F1F1F"/>
                </a:highlight>
                <a:latin typeface="Courier New"/>
                <a:ea typeface="Courier New"/>
                <a:cs typeface="Courier New"/>
                <a:sym typeface="Courier New"/>
              </a:rPr>
              <a:t>for</a:t>
            </a:r>
            <a:r>
              <a:rPr b="1" lang="en" sz="935">
                <a:solidFill>
                  <a:srgbClr val="CCCCCC"/>
                </a:solidFill>
                <a:highlight>
                  <a:srgbClr val="1F1F1F"/>
                </a:highlight>
                <a:latin typeface="Courier New"/>
                <a:ea typeface="Courier New"/>
                <a:cs typeface="Courier New"/>
                <a:sym typeface="Courier New"/>
              </a:rPr>
              <a:t> </a:t>
            </a:r>
            <a:r>
              <a:rPr b="1" lang="en" sz="935">
                <a:solidFill>
                  <a:srgbClr val="9CDCFE"/>
                </a:solidFill>
                <a:highlight>
                  <a:srgbClr val="1F1F1F"/>
                </a:highlight>
                <a:latin typeface="Courier New"/>
                <a:ea typeface="Courier New"/>
                <a:cs typeface="Courier New"/>
                <a:sym typeface="Courier New"/>
              </a:rPr>
              <a:t>csv_file</a:t>
            </a:r>
            <a:r>
              <a:rPr b="1" lang="en" sz="935">
                <a:solidFill>
                  <a:srgbClr val="CCCCCC"/>
                </a:solidFill>
                <a:highlight>
                  <a:srgbClr val="1F1F1F"/>
                </a:highlight>
                <a:latin typeface="Courier New"/>
                <a:ea typeface="Courier New"/>
                <a:cs typeface="Courier New"/>
                <a:sym typeface="Courier New"/>
              </a:rPr>
              <a:t> </a:t>
            </a:r>
            <a:r>
              <a:rPr b="1" lang="en" sz="935">
                <a:solidFill>
                  <a:srgbClr val="C586C0"/>
                </a:solidFill>
                <a:highlight>
                  <a:srgbClr val="1F1F1F"/>
                </a:highlight>
                <a:latin typeface="Courier New"/>
                <a:ea typeface="Courier New"/>
                <a:cs typeface="Courier New"/>
                <a:sym typeface="Courier New"/>
              </a:rPr>
              <a:t>in</a:t>
            </a:r>
            <a:r>
              <a:rPr b="1" lang="en" sz="935">
                <a:solidFill>
                  <a:srgbClr val="CCCCCC"/>
                </a:solidFill>
                <a:highlight>
                  <a:srgbClr val="1F1F1F"/>
                </a:highlight>
                <a:latin typeface="Courier New"/>
                <a:ea typeface="Courier New"/>
                <a:cs typeface="Courier New"/>
                <a:sym typeface="Courier New"/>
              </a:rPr>
              <a:t> </a:t>
            </a:r>
            <a:r>
              <a:rPr b="1" lang="en" sz="935">
                <a:solidFill>
                  <a:srgbClr val="4EC9B0"/>
                </a:solidFill>
                <a:highlight>
                  <a:srgbClr val="1F1F1F"/>
                </a:highlight>
                <a:latin typeface="Courier New"/>
                <a:ea typeface="Courier New"/>
                <a:cs typeface="Courier New"/>
                <a:sym typeface="Courier New"/>
              </a:rPr>
              <a:t>glob</a:t>
            </a:r>
            <a:r>
              <a:rPr b="1" lang="en" sz="935">
                <a:solidFill>
                  <a:srgbClr val="CCCCCC"/>
                </a:solidFill>
                <a:highlight>
                  <a:srgbClr val="1F1F1F"/>
                </a:highlight>
                <a:latin typeface="Courier New"/>
                <a:ea typeface="Courier New"/>
                <a:cs typeface="Courier New"/>
                <a:sym typeface="Courier New"/>
              </a:rPr>
              <a:t>.</a:t>
            </a:r>
            <a:r>
              <a:rPr b="1" lang="en" sz="935">
                <a:solidFill>
                  <a:srgbClr val="DCDCAA"/>
                </a:solidFill>
                <a:highlight>
                  <a:srgbClr val="1F1F1F"/>
                </a:highlight>
                <a:latin typeface="Courier New"/>
                <a:ea typeface="Courier New"/>
                <a:cs typeface="Courier New"/>
                <a:sym typeface="Courier New"/>
              </a:rPr>
              <a:t>glob</a:t>
            </a:r>
            <a:r>
              <a:rPr b="1" lang="en" sz="935">
                <a:solidFill>
                  <a:srgbClr val="CCCCCC"/>
                </a:solidFill>
                <a:highlight>
                  <a:srgbClr val="1F1F1F"/>
                </a:highlight>
                <a:latin typeface="Courier New"/>
                <a:ea typeface="Courier New"/>
                <a:cs typeface="Courier New"/>
                <a:sym typeface="Courier New"/>
              </a:rPr>
              <a:t>(</a:t>
            </a:r>
            <a:r>
              <a:rPr b="1" lang="en" sz="935">
                <a:solidFill>
                  <a:srgbClr val="4FC1FF"/>
                </a:solidFill>
                <a:highlight>
                  <a:srgbClr val="1F1F1F"/>
                </a:highlight>
                <a:latin typeface="Courier New"/>
                <a:ea typeface="Courier New"/>
                <a:cs typeface="Courier New"/>
                <a:sym typeface="Courier New"/>
              </a:rPr>
              <a:t>BASE_PATH</a:t>
            </a:r>
            <a:r>
              <a:rPr b="1" lang="en" sz="935">
                <a:solidFill>
                  <a:srgbClr val="CCCCCC"/>
                </a:solidFill>
                <a:highlight>
                  <a:srgbClr val="1F1F1F"/>
                </a:highlight>
                <a:latin typeface="Courier New"/>
                <a:ea typeface="Courier New"/>
                <a:cs typeface="Courier New"/>
                <a:sym typeface="Courier New"/>
              </a:rPr>
              <a:t> </a:t>
            </a:r>
            <a:r>
              <a:rPr b="1" lang="en" sz="935">
                <a:solidFill>
                  <a:srgbClr val="D4D4D4"/>
                </a:solidFill>
                <a:highlight>
                  <a:srgbClr val="1F1F1F"/>
                </a:highlight>
                <a:latin typeface="Courier New"/>
                <a:ea typeface="Courier New"/>
                <a:cs typeface="Courier New"/>
                <a:sym typeface="Courier New"/>
              </a:rPr>
              <a:t>+</a:t>
            </a:r>
            <a:r>
              <a:rPr b="1" lang="en" sz="935">
                <a:solidFill>
                  <a:srgbClr val="CCCCCC"/>
                </a:solidFill>
                <a:highlight>
                  <a:srgbClr val="1F1F1F"/>
                </a:highlight>
                <a:latin typeface="Courier New"/>
                <a:ea typeface="Courier New"/>
                <a:cs typeface="Courier New"/>
                <a:sym typeface="Courier New"/>
              </a:rPr>
              <a:t> </a:t>
            </a:r>
            <a:r>
              <a:rPr b="1" lang="en" sz="935">
                <a:solidFill>
                  <a:srgbClr val="569CD6"/>
                </a:solidFill>
                <a:highlight>
                  <a:srgbClr val="1F1F1F"/>
                </a:highlight>
                <a:latin typeface="Courier New"/>
                <a:ea typeface="Courier New"/>
                <a:cs typeface="Courier New"/>
                <a:sym typeface="Courier New"/>
              </a:rPr>
              <a:t>r</a:t>
            </a:r>
            <a:r>
              <a:rPr b="1" lang="en" sz="935">
                <a:solidFill>
                  <a:srgbClr val="D16969"/>
                </a:solidFill>
                <a:highlight>
                  <a:srgbClr val="1F1F1F"/>
                </a:highlight>
                <a:latin typeface="Courier New"/>
                <a:ea typeface="Courier New"/>
                <a:cs typeface="Courier New"/>
                <a:sym typeface="Courier New"/>
              </a:rPr>
              <a:t>"</a:t>
            </a:r>
            <a:r>
              <a:rPr b="1" lang="en" sz="935">
                <a:solidFill>
                  <a:srgbClr val="D7BA7D"/>
                </a:solidFill>
                <a:highlight>
                  <a:srgbClr val="1F1F1F"/>
                </a:highlight>
                <a:latin typeface="Courier New"/>
                <a:ea typeface="Courier New"/>
                <a:cs typeface="Courier New"/>
                <a:sym typeface="Courier New"/>
              </a:rPr>
              <a:t>\**\*</a:t>
            </a:r>
            <a:r>
              <a:rPr b="1" lang="en" sz="935">
                <a:solidFill>
                  <a:srgbClr val="D16969"/>
                </a:solidFill>
                <a:highlight>
                  <a:srgbClr val="1F1F1F"/>
                </a:highlight>
                <a:latin typeface="Courier New"/>
                <a:ea typeface="Courier New"/>
                <a:cs typeface="Courier New"/>
                <a:sym typeface="Courier New"/>
              </a:rPr>
              <a:t>.csv"</a:t>
            </a:r>
            <a:r>
              <a:rPr b="1" lang="en" sz="935">
                <a:solidFill>
                  <a:srgbClr val="CCCCCC"/>
                </a:solidFill>
                <a:highlight>
                  <a:srgbClr val="1F1F1F"/>
                </a:highlight>
                <a:latin typeface="Courier New"/>
                <a:ea typeface="Courier New"/>
                <a:cs typeface="Courier New"/>
                <a:sym typeface="Courier New"/>
              </a:rPr>
              <a:t>, </a:t>
            </a:r>
            <a:r>
              <a:rPr b="1" lang="en" sz="935">
                <a:solidFill>
                  <a:srgbClr val="9CDCFE"/>
                </a:solidFill>
                <a:highlight>
                  <a:srgbClr val="1F1F1F"/>
                </a:highlight>
                <a:latin typeface="Courier New"/>
                <a:ea typeface="Courier New"/>
                <a:cs typeface="Courier New"/>
                <a:sym typeface="Courier New"/>
              </a:rPr>
              <a:t>recursive</a:t>
            </a:r>
            <a:r>
              <a:rPr b="1" lang="en" sz="935">
                <a:solidFill>
                  <a:srgbClr val="D4D4D4"/>
                </a:solidFill>
                <a:highlight>
                  <a:srgbClr val="1F1F1F"/>
                </a:highlight>
                <a:latin typeface="Courier New"/>
                <a:ea typeface="Courier New"/>
                <a:cs typeface="Courier New"/>
                <a:sym typeface="Courier New"/>
              </a:rPr>
              <a:t>=</a:t>
            </a:r>
            <a:r>
              <a:rPr b="1" lang="en" sz="935">
                <a:solidFill>
                  <a:srgbClr val="569CD6"/>
                </a:solidFill>
                <a:highlight>
                  <a:srgbClr val="1F1F1F"/>
                </a:highlight>
                <a:latin typeface="Courier New"/>
                <a:ea typeface="Courier New"/>
                <a:cs typeface="Courier New"/>
                <a:sym typeface="Courier New"/>
              </a:rPr>
              <a:t>True</a:t>
            </a:r>
            <a:r>
              <a:rPr b="1" lang="en" sz="935">
                <a:solidFill>
                  <a:srgbClr val="CCCCCC"/>
                </a:solidFill>
                <a:highlight>
                  <a:srgbClr val="1F1F1F"/>
                </a:highlight>
                <a:latin typeface="Courier New"/>
                <a:ea typeface="Courier New"/>
                <a:cs typeface="Courier New"/>
                <a:sym typeface="Courier New"/>
              </a:rPr>
              <a:t>):</a:t>
            </a:r>
            <a:endParaRPr b="1" sz="935">
              <a:solidFill>
                <a:srgbClr val="CCCCCC"/>
              </a:solidFill>
              <a:highlight>
                <a:srgbClr val="1F1F1F"/>
              </a:highlight>
              <a:latin typeface="Courier New"/>
              <a:ea typeface="Courier New"/>
              <a:cs typeface="Courier New"/>
              <a:sym typeface="Courier New"/>
            </a:endParaRPr>
          </a:p>
          <a:p>
            <a:pPr indent="0" lvl="0" marL="0" rtl="0" algn="l">
              <a:lnSpc>
                <a:spcPct val="115714"/>
              </a:lnSpc>
              <a:spcBef>
                <a:spcPts val="0"/>
              </a:spcBef>
              <a:spcAft>
                <a:spcPts val="0"/>
              </a:spcAft>
              <a:buSzPts val="770"/>
              <a:buNone/>
            </a:pPr>
            <a:r>
              <a:rPr b="1" lang="en" sz="935">
                <a:solidFill>
                  <a:srgbClr val="CCCCCC"/>
                </a:solidFill>
                <a:highlight>
                  <a:srgbClr val="1F1F1F"/>
                </a:highlight>
                <a:latin typeface="Courier New"/>
                <a:ea typeface="Courier New"/>
                <a:cs typeface="Courier New"/>
                <a:sym typeface="Courier New"/>
              </a:rPr>
              <a:t>    </a:t>
            </a:r>
            <a:r>
              <a:rPr b="1" lang="en" sz="935">
                <a:solidFill>
                  <a:srgbClr val="9CDCFE"/>
                </a:solidFill>
                <a:highlight>
                  <a:srgbClr val="1F1F1F"/>
                </a:highlight>
                <a:latin typeface="Courier New"/>
                <a:ea typeface="Courier New"/>
                <a:cs typeface="Courier New"/>
                <a:sym typeface="Courier New"/>
              </a:rPr>
              <a:t>table_name</a:t>
            </a:r>
            <a:r>
              <a:rPr b="1" lang="en" sz="935">
                <a:solidFill>
                  <a:srgbClr val="CCCCCC"/>
                </a:solidFill>
                <a:highlight>
                  <a:srgbClr val="1F1F1F"/>
                </a:highlight>
                <a:latin typeface="Courier New"/>
                <a:ea typeface="Courier New"/>
                <a:cs typeface="Courier New"/>
                <a:sym typeface="Courier New"/>
              </a:rPr>
              <a:t> </a:t>
            </a:r>
            <a:r>
              <a:rPr b="1" lang="en" sz="935">
                <a:solidFill>
                  <a:srgbClr val="D4D4D4"/>
                </a:solidFill>
                <a:highlight>
                  <a:srgbClr val="1F1F1F"/>
                </a:highlight>
                <a:latin typeface="Courier New"/>
                <a:ea typeface="Courier New"/>
                <a:cs typeface="Courier New"/>
                <a:sym typeface="Courier New"/>
              </a:rPr>
              <a:t>=</a:t>
            </a:r>
            <a:r>
              <a:rPr b="1" lang="en" sz="935">
                <a:solidFill>
                  <a:srgbClr val="CCCCCC"/>
                </a:solidFill>
                <a:highlight>
                  <a:srgbClr val="1F1F1F"/>
                </a:highlight>
                <a:latin typeface="Courier New"/>
                <a:ea typeface="Courier New"/>
                <a:cs typeface="Courier New"/>
                <a:sym typeface="Courier New"/>
              </a:rPr>
              <a:t> </a:t>
            </a:r>
            <a:r>
              <a:rPr b="1" lang="en" sz="935">
                <a:solidFill>
                  <a:srgbClr val="9CDCFE"/>
                </a:solidFill>
                <a:highlight>
                  <a:srgbClr val="1F1F1F"/>
                </a:highlight>
                <a:latin typeface="Courier New"/>
                <a:ea typeface="Courier New"/>
                <a:cs typeface="Courier New"/>
                <a:sym typeface="Courier New"/>
              </a:rPr>
              <a:t>csv_file</a:t>
            </a:r>
            <a:r>
              <a:rPr b="1" lang="en" sz="935">
                <a:solidFill>
                  <a:srgbClr val="CCCCCC"/>
                </a:solidFill>
                <a:highlight>
                  <a:srgbClr val="1F1F1F"/>
                </a:highlight>
                <a:latin typeface="Courier New"/>
                <a:ea typeface="Courier New"/>
                <a:cs typeface="Courier New"/>
                <a:sym typeface="Courier New"/>
              </a:rPr>
              <a:t>.</a:t>
            </a:r>
            <a:r>
              <a:rPr b="1" lang="en" sz="935">
                <a:solidFill>
                  <a:srgbClr val="DCDCAA"/>
                </a:solidFill>
                <a:highlight>
                  <a:srgbClr val="1F1F1F"/>
                </a:highlight>
                <a:latin typeface="Courier New"/>
                <a:ea typeface="Courier New"/>
                <a:cs typeface="Courier New"/>
                <a:sym typeface="Courier New"/>
              </a:rPr>
              <a:t>split</a:t>
            </a:r>
            <a:r>
              <a:rPr b="1" lang="en" sz="935">
                <a:solidFill>
                  <a:srgbClr val="CCCCCC"/>
                </a:solidFill>
                <a:highlight>
                  <a:srgbClr val="1F1F1F"/>
                </a:highlight>
                <a:latin typeface="Courier New"/>
                <a:ea typeface="Courier New"/>
                <a:cs typeface="Courier New"/>
                <a:sym typeface="Courier New"/>
              </a:rPr>
              <a:t>(</a:t>
            </a:r>
            <a:r>
              <a:rPr b="1" lang="en" sz="935">
                <a:solidFill>
                  <a:srgbClr val="CE9178"/>
                </a:solidFill>
                <a:highlight>
                  <a:srgbClr val="1F1F1F"/>
                </a:highlight>
                <a:latin typeface="Courier New"/>
                <a:ea typeface="Courier New"/>
                <a:cs typeface="Courier New"/>
                <a:sym typeface="Courier New"/>
              </a:rPr>
              <a:t>"</a:t>
            </a:r>
            <a:r>
              <a:rPr b="1" lang="en" sz="935">
                <a:solidFill>
                  <a:srgbClr val="D7BA7D"/>
                </a:solidFill>
                <a:highlight>
                  <a:srgbClr val="1F1F1F"/>
                </a:highlight>
                <a:latin typeface="Courier New"/>
                <a:ea typeface="Courier New"/>
                <a:cs typeface="Courier New"/>
                <a:sym typeface="Courier New"/>
              </a:rPr>
              <a:t>\\</a:t>
            </a:r>
            <a:r>
              <a:rPr b="1" lang="en" sz="935">
                <a:solidFill>
                  <a:srgbClr val="CE9178"/>
                </a:solidFill>
                <a:highlight>
                  <a:srgbClr val="1F1F1F"/>
                </a:highlight>
                <a:latin typeface="Courier New"/>
                <a:ea typeface="Courier New"/>
                <a:cs typeface="Courier New"/>
                <a:sym typeface="Courier New"/>
              </a:rPr>
              <a:t>"</a:t>
            </a:r>
            <a:r>
              <a:rPr b="1" lang="en" sz="935">
                <a:solidFill>
                  <a:srgbClr val="CCCCCC"/>
                </a:solidFill>
                <a:highlight>
                  <a:srgbClr val="1F1F1F"/>
                </a:highlight>
                <a:latin typeface="Courier New"/>
                <a:ea typeface="Courier New"/>
                <a:cs typeface="Courier New"/>
                <a:sym typeface="Courier New"/>
              </a:rPr>
              <a:t>)[</a:t>
            </a:r>
            <a:r>
              <a:rPr b="1" lang="en" sz="935">
                <a:solidFill>
                  <a:srgbClr val="D4D4D4"/>
                </a:solidFill>
                <a:highlight>
                  <a:srgbClr val="1F1F1F"/>
                </a:highlight>
                <a:latin typeface="Courier New"/>
                <a:ea typeface="Courier New"/>
                <a:cs typeface="Courier New"/>
                <a:sym typeface="Courier New"/>
              </a:rPr>
              <a:t>-</a:t>
            </a:r>
            <a:r>
              <a:rPr b="1" lang="en" sz="935">
                <a:solidFill>
                  <a:srgbClr val="B5CEA8"/>
                </a:solidFill>
                <a:highlight>
                  <a:srgbClr val="1F1F1F"/>
                </a:highlight>
                <a:latin typeface="Courier New"/>
                <a:ea typeface="Courier New"/>
                <a:cs typeface="Courier New"/>
                <a:sym typeface="Courier New"/>
              </a:rPr>
              <a:t>2</a:t>
            </a:r>
            <a:r>
              <a:rPr b="1" lang="en" sz="935">
                <a:solidFill>
                  <a:srgbClr val="CCCCCC"/>
                </a:solidFill>
                <a:highlight>
                  <a:srgbClr val="1F1F1F"/>
                </a:highlight>
                <a:latin typeface="Courier New"/>
                <a:ea typeface="Courier New"/>
                <a:cs typeface="Courier New"/>
                <a:sym typeface="Courier New"/>
              </a:rPr>
              <a:t>]</a:t>
            </a:r>
            <a:endParaRPr b="1" sz="935">
              <a:solidFill>
                <a:srgbClr val="CCCCCC"/>
              </a:solidFill>
              <a:highlight>
                <a:srgbClr val="1F1F1F"/>
              </a:highlight>
              <a:latin typeface="Courier New"/>
              <a:ea typeface="Courier New"/>
              <a:cs typeface="Courier New"/>
              <a:sym typeface="Courier New"/>
            </a:endParaRPr>
          </a:p>
          <a:p>
            <a:pPr indent="0" lvl="0" marL="0" rtl="0" algn="l">
              <a:lnSpc>
                <a:spcPct val="115714"/>
              </a:lnSpc>
              <a:spcBef>
                <a:spcPts val="0"/>
              </a:spcBef>
              <a:spcAft>
                <a:spcPts val="0"/>
              </a:spcAft>
              <a:buSzPts val="770"/>
              <a:buNone/>
            </a:pPr>
            <a:r>
              <a:rPr b="1" lang="en" sz="935">
                <a:solidFill>
                  <a:srgbClr val="CCCCCC"/>
                </a:solidFill>
                <a:highlight>
                  <a:srgbClr val="1F1F1F"/>
                </a:highlight>
                <a:latin typeface="Courier New"/>
                <a:ea typeface="Courier New"/>
                <a:cs typeface="Courier New"/>
                <a:sym typeface="Courier New"/>
              </a:rPr>
              <a:t>    </a:t>
            </a:r>
            <a:r>
              <a:rPr b="1" lang="en" sz="935">
                <a:solidFill>
                  <a:srgbClr val="9CDCFE"/>
                </a:solidFill>
                <a:highlight>
                  <a:srgbClr val="1F1F1F"/>
                </a:highlight>
                <a:latin typeface="Courier New"/>
                <a:ea typeface="Courier New"/>
                <a:cs typeface="Courier New"/>
                <a:sym typeface="Courier New"/>
              </a:rPr>
              <a:t>df</a:t>
            </a:r>
            <a:r>
              <a:rPr b="1" lang="en" sz="935">
                <a:solidFill>
                  <a:srgbClr val="CCCCCC"/>
                </a:solidFill>
                <a:highlight>
                  <a:srgbClr val="1F1F1F"/>
                </a:highlight>
                <a:latin typeface="Courier New"/>
                <a:ea typeface="Courier New"/>
                <a:cs typeface="Courier New"/>
                <a:sym typeface="Courier New"/>
              </a:rPr>
              <a:t> </a:t>
            </a:r>
            <a:r>
              <a:rPr b="1" lang="en" sz="935">
                <a:solidFill>
                  <a:srgbClr val="D4D4D4"/>
                </a:solidFill>
                <a:highlight>
                  <a:srgbClr val="1F1F1F"/>
                </a:highlight>
                <a:latin typeface="Courier New"/>
                <a:ea typeface="Courier New"/>
                <a:cs typeface="Courier New"/>
                <a:sym typeface="Courier New"/>
              </a:rPr>
              <a:t>=</a:t>
            </a:r>
            <a:r>
              <a:rPr b="1" lang="en" sz="935">
                <a:solidFill>
                  <a:srgbClr val="CCCCCC"/>
                </a:solidFill>
                <a:highlight>
                  <a:srgbClr val="1F1F1F"/>
                </a:highlight>
                <a:latin typeface="Courier New"/>
                <a:ea typeface="Courier New"/>
                <a:cs typeface="Courier New"/>
                <a:sym typeface="Courier New"/>
              </a:rPr>
              <a:t> </a:t>
            </a:r>
            <a:r>
              <a:rPr b="1" lang="en" sz="935">
                <a:solidFill>
                  <a:srgbClr val="4EC9B0"/>
                </a:solidFill>
                <a:highlight>
                  <a:srgbClr val="1F1F1F"/>
                </a:highlight>
                <a:latin typeface="Courier New"/>
                <a:ea typeface="Courier New"/>
                <a:cs typeface="Courier New"/>
                <a:sym typeface="Courier New"/>
              </a:rPr>
              <a:t>pd</a:t>
            </a:r>
            <a:r>
              <a:rPr b="1" lang="en" sz="935">
                <a:solidFill>
                  <a:srgbClr val="CCCCCC"/>
                </a:solidFill>
                <a:highlight>
                  <a:srgbClr val="1F1F1F"/>
                </a:highlight>
                <a:latin typeface="Courier New"/>
                <a:ea typeface="Courier New"/>
                <a:cs typeface="Courier New"/>
                <a:sym typeface="Courier New"/>
              </a:rPr>
              <a:t>.</a:t>
            </a:r>
            <a:r>
              <a:rPr b="1" lang="en" sz="935">
                <a:solidFill>
                  <a:srgbClr val="DCDCAA"/>
                </a:solidFill>
                <a:highlight>
                  <a:srgbClr val="1F1F1F"/>
                </a:highlight>
                <a:latin typeface="Courier New"/>
                <a:ea typeface="Courier New"/>
                <a:cs typeface="Courier New"/>
                <a:sym typeface="Courier New"/>
              </a:rPr>
              <a:t>read_csv</a:t>
            </a:r>
            <a:r>
              <a:rPr b="1" lang="en" sz="935">
                <a:solidFill>
                  <a:srgbClr val="CCCCCC"/>
                </a:solidFill>
                <a:highlight>
                  <a:srgbClr val="1F1F1F"/>
                </a:highlight>
                <a:latin typeface="Courier New"/>
                <a:ea typeface="Courier New"/>
                <a:cs typeface="Courier New"/>
                <a:sym typeface="Courier New"/>
              </a:rPr>
              <a:t>(</a:t>
            </a:r>
            <a:r>
              <a:rPr b="1" lang="en" sz="935">
                <a:solidFill>
                  <a:srgbClr val="9CDCFE"/>
                </a:solidFill>
                <a:highlight>
                  <a:srgbClr val="1F1F1F"/>
                </a:highlight>
                <a:latin typeface="Courier New"/>
                <a:ea typeface="Courier New"/>
                <a:cs typeface="Courier New"/>
                <a:sym typeface="Courier New"/>
              </a:rPr>
              <a:t>csv_file</a:t>
            </a:r>
            <a:r>
              <a:rPr b="1" lang="en" sz="935">
                <a:solidFill>
                  <a:srgbClr val="CCCCCC"/>
                </a:solidFill>
                <a:highlight>
                  <a:srgbClr val="1F1F1F"/>
                </a:highlight>
                <a:latin typeface="Courier New"/>
                <a:ea typeface="Courier New"/>
                <a:cs typeface="Courier New"/>
                <a:sym typeface="Courier New"/>
              </a:rPr>
              <a:t>, </a:t>
            </a:r>
            <a:r>
              <a:rPr b="1" lang="en" sz="935">
                <a:solidFill>
                  <a:srgbClr val="9CDCFE"/>
                </a:solidFill>
                <a:highlight>
                  <a:srgbClr val="1F1F1F"/>
                </a:highlight>
                <a:latin typeface="Courier New"/>
                <a:ea typeface="Courier New"/>
                <a:cs typeface="Courier New"/>
                <a:sym typeface="Courier New"/>
              </a:rPr>
              <a:t>low_memory</a:t>
            </a:r>
            <a:r>
              <a:rPr b="1" lang="en" sz="935">
                <a:solidFill>
                  <a:srgbClr val="D4D4D4"/>
                </a:solidFill>
                <a:highlight>
                  <a:srgbClr val="1F1F1F"/>
                </a:highlight>
                <a:latin typeface="Courier New"/>
                <a:ea typeface="Courier New"/>
                <a:cs typeface="Courier New"/>
                <a:sym typeface="Courier New"/>
              </a:rPr>
              <a:t>=</a:t>
            </a:r>
            <a:r>
              <a:rPr b="1" lang="en" sz="935">
                <a:solidFill>
                  <a:srgbClr val="569CD6"/>
                </a:solidFill>
                <a:highlight>
                  <a:srgbClr val="1F1F1F"/>
                </a:highlight>
                <a:latin typeface="Courier New"/>
                <a:ea typeface="Courier New"/>
                <a:cs typeface="Courier New"/>
                <a:sym typeface="Courier New"/>
              </a:rPr>
              <a:t>False</a:t>
            </a:r>
            <a:r>
              <a:rPr b="1" lang="en" sz="935">
                <a:solidFill>
                  <a:srgbClr val="CCCCCC"/>
                </a:solidFill>
                <a:highlight>
                  <a:srgbClr val="1F1F1F"/>
                </a:highlight>
                <a:latin typeface="Courier New"/>
                <a:ea typeface="Courier New"/>
                <a:cs typeface="Courier New"/>
                <a:sym typeface="Courier New"/>
              </a:rPr>
              <a:t>)</a:t>
            </a:r>
            <a:endParaRPr b="1" sz="935">
              <a:solidFill>
                <a:srgbClr val="CCCCCC"/>
              </a:solidFill>
              <a:highlight>
                <a:srgbClr val="1F1F1F"/>
              </a:highlight>
              <a:latin typeface="Courier New"/>
              <a:ea typeface="Courier New"/>
              <a:cs typeface="Courier New"/>
              <a:sym typeface="Courier New"/>
            </a:endParaRPr>
          </a:p>
          <a:p>
            <a:pPr indent="0" lvl="0" marL="0" rtl="0" algn="l">
              <a:lnSpc>
                <a:spcPct val="115714"/>
              </a:lnSpc>
              <a:spcBef>
                <a:spcPts val="0"/>
              </a:spcBef>
              <a:spcAft>
                <a:spcPts val="0"/>
              </a:spcAft>
              <a:buSzPts val="770"/>
              <a:buNone/>
            </a:pPr>
            <a:r>
              <a:rPr b="1" lang="en" sz="935">
                <a:solidFill>
                  <a:srgbClr val="CCCCCC"/>
                </a:solidFill>
                <a:highlight>
                  <a:srgbClr val="1F1F1F"/>
                </a:highlight>
                <a:latin typeface="Courier New"/>
                <a:ea typeface="Courier New"/>
                <a:cs typeface="Courier New"/>
                <a:sym typeface="Courier New"/>
              </a:rPr>
              <a:t>    </a:t>
            </a:r>
            <a:r>
              <a:rPr b="1" lang="en" sz="935">
                <a:solidFill>
                  <a:srgbClr val="9CDCFE"/>
                </a:solidFill>
                <a:highlight>
                  <a:srgbClr val="1F1F1F"/>
                </a:highlight>
                <a:latin typeface="Courier New"/>
                <a:ea typeface="Courier New"/>
                <a:cs typeface="Courier New"/>
                <a:sym typeface="Courier New"/>
              </a:rPr>
              <a:t>df</a:t>
            </a:r>
            <a:r>
              <a:rPr b="1" lang="en" sz="935">
                <a:solidFill>
                  <a:srgbClr val="CCCCCC"/>
                </a:solidFill>
                <a:highlight>
                  <a:srgbClr val="1F1F1F"/>
                </a:highlight>
                <a:latin typeface="Courier New"/>
                <a:ea typeface="Courier New"/>
                <a:cs typeface="Courier New"/>
                <a:sym typeface="Courier New"/>
              </a:rPr>
              <a:t>.</a:t>
            </a:r>
            <a:r>
              <a:rPr b="1" lang="en" sz="935">
                <a:solidFill>
                  <a:srgbClr val="DCDCAA"/>
                </a:solidFill>
                <a:highlight>
                  <a:srgbClr val="1F1F1F"/>
                </a:highlight>
                <a:latin typeface="Courier New"/>
                <a:ea typeface="Courier New"/>
                <a:cs typeface="Courier New"/>
                <a:sym typeface="Courier New"/>
              </a:rPr>
              <a:t>to_sql</a:t>
            </a:r>
            <a:r>
              <a:rPr b="1" lang="en" sz="935">
                <a:solidFill>
                  <a:srgbClr val="CCCCCC"/>
                </a:solidFill>
                <a:highlight>
                  <a:srgbClr val="1F1F1F"/>
                </a:highlight>
                <a:latin typeface="Courier New"/>
                <a:ea typeface="Courier New"/>
                <a:cs typeface="Courier New"/>
                <a:sym typeface="Courier New"/>
              </a:rPr>
              <a:t>(</a:t>
            </a:r>
            <a:r>
              <a:rPr b="1" lang="en" sz="935">
                <a:solidFill>
                  <a:srgbClr val="9CDCFE"/>
                </a:solidFill>
                <a:highlight>
                  <a:srgbClr val="1F1F1F"/>
                </a:highlight>
                <a:latin typeface="Courier New"/>
                <a:ea typeface="Courier New"/>
                <a:cs typeface="Courier New"/>
                <a:sym typeface="Courier New"/>
              </a:rPr>
              <a:t>table_name</a:t>
            </a:r>
            <a:r>
              <a:rPr b="1" lang="en" sz="935">
                <a:solidFill>
                  <a:srgbClr val="CCCCCC"/>
                </a:solidFill>
                <a:highlight>
                  <a:srgbClr val="1F1F1F"/>
                </a:highlight>
                <a:latin typeface="Courier New"/>
                <a:ea typeface="Courier New"/>
                <a:cs typeface="Courier New"/>
                <a:sym typeface="Courier New"/>
              </a:rPr>
              <a:t>, </a:t>
            </a:r>
            <a:r>
              <a:rPr b="1" lang="en" sz="935">
                <a:solidFill>
                  <a:srgbClr val="9CDCFE"/>
                </a:solidFill>
                <a:highlight>
                  <a:srgbClr val="1F1F1F"/>
                </a:highlight>
                <a:latin typeface="Courier New"/>
                <a:ea typeface="Courier New"/>
                <a:cs typeface="Courier New"/>
                <a:sym typeface="Courier New"/>
              </a:rPr>
              <a:t>conn</a:t>
            </a:r>
            <a:r>
              <a:rPr b="1" lang="en" sz="935">
                <a:solidFill>
                  <a:srgbClr val="CCCCCC"/>
                </a:solidFill>
                <a:highlight>
                  <a:srgbClr val="1F1F1F"/>
                </a:highlight>
                <a:latin typeface="Courier New"/>
                <a:ea typeface="Courier New"/>
                <a:cs typeface="Courier New"/>
                <a:sym typeface="Courier New"/>
              </a:rPr>
              <a:t>, </a:t>
            </a:r>
            <a:r>
              <a:rPr b="1" lang="en" sz="935">
                <a:solidFill>
                  <a:srgbClr val="9CDCFE"/>
                </a:solidFill>
                <a:highlight>
                  <a:srgbClr val="1F1F1F"/>
                </a:highlight>
                <a:latin typeface="Courier New"/>
                <a:ea typeface="Courier New"/>
                <a:cs typeface="Courier New"/>
                <a:sym typeface="Courier New"/>
              </a:rPr>
              <a:t>if_exists</a:t>
            </a:r>
            <a:r>
              <a:rPr b="1" lang="en" sz="935">
                <a:solidFill>
                  <a:srgbClr val="D4D4D4"/>
                </a:solidFill>
                <a:highlight>
                  <a:srgbClr val="1F1F1F"/>
                </a:highlight>
                <a:latin typeface="Courier New"/>
                <a:ea typeface="Courier New"/>
                <a:cs typeface="Courier New"/>
                <a:sym typeface="Courier New"/>
              </a:rPr>
              <a:t>=</a:t>
            </a:r>
            <a:r>
              <a:rPr b="1" lang="en" sz="935">
                <a:solidFill>
                  <a:srgbClr val="CE9178"/>
                </a:solidFill>
                <a:highlight>
                  <a:srgbClr val="1F1F1F"/>
                </a:highlight>
                <a:latin typeface="Courier New"/>
                <a:ea typeface="Courier New"/>
                <a:cs typeface="Courier New"/>
                <a:sym typeface="Courier New"/>
              </a:rPr>
              <a:t>"replace"</a:t>
            </a:r>
            <a:r>
              <a:rPr b="1" lang="en" sz="935">
                <a:solidFill>
                  <a:srgbClr val="CCCCCC"/>
                </a:solidFill>
                <a:highlight>
                  <a:srgbClr val="1F1F1F"/>
                </a:highlight>
                <a:latin typeface="Courier New"/>
                <a:ea typeface="Courier New"/>
                <a:cs typeface="Courier New"/>
                <a:sym typeface="Courier New"/>
              </a:rPr>
              <a:t>, </a:t>
            </a:r>
            <a:r>
              <a:rPr b="1" lang="en" sz="935">
                <a:solidFill>
                  <a:srgbClr val="9CDCFE"/>
                </a:solidFill>
                <a:highlight>
                  <a:srgbClr val="1F1F1F"/>
                </a:highlight>
                <a:latin typeface="Courier New"/>
                <a:ea typeface="Courier New"/>
                <a:cs typeface="Courier New"/>
                <a:sym typeface="Courier New"/>
              </a:rPr>
              <a:t>index</a:t>
            </a:r>
            <a:r>
              <a:rPr b="1" lang="en" sz="935">
                <a:solidFill>
                  <a:srgbClr val="D4D4D4"/>
                </a:solidFill>
                <a:highlight>
                  <a:srgbClr val="1F1F1F"/>
                </a:highlight>
                <a:latin typeface="Courier New"/>
                <a:ea typeface="Courier New"/>
                <a:cs typeface="Courier New"/>
                <a:sym typeface="Courier New"/>
              </a:rPr>
              <a:t>=</a:t>
            </a:r>
            <a:r>
              <a:rPr b="1" lang="en" sz="935">
                <a:solidFill>
                  <a:srgbClr val="569CD6"/>
                </a:solidFill>
                <a:highlight>
                  <a:srgbClr val="1F1F1F"/>
                </a:highlight>
                <a:latin typeface="Courier New"/>
                <a:ea typeface="Courier New"/>
                <a:cs typeface="Courier New"/>
                <a:sym typeface="Courier New"/>
              </a:rPr>
              <a:t>False</a:t>
            </a:r>
            <a:r>
              <a:rPr b="1" lang="en" sz="935">
                <a:solidFill>
                  <a:srgbClr val="CCCCCC"/>
                </a:solidFill>
                <a:highlight>
                  <a:srgbClr val="1F1F1F"/>
                </a:highlight>
                <a:latin typeface="Courier New"/>
                <a:ea typeface="Courier New"/>
                <a:cs typeface="Courier New"/>
                <a:sym typeface="Courier New"/>
              </a:rPr>
              <a:t>)</a:t>
            </a:r>
            <a:endParaRPr b="1" sz="935">
              <a:solidFill>
                <a:srgbClr val="CCCCCC"/>
              </a:solidFill>
              <a:highlight>
                <a:srgbClr val="1F1F1F"/>
              </a:highlight>
              <a:latin typeface="Courier New"/>
              <a:ea typeface="Courier New"/>
              <a:cs typeface="Courier New"/>
              <a:sym typeface="Courier New"/>
            </a:endParaRPr>
          </a:p>
          <a:p>
            <a:pPr indent="0" lvl="0" marL="0" rtl="0" algn="l">
              <a:lnSpc>
                <a:spcPct val="115714"/>
              </a:lnSpc>
              <a:spcBef>
                <a:spcPts val="0"/>
              </a:spcBef>
              <a:spcAft>
                <a:spcPts val="0"/>
              </a:spcAft>
              <a:buSzPts val="770"/>
              <a:buNone/>
            </a:pPr>
            <a:r>
              <a:t/>
            </a:r>
            <a:endParaRPr b="1" sz="935">
              <a:solidFill>
                <a:srgbClr val="CCCCCC"/>
              </a:solidFill>
              <a:highlight>
                <a:srgbClr val="1F1F1F"/>
              </a:highlight>
              <a:latin typeface="Courier New"/>
              <a:ea typeface="Courier New"/>
              <a:cs typeface="Courier New"/>
              <a:sym typeface="Courier New"/>
            </a:endParaRPr>
          </a:p>
          <a:p>
            <a:pPr indent="0" lvl="0" marL="0" rtl="0" algn="l">
              <a:lnSpc>
                <a:spcPct val="115714"/>
              </a:lnSpc>
              <a:spcBef>
                <a:spcPts val="0"/>
              </a:spcBef>
              <a:spcAft>
                <a:spcPts val="0"/>
              </a:spcAft>
              <a:buSzPts val="770"/>
              <a:buNone/>
            </a:pPr>
            <a:r>
              <a:rPr b="1" lang="en" sz="935">
                <a:solidFill>
                  <a:srgbClr val="9CDCFE"/>
                </a:solidFill>
                <a:highlight>
                  <a:srgbClr val="1F1F1F"/>
                </a:highlight>
                <a:latin typeface="Courier New"/>
                <a:ea typeface="Courier New"/>
                <a:cs typeface="Courier New"/>
                <a:sym typeface="Courier New"/>
              </a:rPr>
              <a:t>conn</a:t>
            </a:r>
            <a:r>
              <a:rPr b="1" lang="en" sz="935">
                <a:solidFill>
                  <a:srgbClr val="CCCCCC"/>
                </a:solidFill>
                <a:highlight>
                  <a:srgbClr val="1F1F1F"/>
                </a:highlight>
                <a:latin typeface="Courier New"/>
                <a:ea typeface="Courier New"/>
                <a:cs typeface="Courier New"/>
                <a:sym typeface="Courier New"/>
              </a:rPr>
              <a:t>.</a:t>
            </a:r>
            <a:r>
              <a:rPr b="1" lang="en" sz="935">
                <a:solidFill>
                  <a:srgbClr val="DCDCAA"/>
                </a:solidFill>
                <a:highlight>
                  <a:srgbClr val="1F1F1F"/>
                </a:highlight>
                <a:latin typeface="Courier New"/>
                <a:ea typeface="Courier New"/>
                <a:cs typeface="Courier New"/>
                <a:sym typeface="Courier New"/>
              </a:rPr>
              <a:t>close</a:t>
            </a:r>
            <a:r>
              <a:rPr b="1" lang="en" sz="935">
                <a:solidFill>
                  <a:srgbClr val="CCCCCC"/>
                </a:solidFill>
                <a:highlight>
                  <a:srgbClr val="1F1F1F"/>
                </a:highlight>
                <a:latin typeface="Courier New"/>
                <a:ea typeface="Courier New"/>
                <a:cs typeface="Courier New"/>
                <a:sym typeface="Courier New"/>
              </a:rPr>
              <a:t>()</a:t>
            </a:r>
            <a:endParaRPr b="1" sz="935">
              <a:solidFill>
                <a:srgbClr val="CCCCCC"/>
              </a:solidFill>
              <a:highlight>
                <a:srgbClr val="1F1F1F"/>
              </a:highlight>
              <a:latin typeface="Courier New"/>
              <a:ea typeface="Courier New"/>
              <a:cs typeface="Courier New"/>
              <a:sym typeface="Courier New"/>
            </a:endParaRPr>
          </a:p>
          <a:p>
            <a:pPr indent="0" lvl="0" marL="0" rtl="0" algn="l">
              <a:lnSpc>
                <a:spcPct val="95000"/>
              </a:lnSpc>
              <a:spcBef>
                <a:spcPts val="0"/>
              </a:spcBef>
              <a:spcAft>
                <a:spcPts val="1200"/>
              </a:spcAft>
              <a:buSzPts val="770"/>
              <a:buNone/>
            </a:pPr>
            <a:r>
              <a:t/>
            </a:r>
            <a:endParaRPr sz="910"/>
          </a:p>
        </p:txBody>
      </p:sp>
      <p:sp>
        <p:nvSpPr>
          <p:cNvPr id="296" name="Google Shape;296;p4"/>
          <p:cNvSpPr txBox="1"/>
          <p:nvPr/>
        </p:nvSpPr>
        <p:spPr>
          <a:xfrm>
            <a:off x="3987500" y="1297300"/>
            <a:ext cx="1894800" cy="788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chemeClr val="dk2"/>
                </a:solidFill>
                <a:latin typeface="Courier New"/>
                <a:ea typeface="Courier New"/>
                <a:cs typeface="Courier New"/>
                <a:sym typeface="Courier New"/>
              </a:rPr>
              <a:t>glob</a:t>
            </a:r>
            <a:r>
              <a:rPr b="0" i="0" lang="en" sz="1300" u="none" cap="none" strike="noStrike">
                <a:solidFill>
                  <a:schemeClr val="dk2"/>
                </a:solidFill>
                <a:latin typeface="Nunito"/>
                <a:ea typeface="Nunito"/>
                <a:cs typeface="Nunito"/>
                <a:sym typeface="Nunito"/>
              </a:rPr>
              <a:t>: built-in Python module that finds files matching a pattern</a:t>
            </a:r>
            <a:endParaRPr b="0" i="0" sz="1300" u="none" cap="none" strike="noStrike">
              <a:solidFill>
                <a:schemeClr val="dk2"/>
              </a:solidFill>
              <a:latin typeface="Nunito"/>
              <a:ea typeface="Nunito"/>
              <a:cs typeface="Nunito"/>
              <a:sym typeface="Nunito"/>
            </a:endParaRPr>
          </a:p>
        </p:txBody>
      </p:sp>
      <p:cxnSp>
        <p:nvCxnSpPr>
          <p:cNvPr id="297" name="Google Shape;297;p4"/>
          <p:cNvCxnSpPr>
            <a:endCxn id="296" idx="1"/>
          </p:cNvCxnSpPr>
          <p:nvPr/>
        </p:nvCxnSpPr>
        <p:spPr>
          <a:xfrm flipH="1" rot="10800000">
            <a:off x="2184200" y="1691650"/>
            <a:ext cx="1803300" cy="402900"/>
          </a:xfrm>
          <a:prstGeom prst="curvedConnector3">
            <a:avLst>
              <a:gd fmla="val 50000" name="adj1"/>
            </a:avLst>
          </a:prstGeom>
          <a:noFill/>
          <a:ln cap="flat" cmpd="sng" w="9525">
            <a:solidFill>
              <a:schemeClr val="dk2"/>
            </a:solidFill>
            <a:prstDash val="solid"/>
            <a:round/>
            <a:headEnd len="sm" w="sm" type="none"/>
            <a:tailEnd len="sm" w="sm" type="none"/>
          </a:ln>
        </p:spPr>
      </p:cxnSp>
      <p:cxnSp>
        <p:nvCxnSpPr>
          <p:cNvPr id="298" name="Google Shape;298;p4"/>
          <p:cNvCxnSpPr>
            <a:endCxn id="296" idx="3"/>
          </p:cNvCxnSpPr>
          <p:nvPr/>
        </p:nvCxnSpPr>
        <p:spPr>
          <a:xfrm flipH="1" rot="10800000">
            <a:off x="2691200" y="1691650"/>
            <a:ext cx="3191100" cy="1601100"/>
          </a:xfrm>
          <a:prstGeom prst="curvedConnector3">
            <a:avLst>
              <a:gd fmla="val 121316" name="adj1"/>
            </a:avLst>
          </a:prstGeom>
          <a:noFill/>
          <a:ln cap="flat" cmpd="sng" w="9525">
            <a:solidFill>
              <a:schemeClr val="dk2"/>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Data Cleaning - Python</a:t>
            </a:r>
            <a:endParaRPr/>
          </a:p>
        </p:txBody>
      </p:sp>
      <p:sp>
        <p:nvSpPr>
          <p:cNvPr id="304" name="Google Shape;304;p5"/>
          <p:cNvSpPr txBox="1"/>
          <p:nvPr>
            <p:ph idx="1" type="body"/>
          </p:nvPr>
        </p:nvSpPr>
        <p:spPr>
          <a:xfrm>
            <a:off x="2663075" y="1517400"/>
            <a:ext cx="5727300" cy="24345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35714"/>
              </a:lnSpc>
              <a:spcBef>
                <a:spcPts val="0"/>
              </a:spcBef>
              <a:spcAft>
                <a:spcPts val="0"/>
              </a:spcAft>
              <a:buSzPct val="176870"/>
              <a:buNone/>
            </a:pPr>
            <a:r>
              <a:rPr b="1" lang="en" sz="1050">
                <a:solidFill>
                  <a:srgbClr val="9CDCFE"/>
                </a:solidFill>
                <a:highlight>
                  <a:srgbClr val="1F1F1F"/>
                </a:highlight>
                <a:latin typeface="Courier New"/>
                <a:ea typeface="Courier New"/>
                <a:cs typeface="Courier New"/>
                <a:sym typeface="Courier New"/>
              </a:rPr>
              <a:t>df_latest_market_value</a:t>
            </a:r>
            <a:r>
              <a:rPr b="1" lang="en" sz="1050">
                <a:solidFill>
                  <a:srgbClr val="CCCCCC"/>
                </a:solidFill>
                <a:highlight>
                  <a:srgbClr val="1F1F1F"/>
                </a:highlight>
                <a:latin typeface="Courier New"/>
                <a:ea typeface="Courier New"/>
                <a:cs typeface="Courier New"/>
                <a:sym typeface="Courier New"/>
              </a:rPr>
              <a:t> </a:t>
            </a:r>
            <a:r>
              <a:rPr b="1" lang="en" sz="1050">
                <a:solidFill>
                  <a:srgbClr val="D4D4D4"/>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4EC9B0"/>
                </a:solidFill>
                <a:highlight>
                  <a:srgbClr val="1F1F1F"/>
                </a:highlight>
                <a:latin typeface="Courier New"/>
                <a:ea typeface="Courier New"/>
                <a:cs typeface="Courier New"/>
                <a:sym typeface="Courier New"/>
              </a:rPr>
              <a:t>pd</a:t>
            </a:r>
            <a:r>
              <a:rPr b="1" lang="en" sz="1050">
                <a:solidFill>
                  <a:srgbClr val="CCCCCC"/>
                </a:solidFill>
                <a:highlight>
                  <a:srgbClr val="1F1F1F"/>
                </a:highlight>
                <a:latin typeface="Courier New"/>
                <a:ea typeface="Courier New"/>
                <a:cs typeface="Courier New"/>
                <a:sym typeface="Courier New"/>
              </a:rPr>
              <a:t>.</a:t>
            </a:r>
            <a:r>
              <a:rPr b="1" lang="en" sz="1050">
                <a:solidFill>
                  <a:srgbClr val="DCDCAA"/>
                </a:solidFill>
                <a:highlight>
                  <a:srgbClr val="1F1F1F"/>
                </a:highlight>
                <a:latin typeface="Courier New"/>
                <a:ea typeface="Courier New"/>
                <a:cs typeface="Courier New"/>
                <a:sym typeface="Courier New"/>
              </a:rPr>
              <a:t>read_csv</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"player_latest_market_value/player_latest_market_value.csv"</a:t>
            </a:r>
            <a:r>
              <a:rPr b="1" lang="en" sz="1050">
                <a:solidFill>
                  <a:srgbClr val="CCCCCC"/>
                </a:solidFill>
                <a:highlight>
                  <a:srgbClr val="1F1F1F"/>
                </a:highlight>
                <a:latin typeface="Courier New"/>
                <a:ea typeface="Courier New"/>
                <a:cs typeface="Courier New"/>
                <a:sym typeface="Courier New"/>
              </a:rPr>
              <a:t>)</a:t>
            </a:r>
            <a:endParaRPr b="1"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ct val="176870"/>
              <a:buNone/>
            </a:pPr>
            <a:r>
              <a:rPr b="1" lang="en" sz="1050">
                <a:solidFill>
                  <a:srgbClr val="9CDCFE"/>
                </a:solidFill>
                <a:highlight>
                  <a:srgbClr val="1F1F1F"/>
                </a:highlight>
                <a:latin typeface="Courier New"/>
                <a:ea typeface="Courier New"/>
                <a:cs typeface="Courier New"/>
                <a:sym typeface="Courier New"/>
              </a:rPr>
              <a:t>df_player_profiles</a:t>
            </a:r>
            <a:r>
              <a:rPr b="1" lang="en" sz="1050">
                <a:solidFill>
                  <a:srgbClr val="D4D4D4"/>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4EC9B0"/>
                </a:solidFill>
                <a:highlight>
                  <a:srgbClr val="1F1F1F"/>
                </a:highlight>
                <a:latin typeface="Courier New"/>
                <a:ea typeface="Courier New"/>
                <a:cs typeface="Courier New"/>
                <a:sym typeface="Courier New"/>
              </a:rPr>
              <a:t>pd</a:t>
            </a:r>
            <a:r>
              <a:rPr b="1" lang="en" sz="1050">
                <a:solidFill>
                  <a:srgbClr val="CCCCCC"/>
                </a:solidFill>
                <a:highlight>
                  <a:srgbClr val="1F1F1F"/>
                </a:highlight>
                <a:latin typeface="Courier New"/>
                <a:ea typeface="Courier New"/>
                <a:cs typeface="Courier New"/>
                <a:sym typeface="Courier New"/>
              </a:rPr>
              <a:t>.</a:t>
            </a:r>
            <a:r>
              <a:rPr b="1" lang="en" sz="1050">
                <a:solidFill>
                  <a:srgbClr val="DCDCAA"/>
                </a:solidFill>
                <a:highlight>
                  <a:srgbClr val="1F1F1F"/>
                </a:highlight>
                <a:latin typeface="Courier New"/>
                <a:ea typeface="Courier New"/>
                <a:cs typeface="Courier New"/>
                <a:sym typeface="Courier New"/>
              </a:rPr>
              <a:t>read_csv</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"player_profiles/player_profiles.csv"</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low_memory</a:t>
            </a:r>
            <a:r>
              <a:rPr b="1" lang="en" sz="1050">
                <a:solidFill>
                  <a:srgbClr val="D4D4D4"/>
                </a:solidFill>
                <a:highlight>
                  <a:srgbClr val="1F1F1F"/>
                </a:highlight>
                <a:latin typeface="Courier New"/>
                <a:ea typeface="Courier New"/>
                <a:cs typeface="Courier New"/>
                <a:sym typeface="Courier New"/>
              </a:rPr>
              <a:t>=</a:t>
            </a:r>
            <a:r>
              <a:rPr b="1" lang="en" sz="1050">
                <a:solidFill>
                  <a:srgbClr val="569CD6"/>
                </a:solidFill>
                <a:highlight>
                  <a:srgbClr val="1F1F1F"/>
                </a:highlight>
                <a:latin typeface="Courier New"/>
                <a:ea typeface="Courier New"/>
                <a:cs typeface="Courier New"/>
                <a:sym typeface="Courier New"/>
              </a:rPr>
              <a:t>False</a:t>
            </a:r>
            <a:r>
              <a:rPr b="1" lang="en" sz="1050">
                <a:solidFill>
                  <a:srgbClr val="CCCCCC"/>
                </a:solidFill>
                <a:highlight>
                  <a:srgbClr val="1F1F1F"/>
                </a:highlight>
                <a:latin typeface="Courier New"/>
                <a:ea typeface="Courier New"/>
                <a:cs typeface="Courier New"/>
                <a:sym typeface="Courier New"/>
              </a:rPr>
              <a:t>)</a:t>
            </a:r>
            <a:endParaRPr b="1"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ct val="176870"/>
              <a:buNone/>
            </a:pPr>
            <a:r>
              <a:rPr b="1" lang="en" sz="1050">
                <a:solidFill>
                  <a:srgbClr val="9CDCFE"/>
                </a:solidFill>
                <a:highlight>
                  <a:srgbClr val="1F1F1F"/>
                </a:highlight>
                <a:latin typeface="Courier New"/>
                <a:ea typeface="Courier New"/>
                <a:cs typeface="Courier New"/>
                <a:sym typeface="Courier New"/>
              </a:rPr>
              <a:t>df_mv_hist</a:t>
            </a:r>
            <a:r>
              <a:rPr b="1" lang="en" sz="1050">
                <a:solidFill>
                  <a:srgbClr val="CCCCCC"/>
                </a:solidFill>
                <a:highlight>
                  <a:srgbClr val="1F1F1F"/>
                </a:highlight>
                <a:latin typeface="Courier New"/>
                <a:ea typeface="Courier New"/>
                <a:cs typeface="Courier New"/>
                <a:sym typeface="Courier New"/>
              </a:rPr>
              <a:t> </a:t>
            </a:r>
            <a:r>
              <a:rPr b="1" lang="en" sz="1050">
                <a:solidFill>
                  <a:srgbClr val="D4D4D4"/>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4EC9B0"/>
                </a:solidFill>
                <a:highlight>
                  <a:srgbClr val="1F1F1F"/>
                </a:highlight>
                <a:latin typeface="Courier New"/>
                <a:ea typeface="Courier New"/>
                <a:cs typeface="Courier New"/>
                <a:sym typeface="Courier New"/>
              </a:rPr>
              <a:t>pd</a:t>
            </a:r>
            <a:r>
              <a:rPr b="1" lang="en" sz="1050">
                <a:solidFill>
                  <a:srgbClr val="CCCCCC"/>
                </a:solidFill>
                <a:highlight>
                  <a:srgbClr val="1F1F1F"/>
                </a:highlight>
                <a:latin typeface="Courier New"/>
                <a:ea typeface="Courier New"/>
                <a:cs typeface="Courier New"/>
                <a:sym typeface="Courier New"/>
              </a:rPr>
              <a:t>.</a:t>
            </a:r>
            <a:r>
              <a:rPr b="1" lang="en" sz="1050">
                <a:solidFill>
                  <a:srgbClr val="DCDCAA"/>
                </a:solidFill>
                <a:highlight>
                  <a:srgbClr val="1F1F1F"/>
                </a:highlight>
                <a:latin typeface="Courier New"/>
                <a:ea typeface="Courier New"/>
                <a:cs typeface="Courier New"/>
                <a:sym typeface="Courier New"/>
              </a:rPr>
              <a:t>read_csv</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"player_market_value/player_market_value.csv"</a:t>
            </a:r>
            <a:r>
              <a:rPr b="1" lang="en" sz="1050">
                <a:solidFill>
                  <a:srgbClr val="CCCCCC"/>
                </a:solidFill>
                <a:highlight>
                  <a:srgbClr val="1F1F1F"/>
                </a:highlight>
                <a:latin typeface="Courier New"/>
                <a:ea typeface="Courier New"/>
                <a:cs typeface="Courier New"/>
                <a:sym typeface="Courier New"/>
              </a:rPr>
              <a:t>)</a:t>
            </a:r>
            <a:endParaRPr b="1"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ct val="176870"/>
              <a:buNone/>
            </a:pPr>
            <a:r>
              <a:rPr b="1" lang="en" sz="1050">
                <a:solidFill>
                  <a:srgbClr val="9CDCFE"/>
                </a:solidFill>
                <a:highlight>
                  <a:srgbClr val="1F1F1F"/>
                </a:highlight>
                <a:latin typeface="Courier New"/>
                <a:ea typeface="Courier New"/>
                <a:cs typeface="Courier New"/>
                <a:sym typeface="Courier New"/>
              </a:rPr>
              <a:t>cols</a:t>
            </a:r>
            <a:r>
              <a:rPr b="1" lang="en" sz="1050">
                <a:solidFill>
                  <a:srgbClr val="CCCCCC"/>
                </a:solidFill>
                <a:highlight>
                  <a:srgbClr val="1F1F1F"/>
                </a:highlight>
                <a:latin typeface="Courier New"/>
                <a:ea typeface="Courier New"/>
                <a:cs typeface="Courier New"/>
                <a:sym typeface="Courier New"/>
              </a:rPr>
              <a:t> </a:t>
            </a:r>
            <a:r>
              <a:rPr b="1" lang="en" sz="1050">
                <a:solidFill>
                  <a:srgbClr val="D4D4D4"/>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CE9178"/>
                </a:solidFill>
                <a:highlight>
                  <a:srgbClr val="1F1F1F"/>
                </a:highlight>
                <a:latin typeface="Courier New"/>
                <a:ea typeface="Courier New"/>
                <a:cs typeface="Courier New"/>
                <a:sym typeface="Courier New"/>
              </a:rPr>
              <a:t>'player_id'</a:t>
            </a:r>
            <a:r>
              <a:rPr b="1" lang="en" sz="1050">
                <a:solidFill>
                  <a:srgbClr val="CCCCCC"/>
                </a:solidFill>
                <a:highlight>
                  <a:srgbClr val="1F1F1F"/>
                </a:highlight>
                <a:latin typeface="Courier New"/>
                <a:ea typeface="Courier New"/>
                <a:cs typeface="Courier New"/>
                <a:sym typeface="Courier New"/>
              </a:rPr>
              <a:t>, </a:t>
            </a:r>
            <a:r>
              <a:rPr b="1" lang="en" sz="1050">
                <a:solidFill>
                  <a:srgbClr val="CE9178"/>
                </a:solidFill>
                <a:highlight>
                  <a:srgbClr val="1F1F1F"/>
                </a:highlight>
                <a:latin typeface="Courier New"/>
                <a:ea typeface="Courier New"/>
                <a:cs typeface="Courier New"/>
                <a:sym typeface="Courier New"/>
              </a:rPr>
              <a:t>'position'</a:t>
            </a:r>
            <a:r>
              <a:rPr b="1" lang="en" sz="1050">
                <a:solidFill>
                  <a:srgbClr val="CCCCCC"/>
                </a:solidFill>
                <a:highlight>
                  <a:srgbClr val="1F1F1F"/>
                </a:highlight>
                <a:latin typeface="Courier New"/>
                <a:ea typeface="Courier New"/>
                <a:cs typeface="Courier New"/>
                <a:sym typeface="Courier New"/>
              </a:rPr>
              <a:t>, </a:t>
            </a:r>
            <a:r>
              <a:rPr b="1" lang="en" sz="1050">
                <a:solidFill>
                  <a:srgbClr val="CE9178"/>
                </a:solidFill>
                <a:highlight>
                  <a:srgbClr val="1F1F1F"/>
                </a:highlight>
                <a:latin typeface="Courier New"/>
                <a:ea typeface="Courier New"/>
                <a:cs typeface="Courier New"/>
                <a:sym typeface="Courier New"/>
              </a:rPr>
              <a:t>'main_position'</a:t>
            </a:r>
            <a:r>
              <a:rPr b="1" lang="en" sz="1050">
                <a:solidFill>
                  <a:srgbClr val="CCCCCC"/>
                </a:solidFill>
                <a:highlight>
                  <a:srgbClr val="1F1F1F"/>
                </a:highlight>
                <a:latin typeface="Courier New"/>
                <a:ea typeface="Courier New"/>
                <a:cs typeface="Courier New"/>
                <a:sym typeface="Courier New"/>
              </a:rPr>
              <a:t>, </a:t>
            </a:r>
            <a:r>
              <a:rPr b="1" lang="en" sz="1050">
                <a:solidFill>
                  <a:srgbClr val="CE9178"/>
                </a:solidFill>
                <a:highlight>
                  <a:srgbClr val="1F1F1F"/>
                </a:highlight>
                <a:latin typeface="Courier New"/>
                <a:ea typeface="Courier New"/>
                <a:cs typeface="Courier New"/>
                <a:sym typeface="Courier New"/>
              </a:rPr>
              <a:t>'foot'</a:t>
            </a:r>
            <a:r>
              <a:rPr b="1" lang="en" sz="1050">
                <a:solidFill>
                  <a:srgbClr val="CCCCCC"/>
                </a:solidFill>
                <a:highlight>
                  <a:srgbClr val="1F1F1F"/>
                </a:highlight>
                <a:latin typeface="Courier New"/>
                <a:ea typeface="Courier New"/>
                <a:cs typeface="Courier New"/>
                <a:sym typeface="Courier New"/>
              </a:rPr>
              <a:t>]</a:t>
            </a:r>
            <a:endParaRPr b="1"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ct val="176870"/>
              <a:buNone/>
            </a:pPr>
            <a:r>
              <a:rPr b="1" lang="en" sz="1050">
                <a:solidFill>
                  <a:srgbClr val="9CDCFE"/>
                </a:solidFill>
                <a:highlight>
                  <a:srgbClr val="1F1F1F"/>
                </a:highlight>
                <a:latin typeface="Courier New"/>
                <a:ea typeface="Courier New"/>
                <a:cs typeface="Courier New"/>
                <a:sym typeface="Courier New"/>
              </a:rPr>
              <a:t>df_pp</a:t>
            </a:r>
            <a:r>
              <a:rPr b="1" lang="en" sz="1050">
                <a:solidFill>
                  <a:srgbClr val="CCCCCC"/>
                </a:solidFill>
                <a:highlight>
                  <a:srgbClr val="1F1F1F"/>
                </a:highlight>
                <a:latin typeface="Courier New"/>
                <a:ea typeface="Courier New"/>
                <a:cs typeface="Courier New"/>
                <a:sym typeface="Courier New"/>
              </a:rPr>
              <a:t> </a:t>
            </a:r>
            <a:r>
              <a:rPr b="1" lang="en" sz="1050">
                <a:solidFill>
                  <a:srgbClr val="D4D4D4"/>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df_player_profiles</a:t>
            </a:r>
            <a:r>
              <a:rPr b="1" lang="en" sz="1050">
                <a:solidFill>
                  <a:srgbClr val="CCCCCC"/>
                </a:solidFill>
                <a:highlight>
                  <a:srgbClr val="1F1F1F"/>
                </a:highlight>
                <a:latin typeface="Courier New"/>
                <a:ea typeface="Courier New"/>
                <a:cs typeface="Courier New"/>
                <a:sym typeface="Courier New"/>
              </a:rPr>
              <a:t>[</a:t>
            </a:r>
            <a:r>
              <a:rPr b="1" lang="en" sz="1050">
                <a:solidFill>
                  <a:srgbClr val="9CDCFE"/>
                </a:solidFill>
                <a:highlight>
                  <a:srgbClr val="1F1F1F"/>
                </a:highlight>
                <a:latin typeface="Courier New"/>
                <a:ea typeface="Courier New"/>
                <a:cs typeface="Courier New"/>
                <a:sym typeface="Courier New"/>
              </a:rPr>
              <a:t>cols</a:t>
            </a:r>
            <a:r>
              <a:rPr b="1" lang="en" sz="1050">
                <a:solidFill>
                  <a:srgbClr val="CCCCCC"/>
                </a:solidFill>
                <a:highlight>
                  <a:srgbClr val="1F1F1F"/>
                </a:highlight>
                <a:latin typeface="Courier New"/>
                <a:ea typeface="Courier New"/>
                <a:cs typeface="Courier New"/>
                <a:sym typeface="Courier New"/>
              </a:rPr>
              <a:t>].</a:t>
            </a:r>
            <a:r>
              <a:rPr b="1" lang="en" sz="1050">
                <a:solidFill>
                  <a:srgbClr val="DCDCAA"/>
                </a:solidFill>
                <a:highlight>
                  <a:srgbClr val="1F1F1F"/>
                </a:highlight>
                <a:latin typeface="Courier New"/>
                <a:ea typeface="Courier New"/>
                <a:cs typeface="Courier New"/>
                <a:sym typeface="Courier New"/>
              </a:rPr>
              <a:t>copy</a:t>
            </a:r>
            <a:r>
              <a:rPr b="1" lang="en" sz="1050">
                <a:solidFill>
                  <a:srgbClr val="CCCCCC"/>
                </a:solidFill>
                <a:highlight>
                  <a:srgbClr val="1F1F1F"/>
                </a:highlight>
                <a:latin typeface="Courier New"/>
                <a:ea typeface="Courier New"/>
                <a:cs typeface="Courier New"/>
                <a:sym typeface="Courier New"/>
              </a:rPr>
              <a:t>()</a:t>
            </a:r>
            <a:endParaRPr b="1"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ct val="176870"/>
              <a:buNone/>
            </a:pP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 </a:t>
            </a:r>
            <a:r>
              <a:rPr b="1" lang="en" sz="1050">
                <a:solidFill>
                  <a:srgbClr val="D4D4D4"/>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df_latest_market_value</a:t>
            </a:r>
            <a:r>
              <a:rPr b="1" lang="en" sz="1050">
                <a:solidFill>
                  <a:srgbClr val="CCCCCC"/>
                </a:solidFill>
                <a:highlight>
                  <a:srgbClr val="1F1F1F"/>
                </a:highlight>
                <a:latin typeface="Courier New"/>
                <a:ea typeface="Courier New"/>
                <a:cs typeface="Courier New"/>
                <a:sym typeface="Courier New"/>
              </a:rPr>
              <a:t>.</a:t>
            </a:r>
            <a:r>
              <a:rPr b="1" lang="en" sz="1050">
                <a:solidFill>
                  <a:srgbClr val="DCDCAA"/>
                </a:solidFill>
                <a:highlight>
                  <a:srgbClr val="1F1F1F"/>
                </a:highlight>
                <a:latin typeface="Courier New"/>
                <a:ea typeface="Courier New"/>
                <a:cs typeface="Courier New"/>
                <a:sym typeface="Courier New"/>
              </a:rPr>
              <a:t>merge</a:t>
            </a:r>
            <a:r>
              <a:rPr b="1" lang="en" sz="1050">
                <a:solidFill>
                  <a:srgbClr val="CCCCCC"/>
                </a:solidFill>
                <a:highlight>
                  <a:srgbClr val="1F1F1F"/>
                </a:highlight>
                <a:latin typeface="Courier New"/>
                <a:ea typeface="Courier New"/>
                <a:cs typeface="Courier New"/>
                <a:sym typeface="Courier New"/>
              </a:rPr>
              <a:t>(</a:t>
            </a:r>
            <a:r>
              <a:rPr b="1" lang="en" sz="1050">
                <a:solidFill>
                  <a:srgbClr val="9CDCFE"/>
                </a:solidFill>
                <a:highlight>
                  <a:srgbClr val="1F1F1F"/>
                </a:highlight>
                <a:latin typeface="Courier New"/>
                <a:ea typeface="Courier New"/>
                <a:cs typeface="Courier New"/>
                <a:sym typeface="Courier New"/>
              </a:rPr>
              <a:t>df_pp</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on</a:t>
            </a:r>
            <a:r>
              <a:rPr b="1" lang="en" sz="1050">
                <a:solidFill>
                  <a:srgbClr val="D4D4D4"/>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'player_id'</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how</a:t>
            </a:r>
            <a:r>
              <a:rPr b="1" lang="en" sz="1050">
                <a:solidFill>
                  <a:srgbClr val="D4D4D4"/>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'inner'</a:t>
            </a:r>
            <a:r>
              <a:rPr b="1" lang="en" sz="1050">
                <a:solidFill>
                  <a:srgbClr val="CCCCCC"/>
                </a:solidFill>
                <a:highlight>
                  <a:srgbClr val="1F1F1F"/>
                </a:highlight>
                <a:latin typeface="Courier New"/>
                <a:ea typeface="Courier New"/>
                <a:cs typeface="Courier New"/>
                <a:sym typeface="Courier New"/>
              </a:rPr>
              <a:t>)</a:t>
            </a:r>
            <a:endParaRPr b="1"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ct val="176870"/>
              <a:buNone/>
            </a:pPr>
            <a:r>
              <a:t/>
            </a:r>
            <a:endParaRPr b="1"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ct val="176870"/>
              <a:buNone/>
            </a:pPr>
            <a:r>
              <a:rPr b="1" lang="en" sz="1050">
                <a:solidFill>
                  <a:srgbClr val="6A9955"/>
                </a:solidFill>
                <a:highlight>
                  <a:srgbClr val="1F1F1F"/>
                </a:highlight>
                <a:latin typeface="Courier New"/>
                <a:ea typeface="Courier New"/>
                <a:cs typeface="Courier New"/>
                <a:sym typeface="Courier New"/>
              </a:rPr>
              <a:t># EDA &amp; CLEANING</a:t>
            </a:r>
            <a:endParaRPr b="1" sz="10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ct val="176870"/>
              <a:buNone/>
            </a:pP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 </a:t>
            </a:r>
            <a:r>
              <a:rPr b="1" lang="en" sz="1050">
                <a:solidFill>
                  <a:srgbClr val="D4D4D4"/>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'value'</a:t>
            </a:r>
            <a:r>
              <a:rPr b="1" lang="en" sz="1050">
                <a:solidFill>
                  <a:srgbClr val="CCCCCC"/>
                </a:solidFill>
                <a:highlight>
                  <a:srgbClr val="1F1F1F"/>
                </a:highlight>
                <a:latin typeface="Courier New"/>
                <a:ea typeface="Courier New"/>
                <a:cs typeface="Courier New"/>
                <a:sym typeface="Courier New"/>
              </a:rPr>
              <a:t>].</a:t>
            </a:r>
            <a:r>
              <a:rPr b="1" lang="en" sz="1050">
                <a:solidFill>
                  <a:srgbClr val="DCDCAA"/>
                </a:solidFill>
                <a:highlight>
                  <a:srgbClr val="1F1F1F"/>
                </a:highlight>
                <a:latin typeface="Courier New"/>
                <a:ea typeface="Courier New"/>
                <a:cs typeface="Courier New"/>
                <a:sym typeface="Courier New"/>
              </a:rPr>
              <a:t>notna</a:t>
            </a:r>
            <a:r>
              <a:rPr b="1" lang="en" sz="1050">
                <a:solidFill>
                  <a:srgbClr val="CCCCCC"/>
                </a:solidFill>
                <a:highlight>
                  <a:srgbClr val="1F1F1F"/>
                </a:highlight>
                <a:latin typeface="Courier New"/>
                <a:ea typeface="Courier New"/>
                <a:cs typeface="Courier New"/>
                <a:sym typeface="Courier New"/>
              </a:rPr>
              <a:t>() </a:t>
            </a:r>
            <a:r>
              <a:rPr b="1" lang="en" sz="1050">
                <a:solidFill>
                  <a:srgbClr val="DCDCAA"/>
                </a:solidFill>
                <a:highlight>
                  <a:srgbClr val="1F1F1F"/>
                </a:highlight>
                <a:latin typeface="Courier New"/>
                <a:ea typeface="Courier New"/>
                <a:cs typeface="Courier New"/>
                <a:sym typeface="Courier New"/>
              </a:rPr>
              <a:t>&amp;</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'value'</a:t>
            </a:r>
            <a:r>
              <a:rPr b="1" lang="en" sz="1050">
                <a:solidFill>
                  <a:srgbClr val="CCCCCC"/>
                </a:solidFill>
                <a:highlight>
                  <a:srgbClr val="1F1F1F"/>
                </a:highlight>
                <a:latin typeface="Courier New"/>
                <a:ea typeface="Courier New"/>
                <a:cs typeface="Courier New"/>
                <a:sym typeface="Courier New"/>
              </a:rPr>
              <a:t>] </a:t>
            </a:r>
            <a:r>
              <a:rPr b="1" lang="en" sz="1050">
                <a:solidFill>
                  <a:srgbClr val="DCDCAA"/>
                </a:solidFill>
                <a:highlight>
                  <a:srgbClr val="1F1F1F"/>
                </a:highlight>
                <a:latin typeface="Courier New"/>
                <a:ea typeface="Courier New"/>
                <a:cs typeface="Courier New"/>
                <a:sym typeface="Courier New"/>
              </a:rPr>
              <a:t>&gt;</a:t>
            </a:r>
            <a:r>
              <a:rPr b="1" lang="en" sz="1050">
                <a:solidFill>
                  <a:srgbClr val="CCCCCC"/>
                </a:solidFill>
                <a:highlight>
                  <a:srgbClr val="1F1F1F"/>
                </a:highlight>
                <a:latin typeface="Courier New"/>
                <a:ea typeface="Courier New"/>
                <a:cs typeface="Courier New"/>
                <a:sym typeface="Courier New"/>
              </a:rPr>
              <a:t> </a:t>
            </a:r>
            <a:r>
              <a:rPr b="1" lang="en" sz="1050">
                <a:solidFill>
                  <a:srgbClr val="B5CEA8"/>
                </a:solidFill>
                <a:highlight>
                  <a:srgbClr val="1F1F1F"/>
                </a:highlight>
                <a:latin typeface="Courier New"/>
                <a:ea typeface="Courier New"/>
                <a:cs typeface="Courier New"/>
                <a:sym typeface="Courier New"/>
              </a:rPr>
              <a:t>0</a:t>
            </a:r>
            <a:r>
              <a:rPr b="1" lang="en" sz="1050">
                <a:solidFill>
                  <a:srgbClr val="CCCCCC"/>
                </a:solidFill>
                <a:highlight>
                  <a:srgbClr val="1F1F1F"/>
                </a:highlight>
                <a:latin typeface="Courier New"/>
                <a:ea typeface="Courier New"/>
                <a:cs typeface="Courier New"/>
                <a:sym typeface="Courier New"/>
              </a:rPr>
              <a:t>)]</a:t>
            </a:r>
            <a:endParaRPr b="1"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ct val="176870"/>
              <a:buNone/>
            </a:pP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 </a:t>
            </a:r>
            <a:r>
              <a:rPr b="1" lang="en" sz="1050">
                <a:solidFill>
                  <a:srgbClr val="D4D4D4"/>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'position'</a:t>
            </a:r>
            <a:r>
              <a:rPr b="1" lang="en" sz="1050">
                <a:solidFill>
                  <a:srgbClr val="CCCCCC"/>
                </a:solidFill>
                <a:highlight>
                  <a:srgbClr val="1F1F1F"/>
                </a:highlight>
                <a:latin typeface="Courier New"/>
                <a:ea typeface="Courier New"/>
                <a:cs typeface="Courier New"/>
                <a:sym typeface="Courier New"/>
              </a:rPr>
              <a:t>].</a:t>
            </a:r>
            <a:r>
              <a:rPr b="1" lang="en" sz="1050">
                <a:solidFill>
                  <a:srgbClr val="DCDCAA"/>
                </a:solidFill>
                <a:highlight>
                  <a:srgbClr val="1F1F1F"/>
                </a:highlight>
                <a:latin typeface="Courier New"/>
                <a:ea typeface="Courier New"/>
                <a:cs typeface="Courier New"/>
                <a:sym typeface="Courier New"/>
              </a:rPr>
              <a:t>notna</a:t>
            </a:r>
            <a:r>
              <a:rPr b="1" lang="en" sz="1050">
                <a:solidFill>
                  <a:srgbClr val="CCCCCC"/>
                </a:solidFill>
                <a:highlight>
                  <a:srgbClr val="1F1F1F"/>
                </a:highlight>
                <a:latin typeface="Courier New"/>
                <a:ea typeface="Courier New"/>
                <a:cs typeface="Courier New"/>
                <a:sym typeface="Courier New"/>
              </a:rPr>
              <a:t>() </a:t>
            </a:r>
            <a:r>
              <a:rPr b="1" lang="en" sz="1050">
                <a:solidFill>
                  <a:srgbClr val="DCDCAA"/>
                </a:solidFill>
                <a:highlight>
                  <a:srgbClr val="1F1F1F"/>
                </a:highlight>
                <a:latin typeface="Courier New"/>
                <a:ea typeface="Courier New"/>
                <a:cs typeface="Courier New"/>
                <a:sym typeface="Courier New"/>
              </a:rPr>
              <a:t>&amp;</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'position'</a:t>
            </a:r>
            <a:r>
              <a:rPr b="1" lang="en" sz="1050">
                <a:solidFill>
                  <a:srgbClr val="CCCCCC"/>
                </a:solidFill>
                <a:highlight>
                  <a:srgbClr val="1F1F1F"/>
                </a:highlight>
                <a:latin typeface="Courier New"/>
                <a:ea typeface="Courier New"/>
                <a:cs typeface="Courier New"/>
                <a:sym typeface="Courier New"/>
              </a:rPr>
              <a:t>]</a:t>
            </a:r>
            <a:r>
              <a:rPr b="1" lang="en" sz="1050">
                <a:solidFill>
                  <a:srgbClr val="DCDCAA"/>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CE9178"/>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a:t>
            </a:r>
            <a:endParaRPr b="1"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ct val="176870"/>
              <a:buNone/>
            </a:pP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 </a:t>
            </a:r>
            <a:r>
              <a:rPr b="1" lang="en" sz="1050">
                <a:solidFill>
                  <a:srgbClr val="D4D4D4"/>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'main_position'</a:t>
            </a:r>
            <a:r>
              <a:rPr b="1" lang="en" sz="1050">
                <a:solidFill>
                  <a:srgbClr val="CCCCCC"/>
                </a:solidFill>
                <a:highlight>
                  <a:srgbClr val="1F1F1F"/>
                </a:highlight>
                <a:latin typeface="Courier New"/>
                <a:ea typeface="Courier New"/>
                <a:cs typeface="Courier New"/>
                <a:sym typeface="Courier New"/>
              </a:rPr>
              <a:t>].</a:t>
            </a:r>
            <a:r>
              <a:rPr b="1" lang="en" sz="1050">
                <a:solidFill>
                  <a:srgbClr val="DCDCAA"/>
                </a:solidFill>
                <a:highlight>
                  <a:srgbClr val="1F1F1F"/>
                </a:highlight>
                <a:latin typeface="Courier New"/>
                <a:ea typeface="Courier New"/>
                <a:cs typeface="Courier New"/>
                <a:sym typeface="Courier New"/>
              </a:rPr>
              <a:t>notna</a:t>
            </a:r>
            <a:r>
              <a:rPr b="1" lang="en" sz="1050">
                <a:solidFill>
                  <a:srgbClr val="CCCCCC"/>
                </a:solidFill>
                <a:highlight>
                  <a:srgbClr val="1F1F1F"/>
                </a:highlight>
                <a:latin typeface="Courier New"/>
                <a:ea typeface="Courier New"/>
                <a:cs typeface="Courier New"/>
                <a:sym typeface="Courier New"/>
              </a:rPr>
              <a:t>() </a:t>
            </a:r>
            <a:r>
              <a:rPr b="1" lang="en" sz="1050">
                <a:solidFill>
                  <a:srgbClr val="DCDCAA"/>
                </a:solidFill>
                <a:highlight>
                  <a:srgbClr val="1F1F1F"/>
                </a:highlight>
                <a:latin typeface="Courier New"/>
                <a:ea typeface="Courier New"/>
                <a:cs typeface="Courier New"/>
                <a:sym typeface="Courier New"/>
              </a:rPr>
              <a:t>&amp;</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'main_position'</a:t>
            </a:r>
            <a:r>
              <a:rPr b="1" lang="en" sz="1050">
                <a:solidFill>
                  <a:srgbClr val="CCCCCC"/>
                </a:solidFill>
                <a:highlight>
                  <a:srgbClr val="1F1F1F"/>
                </a:highlight>
                <a:latin typeface="Courier New"/>
                <a:ea typeface="Courier New"/>
                <a:cs typeface="Courier New"/>
                <a:sym typeface="Courier New"/>
              </a:rPr>
              <a:t>]</a:t>
            </a:r>
            <a:r>
              <a:rPr b="1" lang="en" sz="1050">
                <a:solidFill>
                  <a:srgbClr val="DCDCAA"/>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CE9178"/>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a:t>
            </a:r>
            <a:endParaRPr b="1"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ct val="176870"/>
              <a:buNone/>
            </a:pP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 </a:t>
            </a:r>
            <a:r>
              <a:rPr b="1" lang="en" sz="1050">
                <a:solidFill>
                  <a:srgbClr val="D4D4D4"/>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'foot'</a:t>
            </a:r>
            <a:r>
              <a:rPr b="1" lang="en" sz="1050">
                <a:solidFill>
                  <a:srgbClr val="CCCCCC"/>
                </a:solidFill>
                <a:highlight>
                  <a:srgbClr val="1F1F1F"/>
                </a:highlight>
                <a:latin typeface="Courier New"/>
                <a:ea typeface="Courier New"/>
                <a:cs typeface="Courier New"/>
                <a:sym typeface="Courier New"/>
              </a:rPr>
              <a:t>].</a:t>
            </a:r>
            <a:r>
              <a:rPr b="1" lang="en" sz="1050">
                <a:solidFill>
                  <a:srgbClr val="DCDCAA"/>
                </a:solidFill>
                <a:highlight>
                  <a:srgbClr val="1F1F1F"/>
                </a:highlight>
                <a:latin typeface="Courier New"/>
                <a:ea typeface="Courier New"/>
                <a:cs typeface="Courier New"/>
                <a:sym typeface="Courier New"/>
              </a:rPr>
              <a:t>notna</a:t>
            </a:r>
            <a:r>
              <a:rPr b="1" lang="en" sz="1050">
                <a:solidFill>
                  <a:srgbClr val="CCCCCC"/>
                </a:solidFill>
                <a:highlight>
                  <a:srgbClr val="1F1F1F"/>
                </a:highlight>
                <a:latin typeface="Courier New"/>
                <a:ea typeface="Courier New"/>
                <a:cs typeface="Courier New"/>
                <a:sym typeface="Courier New"/>
              </a:rPr>
              <a:t>()</a:t>
            </a:r>
            <a:r>
              <a:rPr b="1" lang="en" sz="1050">
                <a:solidFill>
                  <a:srgbClr val="DCDCAA"/>
                </a:solidFill>
                <a:highlight>
                  <a:srgbClr val="1F1F1F"/>
                </a:highlight>
                <a:latin typeface="Courier New"/>
                <a:ea typeface="Courier New"/>
                <a:cs typeface="Courier New"/>
                <a:sym typeface="Courier New"/>
              </a:rPr>
              <a:t>&amp;</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'foot'</a:t>
            </a:r>
            <a:r>
              <a:rPr b="1" lang="en" sz="1050">
                <a:solidFill>
                  <a:srgbClr val="CCCCCC"/>
                </a:solidFill>
                <a:highlight>
                  <a:srgbClr val="1F1F1F"/>
                </a:highlight>
                <a:latin typeface="Courier New"/>
                <a:ea typeface="Courier New"/>
                <a:cs typeface="Courier New"/>
                <a:sym typeface="Courier New"/>
              </a:rPr>
              <a:t>]</a:t>
            </a:r>
            <a:r>
              <a:rPr b="1" lang="en" sz="1050">
                <a:solidFill>
                  <a:srgbClr val="DCDCAA"/>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CE9178"/>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a:t>
            </a:r>
            <a:endParaRPr b="1"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ct val="176870"/>
              <a:buNone/>
            </a:pP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 </a:t>
            </a:r>
            <a:r>
              <a:rPr b="1" lang="en" sz="1050">
                <a:solidFill>
                  <a:srgbClr val="D4D4D4"/>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'main_position'</a:t>
            </a:r>
            <a:r>
              <a:rPr b="1" lang="en" sz="1050">
                <a:solidFill>
                  <a:srgbClr val="CCCCCC"/>
                </a:solidFill>
                <a:highlight>
                  <a:srgbClr val="1F1F1F"/>
                </a:highlight>
                <a:latin typeface="Courier New"/>
                <a:ea typeface="Courier New"/>
                <a:cs typeface="Courier New"/>
                <a:sym typeface="Courier New"/>
              </a:rPr>
              <a:t>] </a:t>
            </a:r>
            <a:r>
              <a:rPr b="1" lang="en" sz="1050">
                <a:solidFill>
                  <a:srgbClr val="DCDCAA"/>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'position'</a:t>
            </a:r>
            <a:r>
              <a:rPr b="1" lang="en" sz="1050">
                <a:solidFill>
                  <a:srgbClr val="CCCCCC"/>
                </a:solidFill>
                <a:highlight>
                  <a:srgbClr val="1F1F1F"/>
                </a:highlight>
                <a:latin typeface="Courier New"/>
                <a:ea typeface="Courier New"/>
                <a:cs typeface="Courier New"/>
                <a:sym typeface="Courier New"/>
              </a:rPr>
              <a:t>]) </a:t>
            </a:r>
            <a:r>
              <a:rPr b="1" lang="en" sz="1050">
                <a:solidFill>
                  <a:srgbClr val="DCDCAA"/>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'main_position'</a:t>
            </a:r>
            <a:r>
              <a:rPr b="1" lang="en" sz="1050">
                <a:solidFill>
                  <a:srgbClr val="CCCCCC"/>
                </a:solidFill>
                <a:highlight>
                  <a:srgbClr val="1F1F1F"/>
                </a:highlight>
                <a:latin typeface="Courier New"/>
                <a:ea typeface="Courier New"/>
                <a:cs typeface="Courier New"/>
                <a:sym typeface="Courier New"/>
              </a:rPr>
              <a:t>] </a:t>
            </a:r>
            <a:r>
              <a:rPr b="1" lang="en" sz="1050">
                <a:solidFill>
                  <a:srgbClr val="DCDCAA"/>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CE9178"/>
                </a:solidFill>
                <a:highlight>
                  <a:srgbClr val="1F1F1F"/>
                </a:highlight>
                <a:latin typeface="Courier New"/>
                <a:ea typeface="Courier New"/>
                <a:cs typeface="Courier New"/>
                <a:sym typeface="Courier New"/>
              </a:rPr>
              <a:t>'Goalkeeper'</a:t>
            </a:r>
            <a:r>
              <a:rPr b="1" lang="en" sz="1050">
                <a:solidFill>
                  <a:srgbClr val="CCCCCC"/>
                </a:solidFill>
                <a:highlight>
                  <a:srgbClr val="1F1F1F"/>
                </a:highlight>
                <a:latin typeface="Courier New"/>
                <a:ea typeface="Courier New"/>
                <a:cs typeface="Courier New"/>
                <a:sym typeface="Courier New"/>
              </a:rPr>
              <a:t>)]</a:t>
            </a:r>
            <a:endParaRPr b="1"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ct val="176870"/>
              <a:buNone/>
            </a:pP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 </a:t>
            </a:r>
            <a:r>
              <a:rPr b="1" lang="en" sz="1050">
                <a:solidFill>
                  <a:srgbClr val="D4D4D4"/>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'date_unix'</a:t>
            </a:r>
            <a:r>
              <a:rPr b="1" lang="en" sz="1050">
                <a:solidFill>
                  <a:srgbClr val="CCCCCC"/>
                </a:solidFill>
                <a:highlight>
                  <a:srgbClr val="1F1F1F"/>
                </a:highlight>
                <a:latin typeface="Courier New"/>
                <a:ea typeface="Courier New"/>
                <a:cs typeface="Courier New"/>
                <a:sym typeface="Courier New"/>
              </a:rPr>
              <a:t>].</a:t>
            </a:r>
            <a:r>
              <a:rPr b="1" lang="en" sz="1050">
                <a:solidFill>
                  <a:srgbClr val="DCDCAA"/>
                </a:solidFill>
                <a:highlight>
                  <a:srgbClr val="1F1F1F"/>
                </a:highlight>
                <a:latin typeface="Courier New"/>
                <a:ea typeface="Courier New"/>
                <a:cs typeface="Courier New"/>
                <a:sym typeface="Courier New"/>
              </a:rPr>
              <a:t>notna</a:t>
            </a:r>
            <a:r>
              <a:rPr b="1" lang="en" sz="1050">
                <a:solidFill>
                  <a:srgbClr val="CCCCCC"/>
                </a:solidFill>
                <a:highlight>
                  <a:srgbClr val="1F1F1F"/>
                </a:highlight>
                <a:latin typeface="Courier New"/>
                <a:ea typeface="Courier New"/>
                <a:cs typeface="Courier New"/>
                <a:sym typeface="Courier New"/>
              </a:rPr>
              <a:t>()]</a:t>
            </a:r>
            <a:endParaRPr b="1"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ct val="176870"/>
              <a:buNone/>
            </a:pP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'value_year'</a:t>
            </a:r>
            <a:r>
              <a:rPr b="1" lang="en" sz="1050">
                <a:solidFill>
                  <a:srgbClr val="CCCCCC"/>
                </a:solidFill>
                <a:highlight>
                  <a:srgbClr val="1F1F1F"/>
                </a:highlight>
                <a:latin typeface="Courier New"/>
                <a:ea typeface="Courier New"/>
                <a:cs typeface="Courier New"/>
                <a:sym typeface="Courier New"/>
              </a:rPr>
              <a:t>] </a:t>
            </a:r>
            <a:r>
              <a:rPr b="1" lang="en" sz="1050">
                <a:solidFill>
                  <a:srgbClr val="D4D4D4"/>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4EC9B0"/>
                </a:solidFill>
                <a:highlight>
                  <a:srgbClr val="1F1F1F"/>
                </a:highlight>
                <a:latin typeface="Courier New"/>
                <a:ea typeface="Courier New"/>
                <a:cs typeface="Courier New"/>
                <a:sym typeface="Courier New"/>
              </a:rPr>
              <a:t>pd</a:t>
            </a:r>
            <a:r>
              <a:rPr b="1" lang="en" sz="1050">
                <a:solidFill>
                  <a:srgbClr val="CCCCCC"/>
                </a:solidFill>
                <a:highlight>
                  <a:srgbClr val="1F1F1F"/>
                </a:highlight>
                <a:latin typeface="Courier New"/>
                <a:ea typeface="Courier New"/>
                <a:cs typeface="Courier New"/>
                <a:sym typeface="Courier New"/>
              </a:rPr>
              <a:t>.</a:t>
            </a:r>
            <a:r>
              <a:rPr b="1" lang="en" sz="1050">
                <a:solidFill>
                  <a:srgbClr val="DCDCAA"/>
                </a:solidFill>
                <a:highlight>
                  <a:srgbClr val="1F1F1F"/>
                </a:highlight>
                <a:latin typeface="Courier New"/>
                <a:ea typeface="Courier New"/>
                <a:cs typeface="Courier New"/>
                <a:sym typeface="Courier New"/>
              </a:rPr>
              <a:t>to_datetime</a:t>
            </a:r>
            <a:r>
              <a:rPr b="1" lang="en" sz="1050">
                <a:solidFill>
                  <a:srgbClr val="CCCCCC"/>
                </a:solidFill>
                <a:highlight>
                  <a:srgbClr val="1F1F1F"/>
                </a:highlight>
                <a:latin typeface="Courier New"/>
                <a:ea typeface="Courier New"/>
                <a:cs typeface="Courier New"/>
                <a:sym typeface="Courier New"/>
              </a:rPr>
              <a:t>(</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'date_unix'</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unit</a:t>
            </a:r>
            <a:r>
              <a:rPr b="1" lang="en" sz="1050">
                <a:solidFill>
                  <a:srgbClr val="D4D4D4"/>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's'</a:t>
            </a:r>
            <a:r>
              <a:rPr b="1" lang="en" sz="1050">
                <a:solidFill>
                  <a:srgbClr val="CCCCCC"/>
                </a:solidFill>
                <a:highlight>
                  <a:srgbClr val="1F1F1F"/>
                </a:highlight>
                <a:latin typeface="Courier New"/>
                <a:ea typeface="Courier New"/>
                <a:cs typeface="Courier New"/>
                <a:sym typeface="Courier New"/>
              </a:rPr>
              <a:t>).</a:t>
            </a:r>
            <a:r>
              <a:rPr b="1" lang="en" sz="1050">
                <a:solidFill>
                  <a:srgbClr val="9CDCFE"/>
                </a:solidFill>
                <a:highlight>
                  <a:srgbClr val="1F1F1F"/>
                </a:highlight>
                <a:latin typeface="Courier New"/>
                <a:ea typeface="Courier New"/>
                <a:cs typeface="Courier New"/>
                <a:sym typeface="Courier New"/>
              </a:rPr>
              <a:t>dt</a:t>
            </a:r>
            <a:r>
              <a:rPr b="1" lang="en" sz="1050">
                <a:solidFill>
                  <a:srgbClr val="CCCCCC"/>
                </a:solidFill>
                <a:highlight>
                  <a:srgbClr val="1F1F1F"/>
                </a:highlight>
                <a:latin typeface="Courier New"/>
                <a:ea typeface="Courier New"/>
                <a:cs typeface="Courier New"/>
                <a:sym typeface="Courier New"/>
              </a:rPr>
              <a:t>.</a:t>
            </a:r>
            <a:r>
              <a:rPr b="1" lang="en" sz="1050">
                <a:solidFill>
                  <a:srgbClr val="9CDCFE"/>
                </a:solidFill>
                <a:highlight>
                  <a:srgbClr val="1F1F1F"/>
                </a:highlight>
                <a:latin typeface="Courier New"/>
                <a:ea typeface="Courier New"/>
                <a:cs typeface="Courier New"/>
                <a:sym typeface="Courier New"/>
              </a:rPr>
              <a:t>year</a:t>
            </a:r>
            <a:r>
              <a:rPr b="1" lang="en" sz="1050">
                <a:solidFill>
                  <a:srgbClr val="CCCCCC"/>
                </a:solidFill>
                <a:highlight>
                  <a:srgbClr val="1F1F1F"/>
                </a:highlight>
                <a:latin typeface="Courier New"/>
                <a:ea typeface="Courier New"/>
                <a:cs typeface="Courier New"/>
                <a:sym typeface="Courier New"/>
              </a:rPr>
              <a:t>.</a:t>
            </a:r>
            <a:r>
              <a:rPr b="1" lang="en" sz="1050">
                <a:solidFill>
                  <a:srgbClr val="DCDCAA"/>
                </a:solidFill>
                <a:highlight>
                  <a:srgbClr val="1F1F1F"/>
                </a:highlight>
                <a:latin typeface="Courier New"/>
                <a:ea typeface="Courier New"/>
                <a:cs typeface="Courier New"/>
                <a:sym typeface="Courier New"/>
              </a:rPr>
              <a:t>astype</a:t>
            </a:r>
            <a:r>
              <a:rPr b="1" lang="en" sz="1050">
                <a:solidFill>
                  <a:srgbClr val="CCCCCC"/>
                </a:solidFill>
                <a:highlight>
                  <a:srgbClr val="1F1F1F"/>
                </a:highlight>
                <a:latin typeface="Courier New"/>
                <a:ea typeface="Courier New"/>
                <a:cs typeface="Courier New"/>
                <a:sym typeface="Courier New"/>
              </a:rPr>
              <a:t>(</a:t>
            </a:r>
            <a:r>
              <a:rPr b="1" lang="en" sz="1050">
                <a:solidFill>
                  <a:srgbClr val="4EC9B0"/>
                </a:solidFill>
                <a:highlight>
                  <a:srgbClr val="1F1F1F"/>
                </a:highlight>
                <a:latin typeface="Courier New"/>
                <a:ea typeface="Courier New"/>
                <a:cs typeface="Courier New"/>
                <a:sym typeface="Courier New"/>
              </a:rPr>
              <a:t>int</a:t>
            </a:r>
            <a:r>
              <a:rPr b="1" lang="en" sz="1050">
                <a:solidFill>
                  <a:srgbClr val="CCCCCC"/>
                </a:solidFill>
                <a:highlight>
                  <a:srgbClr val="1F1F1F"/>
                </a:highlight>
                <a:latin typeface="Courier New"/>
                <a:ea typeface="Courier New"/>
                <a:cs typeface="Courier New"/>
                <a:sym typeface="Courier New"/>
              </a:rPr>
              <a:t>)</a:t>
            </a:r>
            <a:endParaRPr b="1"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ct val="176870"/>
              <a:buNone/>
            </a:pP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'value_m'</a:t>
            </a:r>
            <a:r>
              <a:rPr b="1" lang="en" sz="1050">
                <a:solidFill>
                  <a:srgbClr val="CCCCCC"/>
                </a:solidFill>
                <a:highlight>
                  <a:srgbClr val="1F1F1F"/>
                </a:highlight>
                <a:latin typeface="Courier New"/>
                <a:ea typeface="Courier New"/>
                <a:cs typeface="Courier New"/>
                <a:sym typeface="Courier New"/>
              </a:rPr>
              <a:t>] </a:t>
            </a:r>
            <a:r>
              <a:rPr b="1" lang="en" sz="1050">
                <a:solidFill>
                  <a:srgbClr val="D4D4D4"/>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9CDCFE"/>
                </a:solidFill>
                <a:highlight>
                  <a:srgbClr val="1F1F1F"/>
                </a:highlight>
                <a:latin typeface="Courier New"/>
                <a:ea typeface="Courier New"/>
                <a:cs typeface="Courier New"/>
                <a:sym typeface="Courier New"/>
              </a:rPr>
              <a:t>df</a:t>
            </a:r>
            <a:r>
              <a:rPr b="1" lang="en" sz="1050">
                <a:solidFill>
                  <a:srgbClr val="CCCCCC"/>
                </a:solidFill>
                <a:highlight>
                  <a:srgbClr val="1F1F1F"/>
                </a:highlight>
                <a:latin typeface="Courier New"/>
                <a:ea typeface="Courier New"/>
                <a:cs typeface="Courier New"/>
                <a:sym typeface="Courier New"/>
              </a:rPr>
              <a:t>[</a:t>
            </a:r>
            <a:r>
              <a:rPr b="1" lang="en" sz="1050">
                <a:solidFill>
                  <a:srgbClr val="CE9178"/>
                </a:solidFill>
                <a:highlight>
                  <a:srgbClr val="1F1F1F"/>
                </a:highlight>
                <a:latin typeface="Courier New"/>
                <a:ea typeface="Courier New"/>
                <a:cs typeface="Courier New"/>
                <a:sym typeface="Courier New"/>
              </a:rPr>
              <a:t>'value'</a:t>
            </a:r>
            <a:r>
              <a:rPr b="1" lang="en" sz="1050">
                <a:solidFill>
                  <a:srgbClr val="CCCCCC"/>
                </a:solidFill>
                <a:highlight>
                  <a:srgbClr val="1F1F1F"/>
                </a:highlight>
                <a:latin typeface="Courier New"/>
                <a:ea typeface="Courier New"/>
                <a:cs typeface="Courier New"/>
                <a:sym typeface="Courier New"/>
              </a:rPr>
              <a:t>] </a:t>
            </a:r>
            <a:r>
              <a:rPr b="1" lang="en" sz="1050">
                <a:solidFill>
                  <a:srgbClr val="DCDCAA"/>
                </a:solidFill>
                <a:highlight>
                  <a:srgbClr val="1F1F1F"/>
                </a:highlight>
                <a:latin typeface="Courier New"/>
                <a:ea typeface="Courier New"/>
                <a:cs typeface="Courier New"/>
                <a:sym typeface="Courier New"/>
              </a:rPr>
              <a:t>/</a:t>
            </a:r>
            <a:r>
              <a:rPr b="1" lang="en" sz="1050">
                <a:solidFill>
                  <a:srgbClr val="CCCCCC"/>
                </a:solidFill>
                <a:highlight>
                  <a:srgbClr val="1F1F1F"/>
                </a:highlight>
                <a:latin typeface="Courier New"/>
                <a:ea typeface="Courier New"/>
                <a:cs typeface="Courier New"/>
                <a:sym typeface="Courier New"/>
              </a:rPr>
              <a:t> </a:t>
            </a:r>
            <a:r>
              <a:rPr b="1" lang="en" sz="1050">
                <a:solidFill>
                  <a:srgbClr val="B5CEA8"/>
                </a:solidFill>
                <a:highlight>
                  <a:srgbClr val="1F1F1F"/>
                </a:highlight>
                <a:latin typeface="Courier New"/>
                <a:ea typeface="Courier New"/>
                <a:cs typeface="Courier New"/>
                <a:sym typeface="Courier New"/>
              </a:rPr>
              <a:t>1_000_000</a:t>
            </a:r>
            <a:endParaRPr b="1" sz="1050">
              <a:solidFill>
                <a:srgbClr val="9CDCFE"/>
              </a:solidFill>
              <a:highlight>
                <a:srgbClr val="1F1F1F"/>
              </a:highlight>
              <a:latin typeface="Courier New"/>
              <a:ea typeface="Courier New"/>
              <a:cs typeface="Courier New"/>
              <a:sym typeface="Courier New"/>
            </a:endParaRPr>
          </a:p>
          <a:p>
            <a:pPr indent="0" lvl="0" marL="0" rtl="0" algn="l">
              <a:lnSpc>
                <a:spcPct val="115000"/>
              </a:lnSpc>
              <a:spcBef>
                <a:spcPts val="0"/>
              </a:spcBef>
              <a:spcAft>
                <a:spcPts val="1200"/>
              </a:spcAft>
              <a:buSzPct val="142857"/>
              <a:buNone/>
            </a:pPr>
            <a:r>
              <a:t/>
            </a:r>
            <a:endParaRPr/>
          </a:p>
        </p:txBody>
      </p:sp>
      <p:sp>
        <p:nvSpPr>
          <p:cNvPr id="305" name="Google Shape;305;p5"/>
          <p:cNvSpPr txBox="1"/>
          <p:nvPr/>
        </p:nvSpPr>
        <p:spPr>
          <a:xfrm>
            <a:off x="363825" y="1517400"/>
            <a:ext cx="2003700" cy="210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Nunito"/>
                <a:ea typeface="Nunito"/>
                <a:cs typeface="Nunito"/>
                <a:sym typeface="Nunito"/>
              </a:rPr>
              <a:t>Get rid of players without:</a:t>
            </a:r>
            <a:endParaRPr b="0" i="0" sz="1300" u="none" cap="none" strike="noStrike">
              <a:solidFill>
                <a:schemeClr val="dk2"/>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2"/>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Nunito"/>
                <a:ea typeface="Nunito"/>
                <a:cs typeface="Nunito"/>
                <a:sym typeface="Nunito"/>
              </a:rPr>
              <a:t>- Market value.</a:t>
            </a:r>
            <a:endParaRPr b="0" i="0" sz="1300" u="none" cap="none" strike="noStrike">
              <a:solidFill>
                <a:schemeClr val="dk2"/>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Nunito"/>
                <a:ea typeface="Nunito"/>
                <a:cs typeface="Nunito"/>
                <a:sym typeface="Nunito"/>
              </a:rPr>
              <a:t>- Position.</a:t>
            </a:r>
            <a:endParaRPr b="0" i="0" sz="1300" u="none" cap="none" strike="noStrike">
              <a:solidFill>
                <a:schemeClr val="dk2"/>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Nunito"/>
                <a:ea typeface="Nunito"/>
                <a:cs typeface="Nunito"/>
                <a:sym typeface="Nunito"/>
              </a:rPr>
              <a:t>- Main position.</a:t>
            </a:r>
            <a:endParaRPr b="0" i="0" sz="1300" u="none" cap="none" strike="noStrike">
              <a:solidFill>
                <a:schemeClr val="dk2"/>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Nunito"/>
                <a:ea typeface="Nunito"/>
                <a:cs typeface="Nunito"/>
                <a:sym typeface="Nunito"/>
              </a:rPr>
              <a:t>- Info of agile foot.</a:t>
            </a:r>
            <a:endParaRPr b="0" i="0" sz="1300" u="none" cap="none" strike="noStrike">
              <a:solidFill>
                <a:schemeClr val="dk2"/>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Nunito"/>
                <a:ea typeface="Nunito"/>
                <a:cs typeface="Nunito"/>
                <a:sym typeface="Nunito"/>
              </a:rPr>
              <a:t>- Where position == main position (not fully defined, except GK).</a:t>
            </a:r>
            <a:endParaRPr b="0" i="0" sz="1300" u="none" cap="none" strike="noStrike">
              <a:solidFill>
                <a:schemeClr val="dk2"/>
              </a:solidFill>
              <a:latin typeface="Nunito"/>
              <a:ea typeface="Nunito"/>
              <a:cs typeface="Nunito"/>
              <a:sym typeface="Nunito"/>
            </a:endParaRPr>
          </a:p>
        </p:txBody>
      </p:sp>
      <p:cxnSp>
        <p:nvCxnSpPr>
          <p:cNvPr id="306" name="Google Shape;306;p5"/>
          <p:cNvCxnSpPr/>
          <p:nvPr/>
        </p:nvCxnSpPr>
        <p:spPr>
          <a:xfrm>
            <a:off x="1600175" y="2294250"/>
            <a:ext cx="1150500" cy="416100"/>
          </a:xfrm>
          <a:prstGeom prst="curvedConnector3">
            <a:avLst>
              <a:gd fmla="val 50000" name="adj1"/>
            </a:avLst>
          </a:prstGeom>
          <a:noFill/>
          <a:ln cap="flat" cmpd="sng" w="9525">
            <a:solidFill>
              <a:schemeClr val="dk2"/>
            </a:solidFill>
            <a:prstDash val="solid"/>
            <a:round/>
            <a:headEnd len="sm" w="sm" type="none"/>
            <a:tailEnd len="sm" w="sm" type="none"/>
          </a:ln>
        </p:spPr>
      </p:cxnSp>
      <p:cxnSp>
        <p:nvCxnSpPr>
          <p:cNvPr id="307" name="Google Shape;307;p5"/>
          <p:cNvCxnSpPr/>
          <p:nvPr/>
        </p:nvCxnSpPr>
        <p:spPr>
          <a:xfrm>
            <a:off x="1270000" y="2516950"/>
            <a:ext cx="1493700" cy="327600"/>
          </a:xfrm>
          <a:prstGeom prst="curvedConnector3">
            <a:avLst>
              <a:gd fmla="val 50000" name="adj1"/>
            </a:avLst>
          </a:prstGeom>
          <a:noFill/>
          <a:ln cap="flat" cmpd="sng" w="9525">
            <a:solidFill>
              <a:schemeClr val="dk2"/>
            </a:solidFill>
            <a:prstDash val="solid"/>
            <a:round/>
            <a:headEnd len="sm" w="sm" type="none"/>
            <a:tailEnd len="sm" w="sm" type="none"/>
          </a:ln>
        </p:spPr>
      </p:cxnSp>
      <p:cxnSp>
        <p:nvCxnSpPr>
          <p:cNvPr id="308" name="Google Shape;308;p5"/>
          <p:cNvCxnSpPr/>
          <p:nvPr/>
        </p:nvCxnSpPr>
        <p:spPr>
          <a:xfrm>
            <a:off x="1638700" y="2714125"/>
            <a:ext cx="1113900" cy="268800"/>
          </a:xfrm>
          <a:prstGeom prst="curvedConnector3">
            <a:avLst>
              <a:gd fmla="val 50000" name="adj1"/>
            </a:avLst>
          </a:prstGeom>
          <a:noFill/>
          <a:ln cap="flat" cmpd="sng" w="9525">
            <a:solidFill>
              <a:schemeClr val="dk2"/>
            </a:solidFill>
            <a:prstDash val="solid"/>
            <a:round/>
            <a:headEnd len="sm" w="sm" type="none"/>
            <a:tailEnd len="sm" w="sm" type="none"/>
          </a:ln>
        </p:spPr>
      </p:cxnSp>
      <p:cxnSp>
        <p:nvCxnSpPr>
          <p:cNvPr id="309" name="Google Shape;309;p5"/>
          <p:cNvCxnSpPr/>
          <p:nvPr/>
        </p:nvCxnSpPr>
        <p:spPr>
          <a:xfrm>
            <a:off x="1800025" y="2924075"/>
            <a:ext cx="967800" cy="192000"/>
          </a:xfrm>
          <a:prstGeom prst="curvedConnector3">
            <a:avLst>
              <a:gd fmla="val 50000" name="adj1"/>
            </a:avLst>
          </a:prstGeom>
          <a:noFill/>
          <a:ln cap="flat" cmpd="sng" w="9525">
            <a:solidFill>
              <a:schemeClr val="dk2"/>
            </a:solidFill>
            <a:prstDash val="solid"/>
            <a:round/>
            <a:headEnd len="sm" w="sm" type="none"/>
            <a:tailEnd len="sm" w="sm" type="none"/>
          </a:ln>
        </p:spPr>
      </p:cxnSp>
      <p:cxnSp>
        <p:nvCxnSpPr>
          <p:cNvPr id="310" name="Google Shape;310;p5"/>
          <p:cNvCxnSpPr/>
          <p:nvPr/>
        </p:nvCxnSpPr>
        <p:spPr>
          <a:xfrm flipH="1" rot="10800000">
            <a:off x="2030475" y="3238950"/>
            <a:ext cx="722100" cy="276600"/>
          </a:xfrm>
          <a:prstGeom prst="curvedConnector3">
            <a:avLst>
              <a:gd fmla="val 50000" name="adj1"/>
            </a:avLst>
          </a:prstGeom>
          <a:noFill/>
          <a:ln cap="flat" cmpd="sng" w="9525">
            <a:solidFill>
              <a:schemeClr val="dk2"/>
            </a:solidFill>
            <a:prstDash val="solid"/>
            <a:round/>
            <a:headEnd len="sm" w="sm" type="none"/>
            <a:tailEnd len="sm" w="sm" type="none"/>
          </a:ln>
        </p:spPr>
      </p:cxnSp>
      <p:sp>
        <p:nvSpPr>
          <p:cNvPr id="311" name="Google Shape;311;p5"/>
          <p:cNvSpPr txBox="1"/>
          <p:nvPr/>
        </p:nvSpPr>
        <p:spPr>
          <a:xfrm>
            <a:off x="2663075" y="4099175"/>
            <a:ext cx="2003700" cy="41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Nunito"/>
                <a:ea typeface="Nunito"/>
                <a:cs typeface="Nunito"/>
                <a:sym typeface="Nunito"/>
              </a:rPr>
              <a:t>Normalization of year</a:t>
            </a:r>
            <a:endParaRPr b="0" i="0" sz="1300" u="none" cap="none" strike="noStrike">
              <a:solidFill>
                <a:schemeClr val="dk2"/>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2"/>
              </a:solidFill>
              <a:latin typeface="Nunito"/>
              <a:ea typeface="Nunito"/>
              <a:cs typeface="Nunito"/>
              <a:sym typeface="Nunito"/>
            </a:endParaRPr>
          </a:p>
        </p:txBody>
      </p:sp>
      <p:cxnSp>
        <p:nvCxnSpPr>
          <p:cNvPr id="312" name="Google Shape;312;p5"/>
          <p:cNvCxnSpPr>
            <a:endCxn id="311" idx="1"/>
          </p:cNvCxnSpPr>
          <p:nvPr/>
        </p:nvCxnSpPr>
        <p:spPr>
          <a:xfrm rot="5400000">
            <a:off x="2295425" y="3857675"/>
            <a:ext cx="817200" cy="81900"/>
          </a:xfrm>
          <a:prstGeom prst="curvedConnector4">
            <a:avLst>
              <a:gd fmla="val 37271" name="adj1"/>
              <a:gd fmla="val 390751" name="adj2"/>
            </a:avLst>
          </a:prstGeom>
          <a:noFill/>
          <a:ln cap="flat" cmpd="sng" w="9525">
            <a:solidFill>
              <a:schemeClr val="dk2"/>
            </a:solidFill>
            <a:prstDash val="solid"/>
            <a:round/>
            <a:headEnd len="sm" w="sm" type="none"/>
            <a:tailEnd len="sm" w="sm" type="none"/>
          </a:ln>
        </p:spPr>
      </p:cxnSp>
      <p:sp>
        <p:nvSpPr>
          <p:cNvPr id="313" name="Google Shape;313;p5"/>
          <p:cNvSpPr txBox="1"/>
          <p:nvPr/>
        </p:nvSpPr>
        <p:spPr>
          <a:xfrm>
            <a:off x="4989300" y="4099175"/>
            <a:ext cx="2003700" cy="41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Nunito"/>
                <a:ea typeface="Nunito"/>
                <a:cs typeface="Nunito"/>
                <a:sym typeface="Nunito"/>
              </a:rPr>
              <a:t>Readable value</a:t>
            </a:r>
            <a:endParaRPr b="0" i="0" sz="1300" u="none" cap="none" strike="noStrike">
              <a:solidFill>
                <a:schemeClr val="dk2"/>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2"/>
              </a:solidFill>
              <a:latin typeface="Nunito"/>
              <a:ea typeface="Nunito"/>
              <a:cs typeface="Nunito"/>
              <a:sym typeface="Nunito"/>
            </a:endParaRPr>
          </a:p>
        </p:txBody>
      </p:sp>
      <p:cxnSp>
        <p:nvCxnSpPr>
          <p:cNvPr id="314" name="Google Shape;314;p5"/>
          <p:cNvCxnSpPr>
            <a:endCxn id="313" idx="0"/>
          </p:cNvCxnSpPr>
          <p:nvPr/>
        </p:nvCxnSpPr>
        <p:spPr>
          <a:xfrm>
            <a:off x="4957050" y="3620375"/>
            <a:ext cx="1034100" cy="478800"/>
          </a:xfrm>
          <a:prstGeom prst="curvedConnector2">
            <a:avLst/>
          </a:prstGeom>
          <a:noFill/>
          <a:ln cap="flat" cmpd="sng" w="9525">
            <a:solidFill>
              <a:schemeClr val="dk2"/>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6"/>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Data Cleaning - SQL</a:t>
            </a:r>
            <a:endParaRPr/>
          </a:p>
        </p:txBody>
      </p:sp>
      <p:pic>
        <p:nvPicPr>
          <p:cNvPr id="320" name="Google Shape;320;p6"/>
          <p:cNvPicPr preferRelativeResize="0"/>
          <p:nvPr/>
        </p:nvPicPr>
        <p:blipFill rotWithShape="1">
          <a:blip r:embed="rId3">
            <a:alphaModFix/>
          </a:blip>
          <a:srcRect b="0" l="0" r="0" t="0"/>
          <a:stretch/>
        </p:blipFill>
        <p:spPr>
          <a:xfrm>
            <a:off x="1679500" y="1597875"/>
            <a:ext cx="6279099" cy="3240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7"/>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6160"/>
              <a:buNone/>
            </a:pPr>
            <a:r>
              <a:rPr lang="en" sz="2466"/>
              <a:t>1. Which positions command the highest market values?</a:t>
            </a:r>
            <a:endParaRPr sz="2466"/>
          </a:p>
          <a:p>
            <a:pPr indent="0" lvl="0" marL="0" rtl="0" algn="l">
              <a:lnSpc>
                <a:spcPct val="100000"/>
              </a:lnSpc>
              <a:spcBef>
                <a:spcPts val="0"/>
              </a:spcBef>
              <a:spcAft>
                <a:spcPts val="0"/>
              </a:spcAft>
              <a:buSzPct val="111111"/>
              <a:buNone/>
            </a:pPr>
            <a:r>
              <a:t/>
            </a:r>
            <a:endParaRPr/>
          </a:p>
        </p:txBody>
      </p:sp>
      <p:sp>
        <p:nvSpPr>
          <p:cNvPr id="326" name="Google Shape;326;p7"/>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rgbClr val="658F90"/>
                </a:solidFill>
                <a:latin typeface="Maven Pro"/>
                <a:ea typeface="Maven Pro"/>
                <a:cs typeface="Maven Pro"/>
                <a:sym typeface="Maven Pro"/>
              </a:rPr>
              <a:t>Market Value &amp; Player Worth 💎</a:t>
            </a:r>
            <a:endParaRPr b="0" i="0" sz="700" u="none" cap="none" strike="noStrike">
              <a:solidFill>
                <a:srgbClr val="658F90"/>
              </a:solidFill>
              <a:latin typeface="Arial"/>
              <a:ea typeface="Arial"/>
              <a:cs typeface="Arial"/>
              <a:sym typeface="Arial"/>
            </a:endParaRPr>
          </a:p>
        </p:txBody>
      </p:sp>
      <p:pic>
        <p:nvPicPr>
          <p:cNvPr id="327" name="Google Shape;327;p7"/>
          <p:cNvPicPr preferRelativeResize="0"/>
          <p:nvPr/>
        </p:nvPicPr>
        <p:blipFill rotWithShape="1">
          <a:blip r:embed="rId3">
            <a:alphaModFix/>
          </a:blip>
          <a:srcRect b="0" l="0" r="0" t="0"/>
          <a:stretch/>
        </p:blipFill>
        <p:spPr>
          <a:xfrm>
            <a:off x="252250" y="2927063"/>
            <a:ext cx="2941475" cy="1284075"/>
          </a:xfrm>
          <a:prstGeom prst="rect">
            <a:avLst/>
          </a:prstGeom>
          <a:noFill/>
          <a:ln cap="flat" cmpd="sng" w="9525">
            <a:solidFill>
              <a:schemeClr val="dk2"/>
            </a:solidFill>
            <a:prstDash val="solid"/>
            <a:round/>
            <a:headEnd len="sm" w="sm" type="none"/>
            <a:tailEnd len="sm" w="sm" type="none"/>
          </a:ln>
        </p:spPr>
      </p:pic>
      <p:pic>
        <p:nvPicPr>
          <p:cNvPr id="328" name="Google Shape;328;p7"/>
          <p:cNvPicPr preferRelativeResize="0"/>
          <p:nvPr/>
        </p:nvPicPr>
        <p:blipFill rotWithShape="1">
          <a:blip r:embed="rId4">
            <a:alphaModFix/>
          </a:blip>
          <a:srcRect b="0" l="0" r="0" t="0"/>
          <a:stretch/>
        </p:blipFill>
        <p:spPr>
          <a:xfrm>
            <a:off x="3897825" y="1832025"/>
            <a:ext cx="4721951" cy="2379101"/>
          </a:xfrm>
          <a:prstGeom prst="rect">
            <a:avLst/>
          </a:prstGeom>
          <a:noFill/>
          <a:ln cap="flat" cmpd="sng" w="9525">
            <a:solidFill>
              <a:schemeClr val="dk2"/>
            </a:solidFill>
            <a:prstDash val="solid"/>
            <a:round/>
            <a:headEnd len="sm" w="sm" type="none"/>
            <a:tailEnd len="sm" w="sm" type="none"/>
          </a:ln>
        </p:spPr>
      </p:pic>
      <p:sp>
        <p:nvSpPr>
          <p:cNvPr id="329" name="Google Shape;329;p7"/>
          <p:cNvSpPr/>
          <p:nvPr/>
        </p:nvSpPr>
        <p:spPr>
          <a:xfrm>
            <a:off x="3307575" y="2783450"/>
            <a:ext cx="476400" cy="291900"/>
          </a:xfrm>
          <a:prstGeom prst="stripedRightArrow">
            <a:avLst>
              <a:gd fmla="val 5000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p:txBody>
      </p:sp>
      <p:sp>
        <p:nvSpPr>
          <p:cNvPr id="330" name="Google Shape;330;p7"/>
          <p:cNvSpPr txBox="1"/>
          <p:nvPr/>
        </p:nvSpPr>
        <p:spPr>
          <a:xfrm>
            <a:off x="252575" y="1832025"/>
            <a:ext cx="2941500" cy="765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Nunito"/>
                <a:ea typeface="Nunito"/>
                <a:cs typeface="Nunito"/>
                <a:sym typeface="Nunito"/>
              </a:rPr>
              <a:t>Which positions have the highest average market value across all years?</a:t>
            </a:r>
            <a:endParaRPr b="0" i="0" sz="1300" u="none" cap="none" strike="noStrike">
              <a:solidFill>
                <a:schemeClr val="dk2"/>
              </a:solidFill>
              <a:latin typeface="Nunito"/>
              <a:ea typeface="Nunito"/>
              <a:cs typeface="Nunito"/>
              <a:sym typeface="Nunito"/>
            </a:endParaRPr>
          </a:p>
        </p:txBody>
      </p:sp>
      <p:cxnSp>
        <p:nvCxnSpPr>
          <p:cNvPr id="331" name="Google Shape;331;p7"/>
          <p:cNvCxnSpPr>
            <a:stCxn id="330" idx="2"/>
            <a:endCxn id="327" idx="0"/>
          </p:cNvCxnSpPr>
          <p:nvPr/>
        </p:nvCxnSpPr>
        <p:spPr>
          <a:xfrm flipH="1" rot="-5400000">
            <a:off x="1558925" y="2762025"/>
            <a:ext cx="329400" cy="600"/>
          </a:xfrm>
          <a:prstGeom prst="curvedConnector3">
            <a:avLst>
              <a:gd fmla="val 50006" name="adj1"/>
            </a:avLst>
          </a:prstGeom>
          <a:noFill/>
          <a:ln cap="flat" cmpd="sng" w="9525">
            <a:solidFill>
              <a:schemeClr val="dk2"/>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8"/>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6160"/>
              <a:buNone/>
            </a:pPr>
            <a:r>
              <a:rPr lang="en" sz="2466"/>
              <a:t>1. Which positions command the highest market values?</a:t>
            </a:r>
            <a:endParaRPr sz="2466"/>
          </a:p>
          <a:p>
            <a:pPr indent="0" lvl="0" marL="0" rtl="0" algn="l">
              <a:lnSpc>
                <a:spcPct val="100000"/>
              </a:lnSpc>
              <a:spcBef>
                <a:spcPts val="0"/>
              </a:spcBef>
              <a:spcAft>
                <a:spcPts val="0"/>
              </a:spcAft>
              <a:buSzPct val="111111"/>
              <a:buNone/>
            </a:pPr>
            <a:r>
              <a:t/>
            </a:r>
            <a:endParaRPr/>
          </a:p>
        </p:txBody>
      </p:sp>
      <p:sp>
        <p:nvSpPr>
          <p:cNvPr id="337" name="Google Shape;337;p8"/>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rgbClr val="658F90"/>
                </a:solidFill>
                <a:latin typeface="Maven Pro"/>
                <a:ea typeface="Maven Pro"/>
                <a:cs typeface="Maven Pro"/>
                <a:sym typeface="Maven Pro"/>
              </a:rPr>
              <a:t>Market Value &amp; Player Worth 💎</a:t>
            </a:r>
            <a:endParaRPr b="0" i="0" sz="700" u="none" cap="none" strike="noStrike">
              <a:solidFill>
                <a:srgbClr val="658F90"/>
              </a:solidFill>
              <a:latin typeface="Arial"/>
              <a:ea typeface="Arial"/>
              <a:cs typeface="Arial"/>
              <a:sym typeface="Arial"/>
            </a:endParaRPr>
          </a:p>
        </p:txBody>
      </p:sp>
      <p:pic>
        <p:nvPicPr>
          <p:cNvPr id="338" name="Google Shape;338;p8"/>
          <p:cNvPicPr preferRelativeResize="0"/>
          <p:nvPr/>
        </p:nvPicPr>
        <p:blipFill rotWithShape="1">
          <a:blip r:embed="rId3">
            <a:alphaModFix/>
          </a:blip>
          <a:srcRect b="0" l="0" r="0" t="0"/>
          <a:stretch/>
        </p:blipFill>
        <p:spPr>
          <a:xfrm>
            <a:off x="4177475" y="1597875"/>
            <a:ext cx="4612146" cy="3240826"/>
          </a:xfrm>
          <a:prstGeom prst="rect">
            <a:avLst/>
          </a:prstGeom>
          <a:noFill/>
          <a:ln cap="flat" cmpd="sng" w="9525">
            <a:solidFill>
              <a:srgbClr val="1F1F1F"/>
            </a:solidFill>
            <a:prstDash val="solid"/>
            <a:round/>
            <a:headEnd len="sm" w="sm" type="none"/>
            <a:tailEnd len="sm" w="sm" type="none"/>
          </a:ln>
        </p:spPr>
      </p:pic>
      <p:sp>
        <p:nvSpPr>
          <p:cNvPr id="339" name="Google Shape;339;p8"/>
          <p:cNvSpPr txBox="1"/>
          <p:nvPr/>
        </p:nvSpPr>
        <p:spPr>
          <a:xfrm>
            <a:off x="478800" y="1597875"/>
            <a:ext cx="3594900" cy="3240900"/>
          </a:xfrm>
          <a:prstGeom prst="rect">
            <a:avLst/>
          </a:prstGeom>
          <a:noFill/>
          <a:ln>
            <a:noFill/>
          </a:ln>
        </p:spPr>
        <p:txBody>
          <a:bodyPr anchorCtr="0" anchor="t" bIns="91425" lIns="91425" spcFirstLastPara="1" rIns="91425" wrap="square" tIns="91425">
            <a:noAutofit/>
          </a:bodyPr>
          <a:lstStyle/>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6A9955"/>
                </a:solidFill>
                <a:highlight>
                  <a:srgbClr val="1F1F1F"/>
                </a:highlight>
                <a:latin typeface="Courier New"/>
                <a:ea typeface="Courier New"/>
                <a:cs typeface="Courier New"/>
                <a:sym typeface="Courier New"/>
              </a:rPr>
              <a:t># VIZ 1 — Distribution of market values (log scale)</a:t>
            </a:r>
            <a:endParaRPr b="1" i="0" sz="400" u="none" cap="none" strike="noStrike">
              <a:solidFill>
                <a:srgbClr val="6A9955"/>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ax1</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fig</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add_subplot</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B5CEA8"/>
                </a:solidFill>
                <a:highlight>
                  <a:srgbClr val="1F1F1F"/>
                </a:highlight>
                <a:latin typeface="Courier New"/>
                <a:ea typeface="Courier New"/>
                <a:cs typeface="Courier New"/>
                <a:sym typeface="Courier New"/>
              </a:rPr>
              <a:t>4</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B5CEA8"/>
                </a:solidFill>
                <a:highlight>
                  <a:srgbClr val="1F1F1F"/>
                </a:highlight>
                <a:latin typeface="Courier New"/>
                <a:ea typeface="Courier New"/>
                <a:cs typeface="Courier New"/>
                <a:sym typeface="Courier New"/>
              </a:rPr>
              <a:t>2</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B5CEA8"/>
                </a:solidFill>
                <a:highlight>
                  <a:srgbClr val="1F1F1F"/>
                </a:highlight>
                <a:latin typeface="Courier New"/>
                <a:ea typeface="Courier New"/>
                <a:cs typeface="Courier New"/>
                <a:sym typeface="Courier New"/>
              </a:rPr>
              <a:t>1</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4EC9B0"/>
                </a:solidFill>
                <a:highlight>
                  <a:srgbClr val="1F1F1F"/>
                </a:highlight>
                <a:latin typeface="Courier New"/>
                <a:ea typeface="Courier New"/>
                <a:cs typeface="Courier New"/>
                <a:sym typeface="Courier New"/>
              </a:rPr>
              <a:t>sns</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histplot</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df</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'value_m'</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bins</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B5CEA8"/>
                </a:solidFill>
                <a:highlight>
                  <a:srgbClr val="1F1F1F"/>
                </a:highlight>
                <a:latin typeface="Courier New"/>
                <a:ea typeface="Courier New"/>
                <a:cs typeface="Courier New"/>
                <a:sym typeface="Courier New"/>
              </a:rPr>
              <a:t>80</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log_scale</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569CD6"/>
                </a:solidFill>
                <a:highlight>
                  <a:srgbClr val="1F1F1F"/>
                </a:highlight>
                <a:latin typeface="Courier New"/>
                <a:ea typeface="Courier New"/>
                <a:cs typeface="Courier New"/>
                <a:sym typeface="Courier New"/>
              </a:rPr>
              <a:t>True</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kde</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569CD6"/>
                </a:solidFill>
                <a:highlight>
                  <a:srgbClr val="1F1F1F"/>
                </a:highlight>
                <a:latin typeface="Courier New"/>
                <a:ea typeface="Courier New"/>
                <a:cs typeface="Courier New"/>
                <a:sym typeface="Courier New"/>
              </a:rPr>
              <a:t>True</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ax</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ax1</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ax1</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set_title</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"Distribution of Player Market Values (€M, log scale)"</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fontsize</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B5CEA8"/>
                </a:solidFill>
                <a:highlight>
                  <a:srgbClr val="1F1F1F"/>
                </a:highlight>
                <a:latin typeface="Courier New"/>
                <a:ea typeface="Courier New"/>
                <a:cs typeface="Courier New"/>
                <a:sym typeface="Courier New"/>
              </a:rPr>
              <a:t>12</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fontweight</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'bold'</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ax1</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set_xlabel</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"Market Value (€M)"</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ax1</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set_ylabel</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"Count"</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6A9955"/>
                </a:solidFill>
                <a:highlight>
                  <a:srgbClr val="1F1F1F"/>
                </a:highlight>
                <a:latin typeface="Courier New"/>
                <a:ea typeface="Courier New"/>
                <a:cs typeface="Courier New"/>
                <a:sym typeface="Courier New"/>
              </a:rPr>
              <a:t># VIZ 2 — Avg market value by main position</a:t>
            </a:r>
            <a:endParaRPr b="1" i="0" sz="400" u="none" cap="none" strike="noStrike">
              <a:solidFill>
                <a:srgbClr val="6A9955"/>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ax2</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fig</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add_subplot</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B5CEA8"/>
                </a:solidFill>
                <a:highlight>
                  <a:srgbClr val="1F1F1F"/>
                </a:highlight>
                <a:latin typeface="Courier New"/>
                <a:ea typeface="Courier New"/>
                <a:cs typeface="Courier New"/>
                <a:sym typeface="Courier New"/>
              </a:rPr>
              <a:t>4</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B5CEA8"/>
                </a:solidFill>
                <a:highlight>
                  <a:srgbClr val="1F1F1F"/>
                </a:highlight>
                <a:latin typeface="Courier New"/>
                <a:ea typeface="Courier New"/>
                <a:cs typeface="Courier New"/>
                <a:sym typeface="Courier New"/>
              </a:rPr>
              <a:t>2</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B5CEA8"/>
                </a:solidFill>
                <a:highlight>
                  <a:srgbClr val="1F1F1F"/>
                </a:highlight>
                <a:latin typeface="Courier New"/>
                <a:ea typeface="Courier New"/>
                <a:cs typeface="Courier New"/>
                <a:sym typeface="Courier New"/>
              </a:rPr>
              <a:t>2</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main_pos_avg</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df</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groupby</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'position'</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'value_m'</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mean</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sort_values</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ascending</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569CD6"/>
                </a:solidFill>
                <a:highlight>
                  <a:srgbClr val="1F1F1F"/>
                </a:highlight>
                <a:latin typeface="Courier New"/>
                <a:ea typeface="Courier New"/>
                <a:cs typeface="Courier New"/>
                <a:sym typeface="Courier New"/>
              </a:rPr>
              <a:t>False</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reset_index</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4EC9B0"/>
                </a:solidFill>
                <a:highlight>
                  <a:srgbClr val="1F1F1F"/>
                </a:highlight>
                <a:latin typeface="Courier New"/>
                <a:ea typeface="Courier New"/>
                <a:cs typeface="Courier New"/>
                <a:sym typeface="Courier New"/>
              </a:rPr>
              <a:t>sns</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barplot</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data</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main_pos_avg</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x</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'position'</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y</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'value_m'</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ax</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ax2</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4EC9B0"/>
                </a:solidFill>
                <a:highlight>
                  <a:srgbClr val="1F1F1F"/>
                </a:highlight>
                <a:latin typeface="Courier New"/>
                <a:ea typeface="Courier New"/>
                <a:cs typeface="Courier New"/>
                <a:sym typeface="Courier New"/>
              </a:rPr>
              <a:t>plt</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setp</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ax2</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get_xticklabels</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rotation</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B5CEA8"/>
                </a:solidFill>
                <a:highlight>
                  <a:srgbClr val="1F1F1F"/>
                </a:highlight>
                <a:latin typeface="Courier New"/>
                <a:ea typeface="Courier New"/>
                <a:cs typeface="Courier New"/>
                <a:sym typeface="Courier New"/>
              </a:rPr>
              <a:t>45</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ha</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'right'</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ax2</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set_title</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"Avg Market Value by Position (€M)"</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fontsize</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B5CEA8"/>
                </a:solidFill>
                <a:highlight>
                  <a:srgbClr val="1F1F1F"/>
                </a:highlight>
                <a:latin typeface="Courier New"/>
                <a:ea typeface="Courier New"/>
                <a:cs typeface="Courier New"/>
                <a:sym typeface="Courier New"/>
              </a:rPr>
              <a:t>12</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fontweight</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'bold'</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ax2</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set_xlabel</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"Position"</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ax2</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set_ylabel</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"Avg Value (€M)"</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6A9955"/>
                </a:solidFill>
                <a:highlight>
                  <a:srgbClr val="1F1F1F"/>
                </a:highlight>
                <a:latin typeface="Courier New"/>
                <a:ea typeface="Courier New"/>
                <a:cs typeface="Courier New"/>
                <a:sym typeface="Courier New"/>
              </a:rPr>
              <a:t># VIZ 3 — Avg market value by position group, stacked by foot</a:t>
            </a:r>
            <a:endParaRPr b="1" i="0" sz="400" u="none" cap="none" strike="noStrike">
              <a:solidFill>
                <a:srgbClr val="6A9955"/>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ax3</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fig</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add_subplot</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B5CEA8"/>
                </a:solidFill>
                <a:highlight>
                  <a:srgbClr val="1F1F1F"/>
                </a:highlight>
                <a:latin typeface="Courier New"/>
                <a:ea typeface="Courier New"/>
                <a:cs typeface="Courier New"/>
                <a:sym typeface="Courier New"/>
              </a:rPr>
              <a:t>4</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B5CEA8"/>
                </a:solidFill>
                <a:highlight>
                  <a:srgbClr val="1F1F1F"/>
                </a:highlight>
                <a:latin typeface="Courier New"/>
                <a:ea typeface="Courier New"/>
                <a:cs typeface="Courier New"/>
                <a:sym typeface="Courier New"/>
              </a:rPr>
              <a:t>2</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B5CEA8"/>
                </a:solidFill>
                <a:highlight>
                  <a:srgbClr val="1F1F1F"/>
                </a:highlight>
                <a:latin typeface="Courier New"/>
                <a:ea typeface="Courier New"/>
                <a:cs typeface="Courier New"/>
                <a:sym typeface="Courier New"/>
              </a:rPr>
              <a:t>3</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foot_pos</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df</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groupby</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'main_position'</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CE9178"/>
                </a:solidFill>
                <a:highlight>
                  <a:srgbClr val="1F1F1F"/>
                </a:highlight>
                <a:latin typeface="Courier New"/>
                <a:ea typeface="Courier New"/>
                <a:cs typeface="Courier New"/>
                <a:sym typeface="Courier New"/>
              </a:rPr>
              <a:t>'foot'</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'value_m'</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mean</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reset_index</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pivot3</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foot_pos</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pivot</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index</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'main_position'</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columns</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'foot'</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values</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'value_m'</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fillna</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B5CEA8"/>
                </a:solidFill>
                <a:highlight>
                  <a:srgbClr val="1F1F1F"/>
                </a:highlight>
                <a:latin typeface="Courier New"/>
                <a:ea typeface="Courier New"/>
                <a:cs typeface="Courier New"/>
                <a:sym typeface="Courier New"/>
              </a:rPr>
              <a:t>0</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pivot3</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pivot3</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loc</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pivot3</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sum</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axis</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B5CEA8"/>
                </a:solidFill>
                <a:highlight>
                  <a:srgbClr val="1F1F1F"/>
                </a:highlight>
                <a:latin typeface="Courier New"/>
                <a:ea typeface="Courier New"/>
                <a:cs typeface="Courier New"/>
                <a:sym typeface="Courier New"/>
              </a:rPr>
              <a:t>1</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sort_values</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ascending</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569CD6"/>
                </a:solidFill>
                <a:highlight>
                  <a:srgbClr val="1F1F1F"/>
                </a:highlight>
                <a:latin typeface="Courier New"/>
                <a:ea typeface="Courier New"/>
                <a:cs typeface="Courier New"/>
                <a:sym typeface="Courier New"/>
              </a:rPr>
              <a:t>False</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index</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pivot3</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plot</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kind</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'bar'</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stacked</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569CD6"/>
                </a:solidFill>
                <a:highlight>
                  <a:srgbClr val="1F1F1F"/>
                </a:highlight>
                <a:latin typeface="Courier New"/>
                <a:ea typeface="Courier New"/>
                <a:cs typeface="Courier New"/>
                <a:sym typeface="Courier New"/>
              </a:rPr>
              <a:t>True</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colormap</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'tab20'</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ax</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ax3</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4EC9B0"/>
                </a:solidFill>
                <a:highlight>
                  <a:srgbClr val="1F1F1F"/>
                </a:highlight>
                <a:latin typeface="Courier New"/>
                <a:ea typeface="Courier New"/>
                <a:cs typeface="Courier New"/>
                <a:sym typeface="Courier New"/>
              </a:rPr>
              <a:t>plt</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setp</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ax3</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get_xticklabels</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rotation</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B5CEA8"/>
                </a:solidFill>
                <a:highlight>
                  <a:srgbClr val="1F1F1F"/>
                </a:highlight>
                <a:latin typeface="Courier New"/>
                <a:ea typeface="Courier New"/>
                <a:cs typeface="Courier New"/>
                <a:sym typeface="Courier New"/>
              </a:rPr>
              <a:t>45</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ha</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'right'</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ax3</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set_title</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"Avg Market Value by Main Position, stacked by Foot (€M)"</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fontsize</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B5CEA8"/>
                </a:solidFill>
                <a:highlight>
                  <a:srgbClr val="1F1F1F"/>
                </a:highlight>
                <a:latin typeface="Courier New"/>
                <a:ea typeface="Courier New"/>
                <a:cs typeface="Courier New"/>
                <a:sym typeface="Courier New"/>
              </a:rPr>
              <a:t>12</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fontweight</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'bold'</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ax3</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set_xlabel</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"Main Position"</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ax3</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set_ylabel</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"Avg Value (€M)"</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ax3</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legend</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title</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"Foot"</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bbox_to_anchor</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B5CEA8"/>
                </a:solidFill>
                <a:highlight>
                  <a:srgbClr val="1F1F1F"/>
                </a:highlight>
                <a:latin typeface="Courier New"/>
                <a:ea typeface="Courier New"/>
                <a:cs typeface="Courier New"/>
                <a:sym typeface="Courier New"/>
              </a:rPr>
              <a:t>1.05</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B5CEA8"/>
                </a:solidFill>
                <a:highlight>
                  <a:srgbClr val="1F1F1F"/>
                </a:highlight>
                <a:latin typeface="Courier New"/>
                <a:ea typeface="Courier New"/>
                <a:cs typeface="Courier New"/>
                <a:sym typeface="Courier New"/>
              </a:rPr>
              <a:t>1</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loc</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'upper left'</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6A9955"/>
                </a:solidFill>
                <a:highlight>
                  <a:srgbClr val="1F1F1F"/>
                </a:highlight>
                <a:latin typeface="Courier New"/>
                <a:ea typeface="Courier New"/>
                <a:cs typeface="Courier New"/>
                <a:sym typeface="Courier New"/>
              </a:rPr>
              <a:t># VIZ 4 — Avg market value by position group + foot (grouped)</a:t>
            </a:r>
            <a:endParaRPr b="1" i="0" sz="400" u="none" cap="none" strike="noStrike">
              <a:solidFill>
                <a:srgbClr val="6A9955"/>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ax4</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fig</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add_subplot</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B5CEA8"/>
                </a:solidFill>
                <a:highlight>
                  <a:srgbClr val="1F1F1F"/>
                </a:highlight>
                <a:latin typeface="Courier New"/>
                <a:ea typeface="Courier New"/>
                <a:cs typeface="Courier New"/>
                <a:sym typeface="Courier New"/>
              </a:rPr>
              <a:t>4</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B5CEA8"/>
                </a:solidFill>
                <a:highlight>
                  <a:srgbClr val="1F1F1F"/>
                </a:highlight>
                <a:latin typeface="Courier New"/>
                <a:ea typeface="Courier New"/>
                <a:cs typeface="Courier New"/>
                <a:sym typeface="Courier New"/>
              </a:rPr>
              <a:t>2</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B5CEA8"/>
                </a:solidFill>
                <a:highlight>
                  <a:srgbClr val="1F1F1F"/>
                </a:highlight>
                <a:latin typeface="Courier New"/>
                <a:ea typeface="Courier New"/>
                <a:cs typeface="Courier New"/>
                <a:sym typeface="Courier New"/>
              </a:rPr>
              <a:t>4</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pos_foot</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df</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groupby</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'main_position'</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CE9178"/>
                </a:solidFill>
                <a:highlight>
                  <a:srgbClr val="1F1F1F"/>
                </a:highlight>
                <a:latin typeface="Courier New"/>
                <a:ea typeface="Courier New"/>
                <a:cs typeface="Courier New"/>
                <a:sym typeface="Courier New"/>
              </a:rPr>
              <a:t>'foot'</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'value_m'</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mean</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reset_index</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4EC9B0"/>
                </a:solidFill>
                <a:highlight>
                  <a:srgbClr val="1F1F1F"/>
                </a:highlight>
                <a:latin typeface="Courier New"/>
                <a:ea typeface="Courier New"/>
                <a:cs typeface="Courier New"/>
                <a:sym typeface="Courier New"/>
              </a:rPr>
              <a:t>sns</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barplot</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data</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pos_foot</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x</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'main_position'</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y</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'value_m'</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hue</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'foot'</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palette</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'tab10'</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ax</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ax4</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4EC9B0"/>
                </a:solidFill>
                <a:highlight>
                  <a:srgbClr val="1F1F1F"/>
                </a:highlight>
                <a:latin typeface="Courier New"/>
                <a:ea typeface="Courier New"/>
                <a:cs typeface="Courier New"/>
                <a:sym typeface="Courier New"/>
              </a:rPr>
              <a:t>plt</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setp</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ax4</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get_xticklabels</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rotation</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B5CEA8"/>
                </a:solidFill>
                <a:highlight>
                  <a:srgbClr val="1F1F1F"/>
                </a:highlight>
                <a:latin typeface="Courier New"/>
                <a:ea typeface="Courier New"/>
                <a:cs typeface="Courier New"/>
                <a:sym typeface="Courier New"/>
              </a:rPr>
              <a:t>45</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ha</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'right'</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ax4</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set_title</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"Avg Market Value by Main Position and Foot Preference (€M)"</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fontsize</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B5CEA8"/>
                </a:solidFill>
                <a:highlight>
                  <a:srgbClr val="1F1F1F"/>
                </a:highlight>
                <a:latin typeface="Courier New"/>
                <a:ea typeface="Courier New"/>
                <a:cs typeface="Courier New"/>
                <a:sym typeface="Courier New"/>
              </a:rPr>
              <a:t>12</a:t>
            </a:r>
            <a:r>
              <a:rPr b="1" i="0" lang="en" sz="400" u="none" cap="none" strike="noStrike">
                <a:solidFill>
                  <a:srgbClr val="CCCCCC"/>
                </a:solidFill>
                <a:highlight>
                  <a:srgbClr val="1F1F1F"/>
                </a:highlight>
                <a:latin typeface="Courier New"/>
                <a:ea typeface="Courier New"/>
                <a:cs typeface="Courier New"/>
                <a:sym typeface="Courier New"/>
              </a:rPr>
              <a:t>, </a:t>
            </a:r>
            <a:r>
              <a:rPr b="1" i="0" lang="en" sz="400" u="none" cap="none" strike="noStrike">
                <a:solidFill>
                  <a:srgbClr val="9CDCFE"/>
                </a:solidFill>
                <a:highlight>
                  <a:srgbClr val="1F1F1F"/>
                </a:highlight>
                <a:latin typeface="Courier New"/>
                <a:ea typeface="Courier New"/>
                <a:cs typeface="Courier New"/>
                <a:sym typeface="Courier New"/>
              </a:rPr>
              <a:t>fontweight</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'bold'</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ax4</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set_xlabel</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"Main Position"</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ax4</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set_ylabel</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"Avg Value (€M)"</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00"/>
              <a:buFont typeface="Arial"/>
              <a:buNone/>
            </a:pPr>
            <a:r>
              <a:rPr b="1" i="0" lang="en" sz="400" u="none" cap="none" strike="noStrike">
                <a:solidFill>
                  <a:srgbClr val="9CDCFE"/>
                </a:solidFill>
                <a:highlight>
                  <a:srgbClr val="1F1F1F"/>
                </a:highlight>
                <a:latin typeface="Courier New"/>
                <a:ea typeface="Courier New"/>
                <a:cs typeface="Courier New"/>
                <a:sym typeface="Courier New"/>
              </a:rPr>
              <a:t>ax4</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DCDCAA"/>
                </a:solidFill>
                <a:highlight>
                  <a:srgbClr val="1F1F1F"/>
                </a:highlight>
                <a:latin typeface="Courier New"/>
                <a:ea typeface="Courier New"/>
                <a:cs typeface="Courier New"/>
                <a:sym typeface="Courier New"/>
              </a:rPr>
              <a:t>legend</a:t>
            </a:r>
            <a:r>
              <a:rPr b="1" i="0" lang="en" sz="400" u="none" cap="none" strike="noStrike">
                <a:solidFill>
                  <a:srgbClr val="CCCCCC"/>
                </a:solidFill>
                <a:highlight>
                  <a:srgbClr val="1F1F1F"/>
                </a:highlight>
                <a:latin typeface="Courier New"/>
                <a:ea typeface="Courier New"/>
                <a:cs typeface="Courier New"/>
                <a:sym typeface="Courier New"/>
              </a:rPr>
              <a:t>(</a:t>
            </a:r>
            <a:r>
              <a:rPr b="1" i="0" lang="en" sz="400" u="none" cap="none" strike="noStrike">
                <a:solidFill>
                  <a:srgbClr val="9CDCFE"/>
                </a:solidFill>
                <a:highlight>
                  <a:srgbClr val="1F1F1F"/>
                </a:highlight>
                <a:latin typeface="Courier New"/>
                <a:ea typeface="Courier New"/>
                <a:cs typeface="Courier New"/>
                <a:sym typeface="Courier New"/>
              </a:rPr>
              <a:t>title</a:t>
            </a:r>
            <a:r>
              <a:rPr b="1" i="0" lang="en" sz="400" u="none" cap="none" strike="noStrike">
                <a:solidFill>
                  <a:srgbClr val="D4D4D4"/>
                </a:solidFill>
                <a:highlight>
                  <a:srgbClr val="1F1F1F"/>
                </a:highlight>
                <a:latin typeface="Courier New"/>
                <a:ea typeface="Courier New"/>
                <a:cs typeface="Courier New"/>
                <a:sym typeface="Courier New"/>
              </a:rPr>
              <a:t>=</a:t>
            </a:r>
            <a:r>
              <a:rPr b="1" i="0" lang="en" sz="400" u="none" cap="none" strike="noStrike">
                <a:solidFill>
                  <a:srgbClr val="CE9178"/>
                </a:solidFill>
                <a:highlight>
                  <a:srgbClr val="1F1F1F"/>
                </a:highlight>
                <a:latin typeface="Courier New"/>
                <a:ea typeface="Courier New"/>
                <a:cs typeface="Courier New"/>
                <a:sym typeface="Courier New"/>
              </a:rPr>
              <a:t>"Foot"</a:t>
            </a:r>
            <a:r>
              <a:rPr b="1" i="0" lang="en" sz="400" u="none" cap="none" strike="noStrike">
                <a:solidFill>
                  <a:srgbClr val="CCCCCC"/>
                </a:solidFill>
                <a:highlight>
                  <a:srgbClr val="1F1F1F"/>
                </a:highlight>
                <a:latin typeface="Courier New"/>
                <a:ea typeface="Courier New"/>
                <a:cs typeface="Courier New"/>
                <a:sym typeface="Courier New"/>
              </a:rPr>
              <a:t>)</a:t>
            </a:r>
            <a:endParaRPr b="1" i="0" sz="4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400"/>
              <a:buFont typeface="Arial"/>
              <a:buNone/>
            </a:pPr>
            <a:r>
              <a:t/>
            </a:r>
            <a:endParaRPr b="1" i="0" sz="400" u="none" cap="none" strike="noStrike">
              <a:solidFill>
                <a:schemeClr val="dk2"/>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9"/>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sz="2466"/>
              <a:t>2. Has this shifted over the last decade?</a:t>
            </a:r>
            <a:endParaRPr sz="2466"/>
          </a:p>
          <a:p>
            <a:pPr indent="0" lvl="0" marL="0" rtl="0" algn="l">
              <a:lnSpc>
                <a:spcPct val="100000"/>
              </a:lnSpc>
              <a:spcBef>
                <a:spcPts val="0"/>
              </a:spcBef>
              <a:spcAft>
                <a:spcPts val="0"/>
              </a:spcAft>
              <a:buSzPts val="2800"/>
              <a:buNone/>
            </a:pPr>
            <a:r>
              <a:t/>
            </a:r>
            <a:endParaRPr/>
          </a:p>
        </p:txBody>
      </p:sp>
      <p:sp>
        <p:nvSpPr>
          <p:cNvPr id="345" name="Google Shape;345;p9"/>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rgbClr val="658F90"/>
                </a:solidFill>
                <a:latin typeface="Maven Pro"/>
                <a:ea typeface="Maven Pro"/>
                <a:cs typeface="Maven Pro"/>
                <a:sym typeface="Maven Pro"/>
              </a:rPr>
              <a:t>Market Value &amp; Player Worth 💎</a:t>
            </a:r>
            <a:endParaRPr b="0" i="0" sz="700" u="none" cap="none" strike="noStrike">
              <a:solidFill>
                <a:srgbClr val="658F90"/>
              </a:solidFill>
              <a:latin typeface="Arial"/>
              <a:ea typeface="Arial"/>
              <a:cs typeface="Arial"/>
              <a:sym typeface="Arial"/>
            </a:endParaRPr>
          </a:p>
        </p:txBody>
      </p:sp>
      <p:pic>
        <p:nvPicPr>
          <p:cNvPr id="346" name="Google Shape;346;p9"/>
          <p:cNvPicPr preferRelativeResize="0"/>
          <p:nvPr/>
        </p:nvPicPr>
        <p:blipFill rotWithShape="1">
          <a:blip r:embed="rId3">
            <a:alphaModFix/>
          </a:blip>
          <a:srcRect b="0" l="0" r="0" t="0"/>
          <a:stretch/>
        </p:blipFill>
        <p:spPr>
          <a:xfrm>
            <a:off x="667350" y="3073725"/>
            <a:ext cx="2941500" cy="1079567"/>
          </a:xfrm>
          <a:prstGeom prst="rect">
            <a:avLst/>
          </a:prstGeom>
          <a:noFill/>
          <a:ln cap="flat" cmpd="sng" w="9525">
            <a:solidFill>
              <a:schemeClr val="dk2"/>
            </a:solidFill>
            <a:prstDash val="solid"/>
            <a:round/>
            <a:headEnd len="sm" w="sm" type="none"/>
            <a:tailEnd len="sm" w="sm" type="none"/>
          </a:ln>
        </p:spPr>
      </p:pic>
      <p:sp>
        <p:nvSpPr>
          <p:cNvPr id="347" name="Google Shape;347;p9"/>
          <p:cNvSpPr txBox="1"/>
          <p:nvPr/>
        </p:nvSpPr>
        <p:spPr>
          <a:xfrm>
            <a:off x="667350" y="2108550"/>
            <a:ext cx="2941500" cy="531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Nunito"/>
                <a:ea typeface="Nunito"/>
                <a:cs typeface="Nunito"/>
                <a:sym typeface="Nunito"/>
              </a:rPr>
              <a:t>Has it shifted? Avg value per main position</a:t>
            </a:r>
            <a:endParaRPr b="0" i="0" sz="1300" u="none" cap="none" strike="noStrike">
              <a:solidFill>
                <a:schemeClr val="dk2"/>
              </a:solidFill>
              <a:latin typeface="Nunito"/>
              <a:ea typeface="Nunito"/>
              <a:cs typeface="Nunito"/>
              <a:sym typeface="Nunito"/>
            </a:endParaRPr>
          </a:p>
        </p:txBody>
      </p:sp>
      <p:pic>
        <p:nvPicPr>
          <p:cNvPr id="348" name="Google Shape;348;p9"/>
          <p:cNvPicPr preferRelativeResize="0"/>
          <p:nvPr/>
        </p:nvPicPr>
        <p:blipFill rotWithShape="1">
          <a:blip r:embed="rId4">
            <a:alphaModFix/>
          </a:blip>
          <a:srcRect b="0" l="0" r="0" t="0"/>
          <a:stretch/>
        </p:blipFill>
        <p:spPr>
          <a:xfrm>
            <a:off x="4836650" y="1773313"/>
            <a:ext cx="3016350" cy="2681799"/>
          </a:xfrm>
          <a:prstGeom prst="rect">
            <a:avLst/>
          </a:prstGeom>
          <a:noFill/>
          <a:ln>
            <a:noFill/>
          </a:ln>
        </p:spPr>
      </p:pic>
      <p:cxnSp>
        <p:nvCxnSpPr>
          <p:cNvPr id="349" name="Google Shape;349;p9"/>
          <p:cNvCxnSpPr>
            <a:stCxn id="347" idx="2"/>
            <a:endCxn id="346" idx="0"/>
          </p:cNvCxnSpPr>
          <p:nvPr/>
        </p:nvCxnSpPr>
        <p:spPr>
          <a:xfrm>
            <a:off x="2138100" y="2639850"/>
            <a:ext cx="0" cy="433800"/>
          </a:xfrm>
          <a:prstGeom prst="straightConnector1">
            <a:avLst/>
          </a:prstGeom>
          <a:noFill/>
          <a:ln cap="flat" cmpd="sng" w="9525">
            <a:solidFill>
              <a:schemeClr val="dk2"/>
            </a:solidFill>
            <a:prstDash val="solid"/>
            <a:round/>
            <a:headEnd len="sm" w="sm" type="none"/>
            <a:tailEnd len="sm" w="sm" type="none"/>
          </a:ln>
        </p:spPr>
      </p:cxnSp>
      <p:sp>
        <p:nvSpPr>
          <p:cNvPr id="350" name="Google Shape;350;p9"/>
          <p:cNvSpPr/>
          <p:nvPr/>
        </p:nvSpPr>
        <p:spPr>
          <a:xfrm>
            <a:off x="4006575" y="2781750"/>
            <a:ext cx="476400" cy="291900"/>
          </a:xfrm>
          <a:prstGeom prst="stripedRightArrow">
            <a:avLst>
              <a:gd fmla="val 5000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10"/>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sz="2466"/>
              <a:t>2. Has this shifted over the last decade?</a:t>
            </a:r>
            <a:endParaRPr sz="2466"/>
          </a:p>
          <a:p>
            <a:pPr indent="0" lvl="0" marL="0" rtl="0" algn="l">
              <a:lnSpc>
                <a:spcPct val="100000"/>
              </a:lnSpc>
              <a:spcBef>
                <a:spcPts val="0"/>
              </a:spcBef>
              <a:spcAft>
                <a:spcPts val="0"/>
              </a:spcAft>
              <a:buSzPts val="2800"/>
              <a:buNone/>
            </a:pPr>
            <a:r>
              <a:t/>
            </a:r>
            <a:endParaRPr/>
          </a:p>
        </p:txBody>
      </p:sp>
      <p:sp>
        <p:nvSpPr>
          <p:cNvPr id="356" name="Google Shape;356;p10"/>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rgbClr val="658F90"/>
                </a:solidFill>
                <a:latin typeface="Maven Pro"/>
                <a:ea typeface="Maven Pro"/>
                <a:cs typeface="Maven Pro"/>
                <a:sym typeface="Maven Pro"/>
              </a:rPr>
              <a:t>Market Value &amp; Player Worth 💎</a:t>
            </a:r>
            <a:endParaRPr b="0" i="0" sz="700" u="none" cap="none" strike="noStrike">
              <a:solidFill>
                <a:srgbClr val="658F90"/>
              </a:solidFill>
              <a:latin typeface="Arial"/>
              <a:ea typeface="Arial"/>
              <a:cs typeface="Arial"/>
              <a:sym typeface="Arial"/>
            </a:endParaRPr>
          </a:p>
        </p:txBody>
      </p:sp>
      <p:sp>
        <p:nvSpPr>
          <p:cNvPr id="357" name="Google Shape;357;p10"/>
          <p:cNvSpPr txBox="1"/>
          <p:nvPr/>
        </p:nvSpPr>
        <p:spPr>
          <a:xfrm>
            <a:off x="589188" y="1352050"/>
            <a:ext cx="7965600" cy="1728600"/>
          </a:xfrm>
          <a:prstGeom prst="rect">
            <a:avLst/>
          </a:prstGeom>
          <a:noFill/>
          <a:ln>
            <a:noFill/>
          </a:ln>
        </p:spPr>
        <p:txBody>
          <a:bodyPr anchorCtr="0" anchor="t" bIns="91425" lIns="91425" spcFirstLastPara="1" rIns="91425" wrap="square" tIns="91425">
            <a:noAutofit/>
          </a:bodyPr>
          <a:lstStyle/>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6A9955"/>
                </a:solidFill>
                <a:highlight>
                  <a:srgbClr val="1F1F1F"/>
                </a:highlight>
                <a:latin typeface="Courier New"/>
                <a:ea typeface="Courier New"/>
                <a:cs typeface="Courier New"/>
                <a:sym typeface="Courier New"/>
              </a:rPr>
              <a:t># VIZ 5 — Avg market value over time by main position (2015–2025)</a:t>
            </a:r>
            <a:endParaRPr b="1" i="0" sz="700" u="none" cap="none" strike="noStrike">
              <a:solidFill>
                <a:srgbClr val="6A9955"/>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9CDCFE"/>
                </a:solidFill>
                <a:highlight>
                  <a:srgbClr val="1F1F1F"/>
                </a:highlight>
                <a:latin typeface="Courier New"/>
                <a:ea typeface="Courier New"/>
                <a:cs typeface="Courier New"/>
                <a:sym typeface="Courier New"/>
              </a:rPr>
              <a:t>ax5</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fig</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DCDCAA"/>
                </a:solidFill>
                <a:highlight>
                  <a:srgbClr val="1F1F1F"/>
                </a:highlight>
                <a:latin typeface="Courier New"/>
                <a:ea typeface="Courier New"/>
                <a:cs typeface="Courier New"/>
                <a:sym typeface="Courier New"/>
              </a:rPr>
              <a:t>add_subplot</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B5CEA8"/>
                </a:solidFill>
                <a:highlight>
                  <a:srgbClr val="1F1F1F"/>
                </a:highlight>
                <a:latin typeface="Courier New"/>
                <a:ea typeface="Courier New"/>
                <a:cs typeface="Courier New"/>
                <a:sym typeface="Courier New"/>
              </a:rPr>
              <a:t>4</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B5CEA8"/>
                </a:solidFill>
                <a:highlight>
                  <a:srgbClr val="1F1F1F"/>
                </a:highlight>
                <a:latin typeface="Courier New"/>
                <a:ea typeface="Courier New"/>
                <a:cs typeface="Courier New"/>
                <a:sym typeface="Courier New"/>
              </a:rPr>
              <a:t>2</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B5CEA8"/>
                </a:solidFill>
                <a:highlight>
                  <a:srgbClr val="1F1F1F"/>
                </a:highlight>
                <a:latin typeface="Courier New"/>
                <a:ea typeface="Courier New"/>
                <a:cs typeface="Courier New"/>
                <a:sym typeface="Courier New"/>
              </a:rPr>
              <a:t>5</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B5CEA8"/>
                </a:solidFill>
                <a:highlight>
                  <a:srgbClr val="1F1F1F"/>
                </a:highlight>
                <a:latin typeface="Courier New"/>
                <a:ea typeface="Courier New"/>
                <a:cs typeface="Courier New"/>
                <a:sym typeface="Courier New"/>
              </a:rPr>
              <a:t>6</a:t>
            </a:r>
            <a:r>
              <a:rPr b="1" i="0" lang="en" sz="700" u="none" cap="none" strike="noStrike">
                <a:solidFill>
                  <a:srgbClr val="CCCCCC"/>
                </a:solidFill>
                <a:highlight>
                  <a:srgbClr val="1F1F1F"/>
                </a:highlight>
                <a:latin typeface="Courier New"/>
                <a:ea typeface="Courier New"/>
                <a:cs typeface="Courier New"/>
                <a:sym typeface="Courier New"/>
              </a:rPr>
              <a:t>))</a:t>
            </a:r>
            <a:endParaRPr b="1" i="0" sz="7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9CDCFE"/>
                </a:solidFill>
                <a:highlight>
                  <a:srgbClr val="1F1F1F"/>
                </a:highlight>
                <a:latin typeface="Courier New"/>
                <a:ea typeface="Courier New"/>
                <a:cs typeface="Courier New"/>
                <a:sym typeface="Courier New"/>
              </a:rPr>
              <a:t>time_pos</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df_hist</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9CDCFE"/>
                </a:solidFill>
                <a:highlight>
                  <a:srgbClr val="1F1F1F"/>
                </a:highlight>
                <a:latin typeface="Courier New"/>
                <a:ea typeface="Courier New"/>
                <a:cs typeface="Courier New"/>
                <a:sym typeface="Courier New"/>
              </a:rPr>
              <a:t>df_hist</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CE9178"/>
                </a:solidFill>
                <a:highlight>
                  <a:srgbClr val="1F1F1F"/>
                </a:highlight>
                <a:latin typeface="Courier New"/>
                <a:ea typeface="Courier New"/>
                <a:cs typeface="Courier New"/>
                <a:sym typeface="Courier New"/>
              </a:rPr>
              <a:t>'value_year'</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DCDCAA"/>
                </a:solidFill>
                <a:highlight>
                  <a:srgbClr val="1F1F1F"/>
                </a:highlight>
                <a:latin typeface="Courier New"/>
                <a:ea typeface="Courier New"/>
                <a:cs typeface="Courier New"/>
                <a:sym typeface="Courier New"/>
              </a:rPr>
              <a:t>isin</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9CDCFE"/>
                </a:solidFill>
                <a:highlight>
                  <a:srgbClr val="1F1F1F"/>
                </a:highlight>
                <a:latin typeface="Courier New"/>
                <a:ea typeface="Courier New"/>
                <a:cs typeface="Courier New"/>
                <a:sym typeface="Courier New"/>
              </a:rPr>
              <a:t>valid_years</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DCDCAA"/>
                </a:solidFill>
                <a:highlight>
                  <a:srgbClr val="1F1F1F"/>
                </a:highlight>
                <a:latin typeface="Courier New"/>
                <a:ea typeface="Courier New"/>
                <a:cs typeface="Courier New"/>
                <a:sym typeface="Courier New"/>
              </a:rPr>
              <a:t>&amp;</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9CDCFE"/>
                </a:solidFill>
                <a:highlight>
                  <a:srgbClr val="1F1F1F"/>
                </a:highlight>
                <a:latin typeface="Courier New"/>
                <a:ea typeface="Courier New"/>
                <a:cs typeface="Courier New"/>
                <a:sym typeface="Courier New"/>
              </a:rPr>
              <a:t>df_hist</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CE9178"/>
                </a:solidFill>
                <a:highlight>
                  <a:srgbClr val="1F1F1F"/>
                </a:highlight>
                <a:latin typeface="Courier New"/>
                <a:ea typeface="Courier New"/>
                <a:cs typeface="Courier New"/>
                <a:sym typeface="Courier New"/>
              </a:rPr>
              <a:t>'value_year'</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DCDCAA"/>
                </a:solidFill>
                <a:highlight>
                  <a:srgbClr val="1F1F1F"/>
                </a:highlight>
                <a:latin typeface="Courier New"/>
                <a:ea typeface="Courier New"/>
                <a:cs typeface="Courier New"/>
                <a:sym typeface="Courier New"/>
              </a:rPr>
              <a:t>&gt;=</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B5CEA8"/>
                </a:solidFill>
                <a:highlight>
                  <a:srgbClr val="1F1F1F"/>
                </a:highlight>
                <a:latin typeface="Courier New"/>
                <a:ea typeface="Courier New"/>
                <a:cs typeface="Courier New"/>
                <a:sym typeface="Courier New"/>
              </a:rPr>
              <a:t>2015</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DCDCAA"/>
                </a:solidFill>
                <a:highlight>
                  <a:srgbClr val="1F1F1F"/>
                </a:highlight>
                <a:latin typeface="Courier New"/>
                <a:ea typeface="Courier New"/>
                <a:cs typeface="Courier New"/>
                <a:sym typeface="Courier New"/>
              </a:rPr>
              <a:t>groupby</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CE9178"/>
                </a:solidFill>
                <a:highlight>
                  <a:srgbClr val="1F1F1F"/>
                </a:highlight>
                <a:latin typeface="Courier New"/>
                <a:ea typeface="Courier New"/>
                <a:cs typeface="Courier New"/>
                <a:sym typeface="Courier New"/>
              </a:rPr>
              <a:t>'value_year'</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CE9178"/>
                </a:solidFill>
                <a:highlight>
                  <a:srgbClr val="1F1F1F"/>
                </a:highlight>
                <a:latin typeface="Courier New"/>
                <a:ea typeface="Courier New"/>
                <a:cs typeface="Courier New"/>
                <a:sym typeface="Courier New"/>
              </a:rPr>
              <a:t>'main_position'</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CE9178"/>
                </a:solidFill>
                <a:highlight>
                  <a:srgbClr val="1F1F1F"/>
                </a:highlight>
                <a:latin typeface="Courier New"/>
                <a:ea typeface="Courier New"/>
                <a:cs typeface="Courier New"/>
                <a:sym typeface="Courier New"/>
              </a:rPr>
              <a:t>'value_m'</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DCDCAA"/>
                </a:solidFill>
                <a:highlight>
                  <a:srgbClr val="1F1F1F"/>
                </a:highlight>
                <a:latin typeface="Courier New"/>
                <a:ea typeface="Courier New"/>
                <a:cs typeface="Courier New"/>
                <a:sym typeface="Courier New"/>
              </a:rPr>
              <a:t>mean</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DCDCAA"/>
                </a:solidFill>
                <a:highlight>
                  <a:srgbClr val="1F1F1F"/>
                </a:highlight>
                <a:latin typeface="Courier New"/>
                <a:ea typeface="Courier New"/>
                <a:cs typeface="Courier New"/>
                <a:sym typeface="Courier New"/>
              </a:rPr>
              <a:t>reset_index</a:t>
            </a:r>
            <a:r>
              <a:rPr b="1" i="0" lang="en" sz="700" u="none" cap="none" strike="noStrike">
                <a:solidFill>
                  <a:srgbClr val="CCCCCC"/>
                </a:solidFill>
                <a:highlight>
                  <a:srgbClr val="1F1F1F"/>
                </a:highlight>
                <a:latin typeface="Courier New"/>
                <a:ea typeface="Courier New"/>
                <a:cs typeface="Courier New"/>
                <a:sym typeface="Courier New"/>
              </a:rPr>
              <a:t>())</a:t>
            </a:r>
            <a:endParaRPr b="1" i="0" sz="7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9CDCFE"/>
                </a:solidFill>
                <a:highlight>
                  <a:srgbClr val="1F1F1F"/>
                </a:highlight>
                <a:latin typeface="Courier New"/>
                <a:ea typeface="Courier New"/>
                <a:cs typeface="Courier New"/>
                <a:sym typeface="Courier New"/>
              </a:rPr>
              <a:t>pivot5</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time_pos</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DCDCAA"/>
                </a:solidFill>
                <a:highlight>
                  <a:srgbClr val="1F1F1F"/>
                </a:highlight>
                <a:latin typeface="Courier New"/>
                <a:ea typeface="Courier New"/>
                <a:cs typeface="Courier New"/>
                <a:sym typeface="Courier New"/>
              </a:rPr>
              <a:t>pivot</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9CDCFE"/>
                </a:solidFill>
                <a:highlight>
                  <a:srgbClr val="1F1F1F"/>
                </a:highlight>
                <a:latin typeface="Courier New"/>
                <a:ea typeface="Courier New"/>
                <a:cs typeface="Courier New"/>
                <a:sym typeface="Courier New"/>
              </a:rPr>
              <a:t>index</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E9178"/>
                </a:solidFill>
                <a:highlight>
                  <a:srgbClr val="1F1F1F"/>
                </a:highlight>
                <a:latin typeface="Courier New"/>
                <a:ea typeface="Courier New"/>
                <a:cs typeface="Courier New"/>
                <a:sym typeface="Courier New"/>
              </a:rPr>
              <a:t>'value_year'</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columns</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E9178"/>
                </a:solidFill>
                <a:highlight>
                  <a:srgbClr val="1F1F1F"/>
                </a:highlight>
                <a:latin typeface="Courier New"/>
                <a:ea typeface="Courier New"/>
                <a:cs typeface="Courier New"/>
                <a:sym typeface="Courier New"/>
              </a:rPr>
              <a:t>'main_position'</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values</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E9178"/>
                </a:solidFill>
                <a:highlight>
                  <a:srgbClr val="1F1F1F"/>
                </a:highlight>
                <a:latin typeface="Courier New"/>
                <a:ea typeface="Courier New"/>
                <a:cs typeface="Courier New"/>
                <a:sym typeface="Courier New"/>
              </a:rPr>
              <a:t>'value_m'</a:t>
            </a:r>
            <a:r>
              <a:rPr b="1" i="0" lang="en" sz="700" u="none" cap="none" strike="noStrike">
                <a:solidFill>
                  <a:srgbClr val="CCCCCC"/>
                </a:solidFill>
                <a:highlight>
                  <a:srgbClr val="1F1F1F"/>
                </a:highlight>
                <a:latin typeface="Courier New"/>
                <a:ea typeface="Courier New"/>
                <a:cs typeface="Courier New"/>
                <a:sym typeface="Courier New"/>
              </a:rPr>
              <a:t>)</a:t>
            </a:r>
            <a:endParaRPr b="1" i="0" sz="7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C586C0"/>
                </a:solidFill>
                <a:highlight>
                  <a:srgbClr val="1F1F1F"/>
                </a:highlight>
                <a:latin typeface="Courier New"/>
                <a:ea typeface="Courier New"/>
                <a:cs typeface="Courier New"/>
                <a:sym typeface="Courier New"/>
              </a:rPr>
              <a:t>for</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col</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DCDCAA"/>
                </a:solidFill>
                <a:highlight>
                  <a:srgbClr val="1F1F1F"/>
                </a:highlight>
                <a:latin typeface="Courier New"/>
                <a:ea typeface="Courier New"/>
                <a:cs typeface="Courier New"/>
                <a:sym typeface="Courier New"/>
              </a:rPr>
              <a:t>in</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pivot5</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9CDCFE"/>
                </a:solidFill>
                <a:highlight>
                  <a:srgbClr val="1F1F1F"/>
                </a:highlight>
                <a:latin typeface="Courier New"/>
                <a:ea typeface="Courier New"/>
                <a:cs typeface="Courier New"/>
                <a:sym typeface="Courier New"/>
              </a:rPr>
              <a:t>columns</a:t>
            </a:r>
            <a:r>
              <a:rPr b="1" i="0" lang="en" sz="700" u="none" cap="none" strike="noStrike">
                <a:solidFill>
                  <a:srgbClr val="CCCCCC"/>
                </a:solidFill>
                <a:highlight>
                  <a:srgbClr val="1F1F1F"/>
                </a:highlight>
                <a:latin typeface="Courier New"/>
                <a:ea typeface="Courier New"/>
                <a:cs typeface="Courier New"/>
                <a:sym typeface="Courier New"/>
              </a:rPr>
              <a:t>:</a:t>
            </a:r>
            <a:endParaRPr b="1" i="0" sz="7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ax5</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DCDCAA"/>
                </a:solidFill>
                <a:highlight>
                  <a:srgbClr val="1F1F1F"/>
                </a:highlight>
                <a:latin typeface="Courier New"/>
                <a:ea typeface="Courier New"/>
                <a:cs typeface="Courier New"/>
                <a:sym typeface="Courier New"/>
              </a:rPr>
              <a:t>plot</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9CDCFE"/>
                </a:solidFill>
                <a:highlight>
                  <a:srgbClr val="1F1F1F"/>
                </a:highlight>
                <a:latin typeface="Courier New"/>
                <a:ea typeface="Courier New"/>
                <a:cs typeface="Courier New"/>
                <a:sym typeface="Courier New"/>
              </a:rPr>
              <a:t>pivot5</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9CDCFE"/>
                </a:solidFill>
                <a:highlight>
                  <a:srgbClr val="1F1F1F"/>
                </a:highlight>
                <a:latin typeface="Courier New"/>
                <a:ea typeface="Courier New"/>
                <a:cs typeface="Courier New"/>
                <a:sym typeface="Courier New"/>
              </a:rPr>
              <a:t>index</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pivot5</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9CDCFE"/>
                </a:solidFill>
                <a:highlight>
                  <a:srgbClr val="1F1F1F"/>
                </a:highlight>
                <a:latin typeface="Courier New"/>
                <a:ea typeface="Courier New"/>
                <a:cs typeface="Courier New"/>
                <a:sym typeface="Courier New"/>
              </a:rPr>
              <a:t>col</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marker</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E9178"/>
                </a:solidFill>
                <a:highlight>
                  <a:srgbClr val="1F1F1F"/>
                </a:highlight>
                <a:latin typeface="Courier New"/>
                <a:ea typeface="Courier New"/>
                <a:cs typeface="Courier New"/>
                <a:sym typeface="Courier New"/>
              </a:rPr>
              <a:t>'o'</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label</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9CDCFE"/>
                </a:solidFill>
                <a:highlight>
                  <a:srgbClr val="1F1F1F"/>
                </a:highlight>
                <a:latin typeface="Courier New"/>
                <a:ea typeface="Courier New"/>
                <a:cs typeface="Courier New"/>
                <a:sym typeface="Courier New"/>
              </a:rPr>
              <a:t>col</a:t>
            </a:r>
            <a:r>
              <a:rPr b="1" i="0" lang="en" sz="700" u="none" cap="none" strike="noStrike">
                <a:solidFill>
                  <a:srgbClr val="CCCCCC"/>
                </a:solidFill>
                <a:highlight>
                  <a:srgbClr val="1F1F1F"/>
                </a:highlight>
                <a:latin typeface="Courier New"/>
                <a:ea typeface="Courier New"/>
                <a:cs typeface="Courier New"/>
                <a:sym typeface="Courier New"/>
              </a:rPr>
              <a:t>)</a:t>
            </a:r>
            <a:endParaRPr b="1" i="0" sz="7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9CDCFE"/>
                </a:solidFill>
                <a:highlight>
                  <a:srgbClr val="1F1F1F"/>
                </a:highlight>
                <a:latin typeface="Courier New"/>
                <a:ea typeface="Courier New"/>
                <a:cs typeface="Courier New"/>
                <a:sym typeface="Courier New"/>
              </a:rPr>
              <a:t>ax5</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DCDCAA"/>
                </a:solidFill>
                <a:highlight>
                  <a:srgbClr val="1F1F1F"/>
                </a:highlight>
                <a:latin typeface="Courier New"/>
                <a:ea typeface="Courier New"/>
                <a:cs typeface="Courier New"/>
                <a:sym typeface="Courier New"/>
              </a:rPr>
              <a:t>set_xticks</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9CDCFE"/>
                </a:solidFill>
                <a:highlight>
                  <a:srgbClr val="1F1F1F"/>
                </a:highlight>
                <a:latin typeface="Courier New"/>
                <a:ea typeface="Courier New"/>
                <a:cs typeface="Courier New"/>
                <a:sym typeface="Courier New"/>
              </a:rPr>
              <a:t>pivot5</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9CDCFE"/>
                </a:solidFill>
                <a:highlight>
                  <a:srgbClr val="1F1F1F"/>
                </a:highlight>
                <a:latin typeface="Courier New"/>
                <a:ea typeface="Courier New"/>
                <a:cs typeface="Courier New"/>
                <a:sym typeface="Courier New"/>
              </a:rPr>
              <a:t>index</a:t>
            </a:r>
            <a:r>
              <a:rPr b="1" i="0" lang="en" sz="700" u="none" cap="none" strike="noStrike">
                <a:solidFill>
                  <a:srgbClr val="CCCCCC"/>
                </a:solidFill>
                <a:highlight>
                  <a:srgbClr val="1F1F1F"/>
                </a:highlight>
                <a:latin typeface="Courier New"/>
                <a:ea typeface="Courier New"/>
                <a:cs typeface="Courier New"/>
                <a:sym typeface="Courier New"/>
              </a:rPr>
              <a:t>)</a:t>
            </a:r>
            <a:endParaRPr b="1" i="0" sz="7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4EC9B0"/>
                </a:solidFill>
                <a:highlight>
                  <a:srgbClr val="1F1F1F"/>
                </a:highlight>
                <a:latin typeface="Courier New"/>
                <a:ea typeface="Courier New"/>
                <a:cs typeface="Courier New"/>
                <a:sym typeface="Courier New"/>
              </a:rPr>
              <a:t>plt</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DCDCAA"/>
                </a:solidFill>
                <a:highlight>
                  <a:srgbClr val="1F1F1F"/>
                </a:highlight>
                <a:latin typeface="Courier New"/>
                <a:ea typeface="Courier New"/>
                <a:cs typeface="Courier New"/>
                <a:sym typeface="Courier New"/>
              </a:rPr>
              <a:t>setp</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9CDCFE"/>
                </a:solidFill>
                <a:highlight>
                  <a:srgbClr val="1F1F1F"/>
                </a:highlight>
                <a:latin typeface="Courier New"/>
                <a:ea typeface="Courier New"/>
                <a:cs typeface="Courier New"/>
                <a:sym typeface="Courier New"/>
              </a:rPr>
              <a:t>ax5</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DCDCAA"/>
                </a:solidFill>
                <a:highlight>
                  <a:srgbClr val="1F1F1F"/>
                </a:highlight>
                <a:latin typeface="Courier New"/>
                <a:ea typeface="Courier New"/>
                <a:cs typeface="Courier New"/>
                <a:sym typeface="Courier New"/>
              </a:rPr>
              <a:t>get_xticklabels</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rotation</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B5CEA8"/>
                </a:solidFill>
                <a:highlight>
                  <a:srgbClr val="1F1F1F"/>
                </a:highlight>
                <a:latin typeface="Courier New"/>
                <a:ea typeface="Courier New"/>
                <a:cs typeface="Courier New"/>
                <a:sym typeface="Courier New"/>
              </a:rPr>
              <a:t>45</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ha</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E9178"/>
                </a:solidFill>
                <a:highlight>
                  <a:srgbClr val="1F1F1F"/>
                </a:highlight>
                <a:latin typeface="Courier New"/>
                <a:ea typeface="Courier New"/>
                <a:cs typeface="Courier New"/>
                <a:sym typeface="Courier New"/>
              </a:rPr>
              <a:t>'right'</a:t>
            </a:r>
            <a:r>
              <a:rPr b="1" i="0" lang="en" sz="700" u="none" cap="none" strike="noStrike">
                <a:solidFill>
                  <a:srgbClr val="CCCCCC"/>
                </a:solidFill>
                <a:highlight>
                  <a:srgbClr val="1F1F1F"/>
                </a:highlight>
                <a:latin typeface="Courier New"/>
                <a:ea typeface="Courier New"/>
                <a:cs typeface="Courier New"/>
                <a:sym typeface="Courier New"/>
              </a:rPr>
              <a:t>)</a:t>
            </a:r>
            <a:endParaRPr b="1" i="0" sz="7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9CDCFE"/>
                </a:solidFill>
                <a:highlight>
                  <a:srgbClr val="1F1F1F"/>
                </a:highlight>
                <a:latin typeface="Courier New"/>
                <a:ea typeface="Courier New"/>
                <a:cs typeface="Courier New"/>
                <a:sym typeface="Courier New"/>
              </a:rPr>
              <a:t>ax5</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DCDCAA"/>
                </a:solidFill>
                <a:highlight>
                  <a:srgbClr val="1F1F1F"/>
                </a:highlight>
                <a:latin typeface="Courier New"/>
                <a:ea typeface="Courier New"/>
                <a:cs typeface="Courier New"/>
                <a:sym typeface="Courier New"/>
              </a:rPr>
              <a:t>set_title</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CE9178"/>
                </a:solidFill>
                <a:highlight>
                  <a:srgbClr val="1F1F1F"/>
                </a:highlight>
                <a:latin typeface="Courier New"/>
                <a:ea typeface="Courier New"/>
                <a:cs typeface="Courier New"/>
                <a:sym typeface="Courier New"/>
              </a:rPr>
              <a:t>"Avg Market Value Over Time by Main Position (€M, 2015–2025)"</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9CDCFE"/>
                </a:solidFill>
                <a:highlight>
                  <a:srgbClr val="1F1F1F"/>
                </a:highlight>
                <a:latin typeface="Courier New"/>
                <a:ea typeface="Courier New"/>
                <a:cs typeface="Courier New"/>
                <a:sym typeface="Courier New"/>
              </a:rPr>
              <a:t>fontsize</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B5CEA8"/>
                </a:solidFill>
                <a:highlight>
                  <a:srgbClr val="1F1F1F"/>
                </a:highlight>
                <a:latin typeface="Courier New"/>
                <a:ea typeface="Courier New"/>
                <a:cs typeface="Courier New"/>
                <a:sym typeface="Courier New"/>
              </a:rPr>
              <a:t>12</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fontweight</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E9178"/>
                </a:solidFill>
                <a:highlight>
                  <a:srgbClr val="1F1F1F"/>
                </a:highlight>
                <a:latin typeface="Courier New"/>
                <a:ea typeface="Courier New"/>
                <a:cs typeface="Courier New"/>
                <a:sym typeface="Courier New"/>
              </a:rPr>
              <a:t>'bold'</a:t>
            </a:r>
            <a:r>
              <a:rPr b="1" i="0" lang="en" sz="700" u="none" cap="none" strike="noStrike">
                <a:solidFill>
                  <a:srgbClr val="CCCCCC"/>
                </a:solidFill>
                <a:highlight>
                  <a:srgbClr val="1F1F1F"/>
                </a:highlight>
                <a:latin typeface="Courier New"/>
                <a:ea typeface="Courier New"/>
                <a:cs typeface="Courier New"/>
                <a:sym typeface="Courier New"/>
              </a:rPr>
              <a:t>)</a:t>
            </a:r>
            <a:endParaRPr b="1" i="0" sz="7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9CDCFE"/>
                </a:solidFill>
                <a:highlight>
                  <a:srgbClr val="1F1F1F"/>
                </a:highlight>
                <a:latin typeface="Courier New"/>
                <a:ea typeface="Courier New"/>
                <a:cs typeface="Courier New"/>
                <a:sym typeface="Courier New"/>
              </a:rPr>
              <a:t>ax5</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DCDCAA"/>
                </a:solidFill>
                <a:highlight>
                  <a:srgbClr val="1F1F1F"/>
                </a:highlight>
                <a:latin typeface="Courier New"/>
                <a:ea typeface="Courier New"/>
                <a:cs typeface="Courier New"/>
                <a:sym typeface="Courier New"/>
              </a:rPr>
              <a:t>set_xlabel</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CE9178"/>
                </a:solidFill>
                <a:highlight>
                  <a:srgbClr val="1F1F1F"/>
                </a:highlight>
                <a:latin typeface="Courier New"/>
                <a:ea typeface="Courier New"/>
                <a:cs typeface="Courier New"/>
                <a:sym typeface="Courier New"/>
              </a:rPr>
              <a:t>"Year"</a:t>
            </a:r>
            <a:r>
              <a:rPr b="1" i="0" lang="en" sz="700" u="none" cap="none" strike="noStrike">
                <a:solidFill>
                  <a:srgbClr val="CCCCCC"/>
                </a:solidFill>
                <a:highlight>
                  <a:srgbClr val="1F1F1F"/>
                </a:highlight>
                <a:latin typeface="Courier New"/>
                <a:ea typeface="Courier New"/>
                <a:cs typeface="Courier New"/>
                <a:sym typeface="Courier New"/>
              </a:rPr>
              <a:t>)</a:t>
            </a:r>
            <a:endParaRPr b="1" i="0" sz="7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9CDCFE"/>
                </a:solidFill>
                <a:highlight>
                  <a:srgbClr val="1F1F1F"/>
                </a:highlight>
                <a:latin typeface="Courier New"/>
                <a:ea typeface="Courier New"/>
                <a:cs typeface="Courier New"/>
                <a:sym typeface="Courier New"/>
              </a:rPr>
              <a:t>ax5</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DCDCAA"/>
                </a:solidFill>
                <a:highlight>
                  <a:srgbClr val="1F1F1F"/>
                </a:highlight>
                <a:latin typeface="Courier New"/>
                <a:ea typeface="Courier New"/>
                <a:cs typeface="Courier New"/>
                <a:sym typeface="Courier New"/>
              </a:rPr>
              <a:t>set_ylabel</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CE9178"/>
                </a:solidFill>
                <a:highlight>
                  <a:srgbClr val="1F1F1F"/>
                </a:highlight>
                <a:latin typeface="Courier New"/>
                <a:ea typeface="Courier New"/>
                <a:cs typeface="Courier New"/>
                <a:sym typeface="Courier New"/>
              </a:rPr>
              <a:t>"Avg Value (€M)"</a:t>
            </a:r>
            <a:r>
              <a:rPr b="1" i="0" lang="en" sz="700" u="none" cap="none" strike="noStrike">
                <a:solidFill>
                  <a:srgbClr val="CCCCCC"/>
                </a:solidFill>
                <a:highlight>
                  <a:srgbClr val="1F1F1F"/>
                </a:highlight>
                <a:latin typeface="Courier New"/>
                <a:ea typeface="Courier New"/>
                <a:cs typeface="Courier New"/>
                <a:sym typeface="Courier New"/>
              </a:rPr>
              <a:t>)</a:t>
            </a:r>
            <a:endParaRPr b="1" i="0" sz="7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9CDCFE"/>
                </a:solidFill>
                <a:highlight>
                  <a:srgbClr val="1F1F1F"/>
                </a:highlight>
                <a:latin typeface="Courier New"/>
                <a:ea typeface="Courier New"/>
                <a:cs typeface="Courier New"/>
                <a:sym typeface="Courier New"/>
              </a:rPr>
              <a:t>ax5</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DCDCAA"/>
                </a:solidFill>
                <a:highlight>
                  <a:srgbClr val="1F1F1F"/>
                </a:highlight>
                <a:latin typeface="Courier New"/>
                <a:ea typeface="Courier New"/>
                <a:cs typeface="Courier New"/>
                <a:sym typeface="Courier New"/>
              </a:rPr>
              <a:t>legend</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9CDCFE"/>
                </a:solidFill>
                <a:highlight>
                  <a:srgbClr val="1F1F1F"/>
                </a:highlight>
                <a:latin typeface="Courier New"/>
                <a:ea typeface="Courier New"/>
                <a:cs typeface="Courier New"/>
                <a:sym typeface="Courier New"/>
              </a:rPr>
              <a:t>bbox_to_anchor</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B5CEA8"/>
                </a:solidFill>
                <a:highlight>
                  <a:srgbClr val="1F1F1F"/>
                </a:highlight>
                <a:latin typeface="Courier New"/>
                <a:ea typeface="Courier New"/>
                <a:cs typeface="Courier New"/>
                <a:sym typeface="Courier New"/>
              </a:rPr>
              <a:t>1.05</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B5CEA8"/>
                </a:solidFill>
                <a:highlight>
                  <a:srgbClr val="1F1F1F"/>
                </a:highlight>
                <a:latin typeface="Courier New"/>
                <a:ea typeface="Courier New"/>
                <a:cs typeface="Courier New"/>
                <a:sym typeface="Courier New"/>
              </a:rPr>
              <a:t>1</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loc</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E9178"/>
                </a:solidFill>
                <a:highlight>
                  <a:srgbClr val="1F1F1F"/>
                </a:highlight>
                <a:latin typeface="Courier New"/>
                <a:ea typeface="Courier New"/>
                <a:cs typeface="Courier New"/>
                <a:sym typeface="Courier New"/>
              </a:rPr>
              <a:t>'upper left'</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fontsize</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B5CEA8"/>
                </a:solidFill>
                <a:highlight>
                  <a:srgbClr val="1F1F1F"/>
                </a:highlight>
                <a:latin typeface="Courier New"/>
                <a:ea typeface="Courier New"/>
                <a:cs typeface="Courier New"/>
                <a:sym typeface="Courier New"/>
              </a:rPr>
              <a:t>8</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9CDCFE"/>
                </a:solidFill>
                <a:highlight>
                  <a:srgbClr val="1F1F1F"/>
                </a:highlight>
                <a:latin typeface="Courier New"/>
                <a:ea typeface="Courier New"/>
                <a:cs typeface="Courier New"/>
                <a:sym typeface="Courier New"/>
              </a:rPr>
              <a:t>ncol</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B5CEA8"/>
                </a:solidFill>
                <a:highlight>
                  <a:srgbClr val="1F1F1F"/>
                </a:highlight>
                <a:latin typeface="Courier New"/>
                <a:ea typeface="Courier New"/>
                <a:cs typeface="Courier New"/>
                <a:sym typeface="Courier New"/>
              </a:rPr>
              <a:t>2</a:t>
            </a:r>
            <a:r>
              <a:rPr b="1" i="0" lang="en" sz="700" u="none" cap="none" strike="noStrike">
                <a:solidFill>
                  <a:srgbClr val="CCCCCC"/>
                </a:solidFill>
                <a:highlight>
                  <a:srgbClr val="1F1F1F"/>
                </a:highlight>
                <a:latin typeface="Courier New"/>
                <a:ea typeface="Courier New"/>
                <a:cs typeface="Courier New"/>
                <a:sym typeface="Courier New"/>
              </a:rPr>
              <a:t>)</a:t>
            </a:r>
            <a:endParaRPr b="1" i="0" sz="7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t/>
            </a:r>
            <a:endParaRPr b="1" i="0" sz="7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2"/>
              </a:solidFill>
              <a:latin typeface="Nunito"/>
              <a:ea typeface="Nunito"/>
              <a:cs typeface="Nunito"/>
              <a:sym typeface="Nunito"/>
            </a:endParaRPr>
          </a:p>
        </p:txBody>
      </p:sp>
      <p:pic>
        <p:nvPicPr>
          <p:cNvPr id="358" name="Google Shape;358;p10"/>
          <p:cNvPicPr preferRelativeResize="0"/>
          <p:nvPr/>
        </p:nvPicPr>
        <p:blipFill rotWithShape="1">
          <a:blip r:embed="rId3">
            <a:alphaModFix/>
          </a:blip>
          <a:srcRect b="0" l="0" r="0" t="0"/>
          <a:stretch/>
        </p:blipFill>
        <p:spPr>
          <a:xfrm>
            <a:off x="1594125" y="3361925"/>
            <a:ext cx="6029699" cy="1651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1"/>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sz="2466"/>
              <a:t>3. Is the agile foot relevant?</a:t>
            </a:r>
            <a:endParaRPr sz="2466"/>
          </a:p>
          <a:p>
            <a:pPr indent="0" lvl="0" marL="0" rtl="0" algn="l">
              <a:lnSpc>
                <a:spcPct val="100000"/>
              </a:lnSpc>
              <a:spcBef>
                <a:spcPts val="0"/>
              </a:spcBef>
              <a:spcAft>
                <a:spcPts val="0"/>
              </a:spcAft>
              <a:buSzPts val="2800"/>
              <a:buNone/>
            </a:pPr>
            <a:r>
              <a:t/>
            </a:r>
            <a:endParaRPr/>
          </a:p>
        </p:txBody>
      </p:sp>
      <p:sp>
        <p:nvSpPr>
          <p:cNvPr id="364" name="Google Shape;364;p11"/>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rgbClr val="658F90"/>
                </a:solidFill>
                <a:latin typeface="Maven Pro"/>
                <a:ea typeface="Maven Pro"/>
                <a:cs typeface="Maven Pro"/>
                <a:sym typeface="Maven Pro"/>
              </a:rPr>
              <a:t>Market Value &amp; Player Worth 💎</a:t>
            </a:r>
            <a:endParaRPr b="0" i="0" sz="700" u="none" cap="none" strike="noStrike">
              <a:solidFill>
                <a:srgbClr val="658F90"/>
              </a:solidFill>
              <a:latin typeface="Arial"/>
              <a:ea typeface="Arial"/>
              <a:cs typeface="Arial"/>
              <a:sym typeface="Arial"/>
            </a:endParaRPr>
          </a:p>
        </p:txBody>
      </p:sp>
      <p:sp>
        <p:nvSpPr>
          <p:cNvPr id="365" name="Google Shape;365;p11"/>
          <p:cNvSpPr txBox="1"/>
          <p:nvPr/>
        </p:nvSpPr>
        <p:spPr>
          <a:xfrm>
            <a:off x="738600" y="1394175"/>
            <a:ext cx="3281400" cy="1783500"/>
          </a:xfrm>
          <a:prstGeom prst="rect">
            <a:avLst/>
          </a:prstGeom>
          <a:noFill/>
          <a:ln>
            <a:noFill/>
          </a:ln>
        </p:spPr>
        <p:txBody>
          <a:bodyPr anchorCtr="0" anchor="t" bIns="91425" lIns="91425" spcFirstLastPara="1" rIns="91425" wrap="square" tIns="91425">
            <a:noAutofit/>
          </a:bodyPr>
          <a:lstStyle/>
          <a:p>
            <a:pPr indent="0" lvl="0" marL="0" marR="0" rtl="0" algn="l">
              <a:lnSpc>
                <a:spcPct val="135714"/>
              </a:lnSpc>
              <a:spcBef>
                <a:spcPts val="0"/>
              </a:spcBef>
              <a:spcAft>
                <a:spcPts val="0"/>
              </a:spcAft>
              <a:buClr>
                <a:srgbClr val="000000"/>
              </a:buClr>
              <a:buSzPts val="850"/>
              <a:buFont typeface="Arial"/>
              <a:buNone/>
            </a:pPr>
            <a:r>
              <a:rPr b="1" i="0" lang="en" sz="850" u="none" cap="none" strike="noStrike">
                <a:solidFill>
                  <a:srgbClr val="6A9955"/>
                </a:solidFill>
                <a:highlight>
                  <a:srgbClr val="1F1F1F"/>
                </a:highlight>
                <a:latin typeface="Courier New"/>
                <a:ea typeface="Courier New"/>
                <a:cs typeface="Courier New"/>
                <a:sym typeface="Courier New"/>
              </a:rPr>
              <a:t># VIZ 6 — Pie charts: foot distribution per position group</a:t>
            </a:r>
            <a:endParaRPr b="1" i="0" sz="850" u="none" cap="none" strike="noStrike">
              <a:solidFill>
                <a:srgbClr val="6A9955"/>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850"/>
              <a:buFont typeface="Arial"/>
              <a:buNone/>
            </a:pPr>
            <a:r>
              <a:rPr b="1" i="0" lang="en" sz="850" u="none" cap="none" strike="noStrike">
                <a:solidFill>
                  <a:srgbClr val="9CDCFE"/>
                </a:solidFill>
                <a:highlight>
                  <a:srgbClr val="1F1F1F"/>
                </a:highlight>
                <a:latin typeface="Courier New"/>
                <a:ea typeface="Courier New"/>
                <a:cs typeface="Courier New"/>
                <a:sym typeface="Courier New"/>
              </a:rPr>
              <a:t>positions</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D4D4D4"/>
                </a:solidFill>
                <a:highlight>
                  <a:srgbClr val="1F1F1F"/>
                </a:highlight>
                <a:latin typeface="Courier New"/>
                <a:ea typeface="Courier New"/>
                <a:cs typeface="Courier New"/>
                <a:sym typeface="Courier New"/>
              </a:rPr>
              <a:t>=</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DCDCAA"/>
                </a:solidFill>
                <a:highlight>
                  <a:srgbClr val="1F1F1F"/>
                </a:highlight>
                <a:latin typeface="Courier New"/>
                <a:ea typeface="Courier New"/>
                <a:cs typeface="Courier New"/>
                <a:sym typeface="Courier New"/>
              </a:rPr>
              <a:t>sorted</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9CDCFE"/>
                </a:solidFill>
                <a:highlight>
                  <a:srgbClr val="1F1F1F"/>
                </a:highlight>
                <a:latin typeface="Courier New"/>
                <a:ea typeface="Courier New"/>
                <a:cs typeface="Courier New"/>
                <a:sym typeface="Courier New"/>
              </a:rPr>
              <a:t>df</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CE9178"/>
                </a:solidFill>
                <a:highlight>
                  <a:srgbClr val="1F1F1F"/>
                </a:highlight>
                <a:latin typeface="Courier New"/>
                <a:ea typeface="Courier New"/>
                <a:cs typeface="Courier New"/>
                <a:sym typeface="Courier New"/>
              </a:rPr>
              <a:t>'main_position'</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DCDCAA"/>
                </a:solidFill>
                <a:highlight>
                  <a:srgbClr val="1F1F1F"/>
                </a:highlight>
                <a:latin typeface="Courier New"/>
                <a:ea typeface="Courier New"/>
                <a:cs typeface="Courier New"/>
                <a:sym typeface="Courier New"/>
              </a:rPr>
              <a:t>unique</a:t>
            </a:r>
            <a:r>
              <a:rPr b="1" i="0" lang="en" sz="850" u="none" cap="none" strike="noStrike">
                <a:solidFill>
                  <a:srgbClr val="CCCCCC"/>
                </a:solidFill>
                <a:highlight>
                  <a:srgbClr val="1F1F1F"/>
                </a:highlight>
                <a:latin typeface="Courier New"/>
                <a:ea typeface="Courier New"/>
                <a:cs typeface="Courier New"/>
                <a:sym typeface="Courier New"/>
              </a:rPr>
              <a:t>())</a:t>
            </a:r>
            <a:endParaRPr b="1" i="0" sz="8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850"/>
              <a:buFont typeface="Arial"/>
              <a:buNone/>
            </a:pPr>
            <a:r>
              <a:rPr b="1" i="0" lang="en" sz="850" u="none" cap="none" strike="noStrike">
                <a:solidFill>
                  <a:srgbClr val="9CDCFE"/>
                </a:solidFill>
                <a:highlight>
                  <a:srgbClr val="1F1F1F"/>
                </a:highlight>
                <a:latin typeface="Courier New"/>
                <a:ea typeface="Courier New"/>
                <a:cs typeface="Courier New"/>
                <a:sym typeface="Courier New"/>
              </a:rPr>
              <a:t>pie_axes</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D4D4D4"/>
                </a:solidFill>
                <a:highlight>
                  <a:srgbClr val="1F1F1F"/>
                </a:highlight>
                <a:latin typeface="Courier New"/>
                <a:ea typeface="Courier New"/>
                <a:cs typeface="Courier New"/>
                <a:sym typeface="Courier New"/>
              </a:rPr>
              <a:t>=</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9CDCFE"/>
                </a:solidFill>
                <a:highlight>
                  <a:srgbClr val="1F1F1F"/>
                </a:highlight>
                <a:latin typeface="Courier New"/>
                <a:ea typeface="Courier New"/>
                <a:cs typeface="Courier New"/>
                <a:sym typeface="Courier New"/>
              </a:rPr>
              <a:t>fig</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DCDCAA"/>
                </a:solidFill>
                <a:highlight>
                  <a:srgbClr val="1F1F1F"/>
                </a:highlight>
                <a:latin typeface="Courier New"/>
                <a:ea typeface="Courier New"/>
                <a:cs typeface="Courier New"/>
                <a:sym typeface="Courier New"/>
              </a:rPr>
              <a:t>add_subplot</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B5CEA8"/>
                </a:solidFill>
                <a:highlight>
                  <a:srgbClr val="1F1F1F"/>
                </a:highlight>
                <a:latin typeface="Courier New"/>
                <a:ea typeface="Courier New"/>
                <a:cs typeface="Courier New"/>
                <a:sym typeface="Courier New"/>
              </a:rPr>
              <a:t>4</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B5CEA8"/>
                </a:solidFill>
                <a:highlight>
                  <a:srgbClr val="1F1F1F"/>
                </a:highlight>
                <a:latin typeface="Courier New"/>
                <a:ea typeface="Courier New"/>
                <a:cs typeface="Courier New"/>
                <a:sym typeface="Courier New"/>
              </a:rPr>
              <a:t>4</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B5CEA8"/>
                </a:solidFill>
                <a:highlight>
                  <a:srgbClr val="1F1F1F"/>
                </a:highlight>
                <a:latin typeface="Courier New"/>
                <a:ea typeface="Courier New"/>
                <a:cs typeface="Courier New"/>
                <a:sym typeface="Courier New"/>
              </a:rPr>
              <a:t>13</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D4D4D4"/>
                </a:solidFill>
                <a:highlight>
                  <a:srgbClr val="1F1F1F"/>
                </a:highlight>
                <a:latin typeface="Courier New"/>
                <a:ea typeface="Courier New"/>
                <a:cs typeface="Courier New"/>
                <a:sym typeface="Courier New"/>
              </a:rPr>
              <a:t>+</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9CDCFE"/>
                </a:solidFill>
                <a:highlight>
                  <a:srgbClr val="1F1F1F"/>
                </a:highlight>
                <a:latin typeface="Courier New"/>
                <a:ea typeface="Courier New"/>
                <a:cs typeface="Courier New"/>
                <a:sym typeface="Courier New"/>
              </a:rPr>
              <a:t>i</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C586C0"/>
                </a:solidFill>
                <a:highlight>
                  <a:srgbClr val="1F1F1F"/>
                </a:highlight>
                <a:latin typeface="Courier New"/>
                <a:ea typeface="Courier New"/>
                <a:cs typeface="Courier New"/>
                <a:sym typeface="Courier New"/>
              </a:rPr>
              <a:t>for</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9CDCFE"/>
                </a:solidFill>
                <a:highlight>
                  <a:srgbClr val="1F1F1F"/>
                </a:highlight>
                <a:latin typeface="Courier New"/>
                <a:ea typeface="Courier New"/>
                <a:cs typeface="Courier New"/>
                <a:sym typeface="Courier New"/>
              </a:rPr>
              <a:t>i</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C586C0"/>
                </a:solidFill>
                <a:highlight>
                  <a:srgbClr val="1F1F1F"/>
                </a:highlight>
                <a:latin typeface="Courier New"/>
                <a:ea typeface="Courier New"/>
                <a:cs typeface="Courier New"/>
                <a:sym typeface="Courier New"/>
              </a:rPr>
              <a:t>in</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4EC9B0"/>
                </a:solidFill>
                <a:highlight>
                  <a:srgbClr val="1F1F1F"/>
                </a:highlight>
                <a:latin typeface="Courier New"/>
                <a:ea typeface="Courier New"/>
                <a:cs typeface="Courier New"/>
                <a:sym typeface="Courier New"/>
              </a:rPr>
              <a:t>range</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B5CEA8"/>
                </a:solidFill>
                <a:highlight>
                  <a:srgbClr val="1F1F1F"/>
                </a:highlight>
                <a:latin typeface="Courier New"/>
                <a:ea typeface="Courier New"/>
                <a:cs typeface="Courier New"/>
                <a:sym typeface="Courier New"/>
              </a:rPr>
              <a:t>4</a:t>
            </a:r>
            <a:r>
              <a:rPr b="1" i="0" lang="en" sz="850" u="none" cap="none" strike="noStrike">
                <a:solidFill>
                  <a:srgbClr val="CCCCCC"/>
                </a:solidFill>
                <a:highlight>
                  <a:srgbClr val="1F1F1F"/>
                </a:highlight>
                <a:latin typeface="Courier New"/>
                <a:ea typeface="Courier New"/>
                <a:cs typeface="Courier New"/>
                <a:sym typeface="Courier New"/>
              </a:rPr>
              <a:t>)]</a:t>
            </a:r>
            <a:endParaRPr b="1" i="0" sz="8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850"/>
              <a:buFont typeface="Arial"/>
              <a:buNone/>
            </a:pPr>
            <a:r>
              <a:rPr b="1" i="0" lang="en" sz="850" u="none" cap="none" strike="noStrike">
                <a:solidFill>
                  <a:srgbClr val="C586C0"/>
                </a:solidFill>
                <a:highlight>
                  <a:srgbClr val="1F1F1F"/>
                </a:highlight>
                <a:latin typeface="Courier New"/>
                <a:ea typeface="Courier New"/>
                <a:cs typeface="Courier New"/>
                <a:sym typeface="Courier New"/>
              </a:rPr>
              <a:t>for</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9CDCFE"/>
                </a:solidFill>
                <a:highlight>
                  <a:srgbClr val="1F1F1F"/>
                </a:highlight>
                <a:latin typeface="Courier New"/>
                <a:ea typeface="Courier New"/>
                <a:cs typeface="Courier New"/>
                <a:sym typeface="Courier New"/>
              </a:rPr>
              <a:t>ax</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9CDCFE"/>
                </a:solidFill>
                <a:highlight>
                  <a:srgbClr val="1F1F1F"/>
                </a:highlight>
                <a:latin typeface="Courier New"/>
                <a:ea typeface="Courier New"/>
                <a:cs typeface="Courier New"/>
                <a:sym typeface="Courier New"/>
              </a:rPr>
              <a:t>pos</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C586C0"/>
                </a:solidFill>
                <a:highlight>
                  <a:srgbClr val="1F1F1F"/>
                </a:highlight>
                <a:latin typeface="Courier New"/>
                <a:ea typeface="Courier New"/>
                <a:cs typeface="Courier New"/>
                <a:sym typeface="Courier New"/>
              </a:rPr>
              <a:t>in</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4EC9B0"/>
                </a:solidFill>
                <a:highlight>
                  <a:srgbClr val="1F1F1F"/>
                </a:highlight>
                <a:latin typeface="Courier New"/>
                <a:ea typeface="Courier New"/>
                <a:cs typeface="Courier New"/>
                <a:sym typeface="Courier New"/>
              </a:rPr>
              <a:t>zip</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9CDCFE"/>
                </a:solidFill>
                <a:highlight>
                  <a:srgbClr val="1F1F1F"/>
                </a:highlight>
                <a:latin typeface="Courier New"/>
                <a:ea typeface="Courier New"/>
                <a:cs typeface="Courier New"/>
                <a:sym typeface="Courier New"/>
              </a:rPr>
              <a:t>pie_axes</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9CDCFE"/>
                </a:solidFill>
                <a:highlight>
                  <a:srgbClr val="1F1F1F"/>
                </a:highlight>
                <a:latin typeface="Courier New"/>
                <a:ea typeface="Courier New"/>
                <a:cs typeface="Courier New"/>
                <a:sym typeface="Courier New"/>
              </a:rPr>
              <a:t>positions</a:t>
            </a:r>
            <a:r>
              <a:rPr b="1" i="0" lang="en" sz="850" u="none" cap="none" strike="noStrike">
                <a:solidFill>
                  <a:srgbClr val="CCCCCC"/>
                </a:solidFill>
                <a:highlight>
                  <a:srgbClr val="1F1F1F"/>
                </a:highlight>
                <a:latin typeface="Courier New"/>
                <a:ea typeface="Courier New"/>
                <a:cs typeface="Courier New"/>
                <a:sym typeface="Courier New"/>
              </a:rPr>
              <a:t>):</a:t>
            </a:r>
            <a:endParaRPr b="1" i="0" sz="8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850"/>
              <a:buFont typeface="Arial"/>
              <a:buNone/>
            </a:pP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9CDCFE"/>
                </a:solidFill>
                <a:highlight>
                  <a:srgbClr val="1F1F1F"/>
                </a:highlight>
                <a:latin typeface="Courier New"/>
                <a:ea typeface="Courier New"/>
                <a:cs typeface="Courier New"/>
                <a:sym typeface="Courier New"/>
              </a:rPr>
              <a:t>foot_counts</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D4D4D4"/>
                </a:solidFill>
                <a:highlight>
                  <a:srgbClr val="1F1F1F"/>
                </a:highlight>
                <a:latin typeface="Courier New"/>
                <a:ea typeface="Courier New"/>
                <a:cs typeface="Courier New"/>
                <a:sym typeface="Courier New"/>
              </a:rPr>
              <a:t>=</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9CDCFE"/>
                </a:solidFill>
                <a:highlight>
                  <a:srgbClr val="1F1F1F"/>
                </a:highlight>
                <a:latin typeface="Courier New"/>
                <a:ea typeface="Courier New"/>
                <a:cs typeface="Courier New"/>
                <a:sym typeface="Courier New"/>
              </a:rPr>
              <a:t>df</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9CDCFE"/>
                </a:solidFill>
                <a:highlight>
                  <a:srgbClr val="1F1F1F"/>
                </a:highlight>
                <a:latin typeface="Courier New"/>
                <a:ea typeface="Courier New"/>
                <a:cs typeface="Courier New"/>
                <a:sym typeface="Courier New"/>
              </a:rPr>
              <a:t>df</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CE9178"/>
                </a:solidFill>
                <a:highlight>
                  <a:srgbClr val="1F1F1F"/>
                </a:highlight>
                <a:latin typeface="Courier New"/>
                <a:ea typeface="Courier New"/>
                <a:cs typeface="Courier New"/>
                <a:sym typeface="Courier New"/>
              </a:rPr>
              <a:t>'main_position'</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DCDCAA"/>
                </a:solidFill>
                <a:highlight>
                  <a:srgbClr val="1F1F1F"/>
                </a:highlight>
                <a:latin typeface="Courier New"/>
                <a:ea typeface="Courier New"/>
                <a:cs typeface="Courier New"/>
                <a:sym typeface="Courier New"/>
              </a:rPr>
              <a:t>==</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9CDCFE"/>
                </a:solidFill>
                <a:highlight>
                  <a:srgbClr val="1F1F1F"/>
                </a:highlight>
                <a:latin typeface="Courier New"/>
                <a:ea typeface="Courier New"/>
                <a:cs typeface="Courier New"/>
                <a:sym typeface="Courier New"/>
              </a:rPr>
              <a:t>pos</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CE9178"/>
                </a:solidFill>
                <a:highlight>
                  <a:srgbClr val="1F1F1F"/>
                </a:highlight>
                <a:latin typeface="Courier New"/>
                <a:ea typeface="Courier New"/>
                <a:cs typeface="Courier New"/>
                <a:sym typeface="Courier New"/>
              </a:rPr>
              <a:t>'foot'</a:t>
            </a:r>
            <a:r>
              <a:rPr b="1" i="0" lang="en" sz="850" u="none" cap="none" strike="noStrike">
                <a:solidFill>
                  <a:srgbClr val="CCCCCC"/>
                </a:solidFill>
                <a:highlight>
                  <a:srgbClr val="1F1F1F"/>
                </a:highlight>
                <a:latin typeface="Courier New"/>
                <a:ea typeface="Courier New"/>
                <a:cs typeface="Courier New"/>
                <a:sym typeface="Courier New"/>
              </a:rPr>
              <a:t>].value_counts()</a:t>
            </a:r>
            <a:endParaRPr b="1" i="0" sz="8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850"/>
              <a:buFont typeface="Arial"/>
              <a:buNone/>
            </a:pP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9CDCFE"/>
                </a:solidFill>
                <a:highlight>
                  <a:srgbClr val="1F1F1F"/>
                </a:highlight>
                <a:latin typeface="Courier New"/>
                <a:ea typeface="Courier New"/>
                <a:cs typeface="Courier New"/>
                <a:sym typeface="Courier New"/>
              </a:rPr>
              <a:t>ax</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DCDCAA"/>
                </a:solidFill>
                <a:highlight>
                  <a:srgbClr val="1F1F1F"/>
                </a:highlight>
                <a:latin typeface="Courier New"/>
                <a:ea typeface="Courier New"/>
                <a:cs typeface="Courier New"/>
                <a:sym typeface="Courier New"/>
              </a:rPr>
              <a:t>pie</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9CDCFE"/>
                </a:solidFill>
                <a:highlight>
                  <a:srgbClr val="1F1F1F"/>
                </a:highlight>
                <a:latin typeface="Courier New"/>
                <a:ea typeface="Courier New"/>
                <a:cs typeface="Courier New"/>
                <a:sym typeface="Courier New"/>
              </a:rPr>
              <a:t>foot_counts</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9CDCFE"/>
                </a:solidFill>
                <a:highlight>
                  <a:srgbClr val="1F1F1F"/>
                </a:highlight>
                <a:latin typeface="Courier New"/>
                <a:ea typeface="Courier New"/>
                <a:cs typeface="Courier New"/>
                <a:sym typeface="Courier New"/>
              </a:rPr>
              <a:t>labels</a:t>
            </a:r>
            <a:r>
              <a:rPr b="1" i="0" lang="en" sz="850" u="none" cap="none" strike="noStrike">
                <a:solidFill>
                  <a:srgbClr val="D4D4D4"/>
                </a:solidFill>
                <a:highlight>
                  <a:srgbClr val="1F1F1F"/>
                </a:highlight>
                <a:latin typeface="Courier New"/>
                <a:ea typeface="Courier New"/>
                <a:cs typeface="Courier New"/>
                <a:sym typeface="Courier New"/>
              </a:rPr>
              <a:t>=</a:t>
            </a:r>
            <a:r>
              <a:rPr b="1" i="0" lang="en" sz="850" u="none" cap="none" strike="noStrike">
                <a:solidFill>
                  <a:srgbClr val="9CDCFE"/>
                </a:solidFill>
                <a:highlight>
                  <a:srgbClr val="1F1F1F"/>
                </a:highlight>
                <a:latin typeface="Courier New"/>
                <a:ea typeface="Courier New"/>
                <a:cs typeface="Courier New"/>
                <a:sym typeface="Courier New"/>
              </a:rPr>
              <a:t>foot_counts</a:t>
            </a:r>
            <a:r>
              <a:rPr b="1" i="0" lang="en" sz="850" u="none" cap="none" strike="noStrike">
                <a:solidFill>
                  <a:srgbClr val="CCCCCC"/>
                </a:solidFill>
                <a:highlight>
                  <a:srgbClr val="1F1F1F"/>
                </a:highlight>
                <a:latin typeface="Courier New"/>
                <a:ea typeface="Courier New"/>
                <a:cs typeface="Courier New"/>
                <a:sym typeface="Courier New"/>
              </a:rPr>
              <a:t>.index,</a:t>
            </a:r>
            <a:r>
              <a:rPr b="1" i="0" lang="en" sz="850" u="none" cap="none" strike="noStrike">
                <a:solidFill>
                  <a:srgbClr val="9CDCFE"/>
                </a:solidFill>
                <a:highlight>
                  <a:srgbClr val="1F1F1F"/>
                </a:highlight>
                <a:latin typeface="Courier New"/>
                <a:ea typeface="Courier New"/>
                <a:cs typeface="Courier New"/>
                <a:sym typeface="Courier New"/>
              </a:rPr>
              <a:t>autopct</a:t>
            </a:r>
            <a:r>
              <a:rPr b="1" i="0" lang="en" sz="850" u="none" cap="none" strike="noStrike">
                <a:solidFill>
                  <a:srgbClr val="D4D4D4"/>
                </a:solidFill>
                <a:highlight>
                  <a:srgbClr val="1F1F1F"/>
                </a:highlight>
                <a:latin typeface="Courier New"/>
                <a:ea typeface="Courier New"/>
                <a:cs typeface="Courier New"/>
                <a:sym typeface="Courier New"/>
              </a:rPr>
              <a:t>=</a:t>
            </a:r>
            <a:r>
              <a:rPr b="1" i="0" lang="en" sz="850" u="none" cap="none" strike="noStrike">
                <a:solidFill>
                  <a:srgbClr val="CE9178"/>
                </a:solidFill>
                <a:highlight>
                  <a:srgbClr val="1F1F1F"/>
                </a:highlight>
                <a:latin typeface="Courier New"/>
                <a:ea typeface="Courier New"/>
                <a:cs typeface="Courier New"/>
                <a:sym typeface="Courier New"/>
              </a:rPr>
              <a:t>'</a:t>
            </a:r>
            <a:r>
              <a:rPr b="1" i="0" lang="en" sz="850" u="none" cap="none" strike="noStrike">
                <a:solidFill>
                  <a:srgbClr val="569CD6"/>
                </a:solidFill>
                <a:highlight>
                  <a:srgbClr val="1F1F1F"/>
                </a:highlight>
                <a:latin typeface="Courier New"/>
                <a:ea typeface="Courier New"/>
                <a:cs typeface="Courier New"/>
                <a:sym typeface="Courier New"/>
              </a:rPr>
              <a:t>%1.1f%%</a:t>
            </a:r>
            <a:r>
              <a:rPr b="1" i="0" lang="en" sz="850" u="none" cap="none" strike="noStrike">
                <a:solidFill>
                  <a:srgbClr val="CE9178"/>
                </a:solidFill>
                <a:highlight>
                  <a:srgbClr val="1F1F1F"/>
                </a:highlight>
                <a:latin typeface="Courier New"/>
                <a:ea typeface="Courier New"/>
                <a:cs typeface="Courier New"/>
                <a:sym typeface="Courier New"/>
              </a:rPr>
              <a:t>'</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9CDCFE"/>
                </a:solidFill>
                <a:highlight>
                  <a:srgbClr val="1F1F1F"/>
                </a:highlight>
                <a:latin typeface="Courier New"/>
                <a:ea typeface="Courier New"/>
                <a:cs typeface="Courier New"/>
                <a:sym typeface="Courier New"/>
              </a:rPr>
              <a:t>colors</a:t>
            </a:r>
            <a:r>
              <a:rPr b="1" i="0" lang="en" sz="850" u="none" cap="none" strike="noStrike">
                <a:solidFill>
                  <a:srgbClr val="D4D4D4"/>
                </a:solidFill>
                <a:highlight>
                  <a:srgbClr val="1F1F1F"/>
                </a:highlight>
                <a:latin typeface="Courier New"/>
                <a:ea typeface="Courier New"/>
                <a:cs typeface="Courier New"/>
                <a:sym typeface="Courier New"/>
              </a:rPr>
              <a:t>=</a:t>
            </a:r>
            <a:r>
              <a:rPr b="1" i="0" lang="en" sz="850" u="none" cap="none" strike="noStrike">
                <a:solidFill>
                  <a:srgbClr val="4EC9B0"/>
                </a:solidFill>
                <a:highlight>
                  <a:srgbClr val="1F1F1F"/>
                </a:highlight>
                <a:latin typeface="Courier New"/>
                <a:ea typeface="Courier New"/>
                <a:cs typeface="Courier New"/>
                <a:sym typeface="Courier New"/>
              </a:rPr>
              <a:t>sns</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DCDCAA"/>
                </a:solidFill>
                <a:highlight>
                  <a:srgbClr val="1F1F1F"/>
                </a:highlight>
                <a:latin typeface="Courier New"/>
                <a:ea typeface="Courier New"/>
                <a:cs typeface="Courier New"/>
                <a:sym typeface="Courier New"/>
              </a:rPr>
              <a:t>color_palette</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CE9178"/>
                </a:solidFill>
                <a:highlight>
                  <a:srgbClr val="1F1F1F"/>
                </a:highlight>
                <a:latin typeface="Courier New"/>
                <a:ea typeface="Courier New"/>
                <a:cs typeface="Courier New"/>
                <a:sym typeface="Courier New"/>
              </a:rPr>
              <a:t>'tab10'</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DCDCAA"/>
                </a:solidFill>
                <a:highlight>
                  <a:srgbClr val="1F1F1F"/>
                </a:highlight>
                <a:latin typeface="Courier New"/>
                <a:ea typeface="Courier New"/>
                <a:cs typeface="Courier New"/>
                <a:sym typeface="Courier New"/>
              </a:rPr>
              <a:t>len</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9CDCFE"/>
                </a:solidFill>
                <a:highlight>
                  <a:srgbClr val="1F1F1F"/>
                </a:highlight>
                <a:latin typeface="Courier New"/>
                <a:ea typeface="Courier New"/>
                <a:cs typeface="Courier New"/>
                <a:sym typeface="Courier New"/>
              </a:rPr>
              <a:t>foot_counts</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9CDCFE"/>
                </a:solidFill>
                <a:highlight>
                  <a:srgbClr val="1F1F1F"/>
                </a:highlight>
                <a:latin typeface="Courier New"/>
                <a:ea typeface="Courier New"/>
                <a:cs typeface="Courier New"/>
                <a:sym typeface="Courier New"/>
              </a:rPr>
              <a:t>startangle</a:t>
            </a:r>
            <a:r>
              <a:rPr b="1" i="0" lang="en" sz="850" u="none" cap="none" strike="noStrike">
                <a:solidFill>
                  <a:srgbClr val="D4D4D4"/>
                </a:solidFill>
                <a:highlight>
                  <a:srgbClr val="1F1F1F"/>
                </a:highlight>
                <a:latin typeface="Courier New"/>
                <a:ea typeface="Courier New"/>
                <a:cs typeface="Courier New"/>
                <a:sym typeface="Courier New"/>
              </a:rPr>
              <a:t>=</a:t>
            </a:r>
            <a:r>
              <a:rPr b="1" i="0" lang="en" sz="850" u="none" cap="none" strike="noStrike">
                <a:solidFill>
                  <a:srgbClr val="B5CEA8"/>
                </a:solidFill>
                <a:highlight>
                  <a:srgbClr val="1F1F1F"/>
                </a:highlight>
                <a:latin typeface="Courier New"/>
                <a:ea typeface="Courier New"/>
                <a:cs typeface="Courier New"/>
                <a:sym typeface="Courier New"/>
              </a:rPr>
              <a:t>90</a:t>
            </a:r>
            <a:r>
              <a:rPr b="1" i="0" lang="en" sz="850" u="none" cap="none" strike="noStrike">
                <a:solidFill>
                  <a:srgbClr val="CCCCCC"/>
                </a:solidFill>
                <a:highlight>
                  <a:srgbClr val="1F1F1F"/>
                </a:highlight>
                <a:latin typeface="Courier New"/>
                <a:ea typeface="Courier New"/>
                <a:cs typeface="Courier New"/>
                <a:sym typeface="Courier New"/>
              </a:rPr>
              <a:t>)</a:t>
            </a:r>
            <a:endParaRPr b="1" i="0" sz="8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850"/>
              <a:buFont typeface="Arial"/>
              <a:buNone/>
            </a:pP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9CDCFE"/>
                </a:solidFill>
                <a:highlight>
                  <a:srgbClr val="1F1F1F"/>
                </a:highlight>
                <a:latin typeface="Courier New"/>
                <a:ea typeface="Courier New"/>
                <a:cs typeface="Courier New"/>
                <a:sym typeface="Courier New"/>
              </a:rPr>
              <a:t>ax</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DCDCAA"/>
                </a:solidFill>
                <a:highlight>
                  <a:srgbClr val="1F1F1F"/>
                </a:highlight>
                <a:latin typeface="Courier New"/>
                <a:ea typeface="Courier New"/>
                <a:cs typeface="Courier New"/>
                <a:sym typeface="Courier New"/>
              </a:rPr>
              <a:t>set_title</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9CDCFE"/>
                </a:solidFill>
                <a:highlight>
                  <a:srgbClr val="1F1F1F"/>
                </a:highlight>
                <a:latin typeface="Courier New"/>
                <a:ea typeface="Courier New"/>
                <a:cs typeface="Courier New"/>
                <a:sym typeface="Courier New"/>
              </a:rPr>
              <a:t>pos</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9CDCFE"/>
                </a:solidFill>
                <a:highlight>
                  <a:srgbClr val="1F1F1F"/>
                </a:highlight>
                <a:latin typeface="Courier New"/>
                <a:ea typeface="Courier New"/>
                <a:cs typeface="Courier New"/>
                <a:sym typeface="Courier New"/>
              </a:rPr>
              <a:t>fontsize</a:t>
            </a:r>
            <a:r>
              <a:rPr b="1" i="0" lang="en" sz="850" u="none" cap="none" strike="noStrike">
                <a:solidFill>
                  <a:srgbClr val="D4D4D4"/>
                </a:solidFill>
                <a:highlight>
                  <a:srgbClr val="1F1F1F"/>
                </a:highlight>
                <a:latin typeface="Courier New"/>
                <a:ea typeface="Courier New"/>
                <a:cs typeface="Courier New"/>
                <a:sym typeface="Courier New"/>
              </a:rPr>
              <a:t>=</a:t>
            </a:r>
            <a:r>
              <a:rPr b="1" i="0" lang="en" sz="850" u="none" cap="none" strike="noStrike">
                <a:solidFill>
                  <a:srgbClr val="B5CEA8"/>
                </a:solidFill>
                <a:highlight>
                  <a:srgbClr val="1F1F1F"/>
                </a:highlight>
                <a:latin typeface="Courier New"/>
                <a:ea typeface="Courier New"/>
                <a:cs typeface="Courier New"/>
                <a:sym typeface="Courier New"/>
              </a:rPr>
              <a:t>10</a:t>
            </a:r>
            <a:r>
              <a:rPr b="1" i="0" lang="en" sz="850" u="none" cap="none" strike="noStrike">
                <a:solidFill>
                  <a:srgbClr val="CCCCCC"/>
                </a:solidFill>
                <a:highlight>
                  <a:srgbClr val="1F1F1F"/>
                </a:highlight>
                <a:latin typeface="Courier New"/>
                <a:ea typeface="Courier New"/>
                <a:cs typeface="Courier New"/>
                <a:sym typeface="Courier New"/>
              </a:rPr>
              <a:t>)</a:t>
            </a:r>
            <a:endParaRPr b="1" i="0" sz="8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850"/>
              <a:buFont typeface="Arial"/>
              <a:buNone/>
            </a:pPr>
            <a:r>
              <a:rPr b="1" i="0" lang="en" sz="850" u="none" cap="none" strike="noStrike">
                <a:solidFill>
                  <a:srgbClr val="9CDCFE"/>
                </a:solidFill>
                <a:highlight>
                  <a:srgbClr val="1F1F1F"/>
                </a:highlight>
                <a:latin typeface="Courier New"/>
                <a:ea typeface="Courier New"/>
                <a:cs typeface="Courier New"/>
                <a:sym typeface="Courier New"/>
              </a:rPr>
              <a:t>fig</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DCDCAA"/>
                </a:solidFill>
                <a:highlight>
                  <a:srgbClr val="1F1F1F"/>
                </a:highlight>
                <a:latin typeface="Courier New"/>
                <a:ea typeface="Courier New"/>
                <a:cs typeface="Courier New"/>
                <a:sym typeface="Courier New"/>
              </a:rPr>
              <a:t>text</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B5CEA8"/>
                </a:solidFill>
                <a:highlight>
                  <a:srgbClr val="1F1F1F"/>
                </a:highlight>
                <a:latin typeface="Courier New"/>
                <a:ea typeface="Courier New"/>
                <a:cs typeface="Courier New"/>
                <a:sym typeface="Courier New"/>
              </a:rPr>
              <a:t>0.5</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B5CEA8"/>
                </a:solidFill>
                <a:highlight>
                  <a:srgbClr val="1F1F1F"/>
                </a:highlight>
                <a:latin typeface="Courier New"/>
                <a:ea typeface="Courier New"/>
                <a:cs typeface="Courier New"/>
                <a:sym typeface="Courier New"/>
              </a:rPr>
              <a:t>0.2</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CE9178"/>
                </a:solidFill>
                <a:highlight>
                  <a:srgbClr val="1F1F1F"/>
                </a:highlight>
                <a:latin typeface="Courier New"/>
                <a:ea typeface="Courier New"/>
                <a:cs typeface="Courier New"/>
                <a:sym typeface="Courier New"/>
              </a:rPr>
              <a:t>"Foot Preference Distribution by Position Group"</a:t>
            </a:r>
            <a:r>
              <a:rPr b="1" i="0" lang="en" sz="850" u="none" cap="none" strike="noStrike">
                <a:solidFill>
                  <a:srgbClr val="CCCCCC"/>
                </a:solidFill>
                <a:highlight>
                  <a:srgbClr val="1F1F1F"/>
                </a:highlight>
                <a:latin typeface="Courier New"/>
                <a:ea typeface="Courier New"/>
                <a:cs typeface="Courier New"/>
                <a:sym typeface="Courier New"/>
              </a:rPr>
              <a:t>,</a:t>
            </a:r>
            <a:r>
              <a:rPr b="1" i="0" lang="en" sz="850" u="none" cap="none" strike="noStrike">
                <a:solidFill>
                  <a:srgbClr val="9CDCFE"/>
                </a:solidFill>
                <a:highlight>
                  <a:srgbClr val="1F1F1F"/>
                </a:highlight>
                <a:latin typeface="Courier New"/>
                <a:ea typeface="Courier New"/>
                <a:cs typeface="Courier New"/>
                <a:sym typeface="Courier New"/>
              </a:rPr>
              <a:t>ha</a:t>
            </a:r>
            <a:r>
              <a:rPr b="1" i="0" lang="en" sz="850" u="none" cap="none" strike="noStrike">
                <a:solidFill>
                  <a:srgbClr val="D4D4D4"/>
                </a:solidFill>
                <a:highlight>
                  <a:srgbClr val="1F1F1F"/>
                </a:highlight>
                <a:latin typeface="Courier New"/>
                <a:ea typeface="Courier New"/>
                <a:cs typeface="Courier New"/>
                <a:sym typeface="Courier New"/>
              </a:rPr>
              <a:t>=</a:t>
            </a:r>
            <a:r>
              <a:rPr b="1" i="0" lang="en" sz="850" u="none" cap="none" strike="noStrike">
                <a:solidFill>
                  <a:srgbClr val="CE9178"/>
                </a:solidFill>
                <a:highlight>
                  <a:srgbClr val="1F1F1F"/>
                </a:highlight>
                <a:latin typeface="Courier New"/>
                <a:ea typeface="Courier New"/>
                <a:cs typeface="Courier New"/>
                <a:sym typeface="Courier New"/>
              </a:rPr>
              <a:t>'center'</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9CDCFE"/>
                </a:solidFill>
                <a:highlight>
                  <a:srgbClr val="1F1F1F"/>
                </a:highlight>
                <a:latin typeface="Courier New"/>
                <a:ea typeface="Courier New"/>
                <a:cs typeface="Courier New"/>
                <a:sym typeface="Courier New"/>
              </a:rPr>
              <a:t>fontsize</a:t>
            </a:r>
            <a:r>
              <a:rPr b="1" i="0" lang="en" sz="850" u="none" cap="none" strike="noStrike">
                <a:solidFill>
                  <a:srgbClr val="D4D4D4"/>
                </a:solidFill>
                <a:highlight>
                  <a:srgbClr val="1F1F1F"/>
                </a:highlight>
                <a:latin typeface="Courier New"/>
                <a:ea typeface="Courier New"/>
                <a:cs typeface="Courier New"/>
                <a:sym typeface="Courier New"/>
              </a:rPr>
              <a:t>=</a:t>
            </a:r>
            <a:r>
              <a:rPr b="1" i="0" lang="en" sz="850" u="none" cap="none" strike="noStrike">
                <a:solidFill>
                  <a:srgbClr val="B5CEA8"/>
                </a:solidFill>
                <a:highlight>
                  <a:srgbClr val="1F1F1F"/>
                </a:highlight>
                <a:latin typeface="Courier New"/>
                <a:ea typeface="Courier New"/>
                <a:cs typeface="Courier New"/>
                <a:sym typeface="Courier New"/>
              </a:rPr>
              <a:t>12</a:t>
            </a:r>
            <a:r>
              <a:rPr b="1" i="0" lang="en" sz="850" u="none" cap="none" strike="noStrike">
                <a:solidFill>
                  <a:srgbClr val="CCCCCC"/>
                </a:solidFill>
                <a:highlight>
                  <a:srgbClr val="1F1F1F"/>
                </a:highlight>
                <a:latin typeface="Courier New"/>
                <a:ea typeface="Courier New"/>
                <a:cs typeface="Courier New"/>
                <a:sym typeface="Courier New"/>
              </a:rPr>
              <a:t>, </a:t>
            </a:r>
            <a:r>
              <a:rPr b="1" i="0" lang="en" sz="850" u="none" cap="none" strike="noStrike">
                <a:solidFill>
                  <a:srgbClr val="9CDCFE"/>
                </a:solidFill>
                <a:highlight>
                  <a:srgbClr val="1F1F1F"/>
                </a:highlight>
                <a:latin typeface="Courier New"/>
                <a:ea typeface="Courier New"/>
                <a:cs typeface="Courier New"/>
                <a:sym typeface="Courier New"/>
              </a:rPr>
              <a:t>fontweight</a:t>
            </a:r>
            <a:r>
              <a:rPr b="1" i="0" lang="en" sz="850" u="none" cap="none" strike="noStrike">
                <a:solidFill>
                  <a:srgbClr val="D4D4D4"/>
                </a:solidFill>
                <a:highlight>
                  <a:srgbClr val="1F1F1F"/>
                </a:highlight>
                <a:latin typeface="Courier New"/>
                <a:ea typeface="Courier New"/>
                <a:cs typeface="Courier New"/>
                <a:sym typeface="Courier New"/>
              </a:rPr>
              <a:t>=</a:t>
            </a:r>
            <a:r>
              <a:rPr b="1" i="0" lang="en" sz="850" u="none" cap="none" strike="noStrike">
                <a:solidFill>
                  <a:srgbClr val="CE9178"/>
                </a:solidFill>
                <a:highlight>
                  <a:srgbClr val="1F1F1F"/>
                </a:highlight>
                <a:latin typeface="Courier New"/>
                <a:ea typeface="Courier New"/>
                <a:cs typeface="Courier New"/>
                <a:sym typeface="Courier New"/>
              </a:rPr>
              <a:t>'bold'</a:t>
            </a:r>
            <a:r>
              <a:rPr b="1" i="0" lang="en" sz="850" u="none" cap="none" strike="noStrike">
                <a:solidFill>
                  <a:srgbClr val="CCCCCC"/>
                </a:solidFill>
                <a:highlight>
                  <a:srgbClr val="1F1F1F"/>
                </a:highlight>
                <a:latin typeface="Courier New"/>
                <a:ea typeface="Courier New"/>
                <a:cs typeface="Courier New"/>
                <a:sym typeface="Courier New"/>
              </a:rPr>
              <a:t>)</a:t>
            </a:r>
            <a:endParaRPr b="1" i="0" sz="850" u="none" cap="none" strike="noStrike">
              <a:solidFill>
                <a:srgbClr val="CCCCCC"/>
              </a:solidFill>
              <a:highlight>
                <a:srgbClr val="1F1F1F"/>
              </a:highlight>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1100"/>
              <a:buFont typeface="Arial"/>
              <a:buNone/>
            </a:pPr>
            <a:r>
              <a:t/>
            </a:r>
            <a:endParaRPr b="1" i="0" sz="1100" u="none" cap="none" strike="noStrike">
              <a:solidFill>
                <a:schemeClr val="dk2"/>
              </a:solidFill>
              <a:latin typeface="Nunito"/>
              <a:ea typeface="Nunito"/>
              <a:cs typeface="Nunito"/>
              <a:sym typeface="Nunito"/>
            </a:endParaRPr>
          </a:p>
        </p:txBody>
      </p:sp>
      <p:pic>
        <p:nvPicPr>
          <p:cNvPr id="366" name="Google Shape;366;p11"/>
          <p:cNvPicPr preferRelativeResize="0"/>
          <p:nvPr/>
        </p:nvPicPr>
        <p:blipFill rotWithShape="1">
          <a:blip r:embed="rId3">
            <a:alphaModFix/>
          </a:blip>
          <a:srcRect b="0" l="0" r="0" t="0"/>
          <a:stretch/>
        </p:blipFill>
        <p:spPr>
          <a:xfrm>
            <a:off x="3985425" y="1394175"/>
            <a:ext cx="5048908" cy="1661025"/>
          </a:xfrm>
          <a:prstGeom prst="rect">
            <a:avLst/>
          </a:prstGeom>
          <a:noFill/>
          <a:ln>
            <a:noFill/>
          </a:ln>
        </p:spPr>
      </p:pic>
      <p:pic>
        <p:nvPicPr>
          <p:cNvPr id="367" name="Google Shape;367;p11"/>
          <p:cNvPicPr preferRelativeResize="0"/>
          <p:nvPr/>
        </p:nvPicPr>
        <p:blipFill rotWithShape="1">
          <a:blip r:embed="rId4">
            <a:alphaModFix/>
          </a:blip>
          <a:srcRect b="0" l="0" r="0" t="0"/>
          <a:stretch/>
        </p:blipFill>
        <p:spPr>
          <a:xfrm>
            <a:off x="3985422" y="3107325"/>
            <a:ext cx="5048899" cy="114974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12"/>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6160"/>
              <a:buNone/>
            </a:pPr>
            <a:r>
              <a:rPr lang="en" sz="2466"/>
              <a:t>4. How has the overall transfer market inflated yearly, are fees growing faster than market values?</a:t>
            </a:r>
            <a:endParaRPr sz="2466"/>
          </a:p>
          <a:p>
            <a:pPr indent="0" lvl="0" marL="0" rtl="0" algn="l">
              <a:lnSpc>
                <a:spcPct val="100000"/>
              </a:lnSpc>
              <a:spcBef>
                <a:spcPts val="0"/>
              </a:spcBef>
              <a:spcAft>
                <a:spcPts val="0"/>
              </a:spcAft>
              <a:buSzPct val="111111"/>
              <a:buNone/>
            </a:pPr>
            <a:r>
              <a:t/>
            </a:r>
            <a:endParaRPr/>
          </a:p>
        </p:txBody>
      </p:sp>
      <p:sp>
        <p:nvSpPr>
          <p:cNvPr id="373" name="Google Shape;373;p12"/>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chemeClr val="accent6"/>
                </a:solidFill>
                <a:latin typeface="Maven Pro"/>
                <a:ea typeface="Maven Pro"/>
                <a:cs typeface="Maven Pro"/>
                <a:sym typeface="Maven Pro"/>
              </a:rPr>
              <a:t>Transfer Market Dynamics 💱</a:t>
            </a:r>
            <a:endParaRPr b="1" i="0" sz="1766" u="none" cap="none" strike="noStrike">
              <a:solidFill>
                <a:schemeClr val="accent6"/>
              </a:solidFill>
              <a:latin typeface="Maven Pro"/>
              <a:ea typeface="Maven Pro"/>
              <a:cs typeface="Maven Pro"/>
              <a:sym typeface="Maven Pro"/>
            </a:endParaRPr>
          </a:p>
        </p:txBody>
      </p:sp>
      <p:sp>
        <p:nvSpPr>
          <p:cNvPr id="374" name="Google Shape;374;p12"/>
          <p:cNvSpPr txBox="1"/>
          <p:nvPr/>
        </p:nvSpPr>
        <p:spPr>
          <a:xfrm>
            <a:off x="824475" y="1877063"/>
            <a:ext cx="3602700" cy="29664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569CD6"/>
                </a:solidFill>
                <a:highlight>
                  <a:srgbClr val="1F1F1F"/>
                </a:highlight>
                <a:latin typeface="Courier New"/>
                <a:ea typeface="Courier New"/>
                <a:cs typeface="Courier New"/>
                <a:sym typeface="Courier New"/>
              </a:rPr>
              <a:t>SELECT</a:t>
            </a:r>
            <a:r>
              <a:rPr b="1" i="0" lang="en" sz="450" u="none" cap="none" strike="noStrike">
                <a:solidFill>
                  <a:srgbClr val="CCCCCC"/>
                </a:solidFill>
                <a:highlight>
                  <a:srgbClr val="1F1F1F"/>
                </a:highlight>
                <a:latin typeface="Courier New"/>
                <a:ea typeface="Courier New"/>
                <a:cs typeface="Courier New"/>
                <a:sym typeface="Courier New"/>
              </a:rPr>
              <a:t> season_name  </a:t>
            </a:r>
            <a:r>
              <a:rPr b="1" i="0" lang="en" sz="450" u="none" cap="none" strike="noStrike">
                <a:solidFill>
                  <a:srgbClr val="569CD6"/>
                </a:solidFill>
                <a:highlight>
                  <a:srgbClr val="1F1F1F"/>
                </a:highlight>
                <a:latin typeface="Courier New"/>
                <a:ea typeface="Courier New"/>
                <a:cs typeface="Courier New"/>
                <a:sym typeface="Courier New"/>
              </a:rPr>
              <a:t>AS</a:t>
            </a:r>
            <a:r>
              <a:rPr b="1" i="0" lang="en" sz="450" u="none" cap="none" strike="noStrike">
                <a:solidFill>
                  <a:srgbClr val="CCCCCC"/>
                </a:solidFill>
                <a:highlight>
                  <a:srgbClr val="1F1F1F"/>
                </a:highlight>
                <a:latin typeface="Courier New"/>
                <a:ea typeface="Courier New"/>
                <a:cs typeface="Courier New"/>
                <a:sym typeface="Courier New"/>
              </a:rPr>
              <a:t> season, </a:t>
            </a:r>
            <a:r>
              <a:rPr b="1" i="0" lang="en" sz="450" u="none" cap="none" strike="noStrike">
                <a:solidFill>
                  <a:srgbClr val="DCDCAA"/>
                </a:solidFill>
                <a:highlight>
                  <a:srgbClr val="1F1F1F"/>
                </a:highlight>
                <a:latin typeface="Courier New"/>
                <a:ea typeface="Courier New"/>
                <a:cs typeface="Courier New"/>
                <a:sym typeface="Courier New"/>
              </a:rPr>
              <a:t>ROUND</a:t>
            </a:r>
            <a:r>
              <a:rPr b="1" i="0" lang="en" sz="450" u="none" cap="none" strike="noStrike">
                <a:solidFill>
                  <a:srgbClr val="CCCCCC"/>
                </a:solidFill>
                <a:highlight>
                  <a:srgbClr val="1F1F1F"/>
                </a:highlight>
                <a:latin typeface="Courier New"/>
                <a:ea typeface="Courier New"/>
                <a:cs typeface="Courier New"/>
                <a:sym typeface="Courier New"/>
              </a:rPr>
              <a:t>(</a:t>
            </a:r>
            <a:r>
              <a:rPr b="1" i="0" lang="en" sz="450" u="none" cap="none" strike="noStrike">
                <a:solidFill>
                  <a:srgbClr val="DCDCAA"/>
                </a:solidFill>
                <a:highlight>
                  <a:srgbClr val="1F1F1F"/>
                </a:highlight>
                <a:latin typeface="Courier New"/>
                <a:ea typeface="Courier New"/>
                <a:cs typeface="Courier New"/>
                <a:sym typeface="Courier New"/>
              </a:rPr>
              <a:t>AVG</a:t>
            </a:r>
            <a:r>
              <a:rPr b="1" i="0" lang="en" sz="450" u="none" cap="none" strike="noStrike">
                <a:solidFill>
                  <a:srgbClr val="CCCCCC"/>
                </a:solidFill>
                <a:highlight>
                  <a:srgbClr val="1F1F1F"/>
                </a:highlight>
                <a:latin typeface="Courier New"/>
                <a:ea typeface="Courier New"/>
                <a:cs typeface="Courier New"/>
                <a:sym typeface="Courier New"/>
              </a:rPr>
              <a:t>(transfer_fee) </a:t>
            </a:r>
            <a:r>
              <a:rPr b="1" i="0" lang="en" sz="450" u="none" cap="none" strike="noStrike">
                <a:solidFill>
                  <a:srgbClr val="D4D4D4"/>
                </a:solidFill>
                <a:highlight>
                  <a:srgbClr val="1F1F1F"/>
                </a:highlight>
                <a:latin typeface="Courier New"/>
                <a:ea typeface="Courier New"/>
                <a:cs typeface="Courier New"/>
                <a:sym typeface="Courier New"/>
              </a:rPr>
              <a:t>/</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B5CEA8"/>
                </a:solidFill>
                <a:highlight>
                  <a:srgbClr val="1F1F1F"/>
                </a:highlight>
                <a:latin typeface="Courier New"/>
                <a:ea typeface="Courier New"/>
                <a:cs typeface="Courier New"/>
                <a:sym typeface="Courier New"/>
              </a:rPr>
              <a:t>1000000</a:t>
            </a:r>
            <a:r>
              <a:rPr b="1" i="0" lang="en" sz="450" u="none" cap="none" strike="noStrike">
                <a:solidFill>
                  <a:srgbClr val="CCCCCC"/>
                </a:solidFill>
                <a:highlight>
                  <a:srgbClr val="1F1F1F"/>
                </a:highlight>
                <a:latin typeface="Courier New"/>
                <a:ea typeface="Courier New"/>
                <a:cs typeface="Courier New"/>
                <a:sym typeface="Courier New"/>
              </a:rPr>
              <a:t>.</a:t>
            </a:r>
            <a:r>
              <a:rPr b="1" i="0" lang="en" sz="450" u="none" cap="none" strike="noStrike">
                <a:solidFill>
                  <a:srgbClr val="B5CEA8"/>
                </a:solidFill>
                <a:highlight>
                  <a:srgbClr val="1F1F1F"/>
                </a:highlight>
                <a:latin typeface="Courier New"/>
                <a:ea typeface="Courier New"/>
                <a:cs typeface="Courier New"/>
                <a:sym typeface="Courier New"/>
              </a:rPr>
              <a:t>0</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B5CEA8"/>
                </a:solidFill>
                <a:highlight>
                  <a:srgbClr val="1F1F1F"/>
                </a:highlight>
                <a:latin typeface="Courier New"/>
                <a:ea typeface="Courier New"/>
                <a:cs typeface="Courier New"/>
                <a:sym typeface="Courier New"/>
              </a:rPr>
              <a:t>2</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AS</a:t>
            </a:r>
            <a:r>
              <a:rPr b="1" i="0" lang="en" sz="450" u="none" cap="none" strike="noStrike">
                <a:solidFill>
                  <a:srgbClr val="CCCCCC"/>
                </a:solidFill>
                <a:highlight>
                  <a:srgbClr val="1F1F1F"/>
                </a:highlight>
                <a:latin typeface="Courier New"/>
                <a:ea typeface="Courier New"/>
                <a:cs typeface="Courier New"/>
                <a:sym typeface="Courier New"/>
              </a:rPr>
              <a:t> avg_fee_m, </a:t>
            </a:r>
            <a:r>
              <a:rPr b="1" i="0" lang="en" sz="450" u="none" cap="none" strike="noStrike">
                <a:solidFill>
                  <a:srgbClr val="DCDCAA"/>
                </a:solidFill>
                <a:highlight>
                  <a:srgbClr val="1F1F1F"/>
                </a:highlight>
                <a:latin typeface="Courier New"/>
                <a:ea typeface="Courier New"/>
                <a:cs typeface="Courier New"/>
                <a:sym typeface="Courier New"/>
              </a:rPr>
              <a:t>ROUND</a:t>
            </a:r>
            <a:r>
              <a:rPr b="1" i="0" lang="en" sz="450" u="none" cap="none" strike="noStrike">
                <a:solidFill>
                  <a:srgbClr val="CCCCCC"/>
                </a:solidFill>
                <a:highlight>
                  <a:srgbClr val="1F1F1F"/>
                </a:highlight>
                <a:latin typeface="Courier New"/>
                <a:ea typeface="Courier New"/>
                <a:cs typeface="Courier New"/>
                <a:sym typeface="Courier New"/>
              </a:rPr>
              <a:t>(</a:t>
            </a:r>
            <a:r>
              <a:rPr b="1" i="0" lang="en" sz="450" u="none" cap="none" strike="noStrike">
                <a:solidFill>
                  <a:srgbClr val="DCDCAA"/>
                </a:solidFill>
                <a:highlight>
                  <a:srgbClr val="1F1F1F"/>
                </a:highlight>
                <a:latin typeface="Courier New"/>
                <a:ea typeface="Courier New"/>
                <a:cs typeface="Courier New"/>
                <a:sym typeface="Courier New"/>
              </a:rPr>
              <a:t>SUM</a:t>
            </a:r>
            <a:r>
              <a:rPr b="1" i="0" lang="en" sz="450" u="none" cap="none" strike="noStrike">
                <a:solidFill>
                  <a:srgbClr val="CCCCCC"/>
                </a:solidFill>
                <a:highlight>
                  <a:srgbClr val="1F1F1F"/>
                </a:highlight>
                <a:latin typeface="Courier New"/>
                <a:ea typeface="Courier New"/>
                <a:cs typeface="Courier New"/>
                <a:sym typeface="Courier New"/>
              </a:rPr>
              <a:t>(transfer_fee) </a:t>
            </a:r>
            <a:r>
              <a:rPr b="1" i="0" lang="en" sz="450" u="none" cap="none" strike="noStrike">
                <a:solidFill>
                  <a:srgbClr val="D4D4D4"/>
                </a:solidFill>
                <a:highlight>
                  <a:srgbClr val="1F1F1F"/>
                </a:highlight>
                <a:latin typeface="Courier New"/>
                <a:ea typeface="Courier New"/>
                <a:cs typeface="Courier New"/>
                <a:sym typeface="Courier New"/>
              </a:rPr>
              <a:t>/</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B5CEA8"/>
                </a:solidFill>
                <a:highlight>
                  <a:srgbClr val="1F1F1F"/>
                </a:highlight>
                <a:latin typeface="Courier New"/>
                <a:ea typeface="Courier New"/>
                <a:cs typeface="Courier New"/>
                <a:sym typeface="Courier New"/>
              </a:rPr>
              <a:t>1000000</a:t>
            </a:r>
            <a:r>
              <a:rPr b="1" i="0" lang="en" sz="450" u="none" cap="none" strike="noStrike">
                <a:solidFill>
                  <a:srgbClr val="CCCCCC"/>
                </a:solidFill>
                <a:highlight>
                  <a:srgbClr val="1F1F1F"/>
                </a:highlight>
                <a:latin typeface="Courier New"/>
                <a:ea typeface="Courier New"/>
                <a:cs typeface="Courier New"/>
                <a:sym typeface="Courier New"/>
              </a:rPr>
              <a:t>.</a:t>
            </a:r>
            <a:r>
              <a:rPr b="1" i="0" lang="en" sz="450" u="none" cap="none" strike="noStrike">
                <a:solidFill>
                  <a:srgbClr val="B5CEA8"/>
                </a:solidFill>
                <a:highlight>
                  <a:srgbClr val="1F1F1F"/>
                </a:highlight>
                <a:latin typeface="Courier New"/>
                <a:ea typeface="Courier New"/>
                <a:cs typeface="Courier New"/>
                <a:sym typeface="Courier New"/>
              </a:rPr>
              <a:t>0</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B5CEA8"/>
                </a:solidFill>
                <a:highlight>
                  <a:srgbClr val="1F1F1F"/>
                </a:highlight>
                <a:latin typeface="Courier New"/>
                <a:ea typeface="Courier New"/>
                <a:cs typeface="Courier New"/>
                <a:sym typeface="Courier New"/>
              </a:rPr>
              <a:t>2</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AS</a:t>
            </a:r>
            <a:r>
              <a:rPr b="1" i="0" lang="en" sz="450" u="none" cap="none" strike="noStrike">
                <a:solidFill>
                  <a:srgbClr val="CCCCCC"/>
                </a:solidFill>
                <a:highlight>
                  <a:srgbClr val="1F1F1F"/>
                </a:highlight>
                <a:latin typeface="Courier New"/>
                <a:ea typeface="Courier New"/>
                <a:cs typeface="Courier New"/>
                <a:sym typeface="Courier New"/>
              </a:rPr>
              <a:t> total_fee_m, </a:t>
            </a:r>
            <a:r>
              <a:rPr b="1" i="0" lang="en" sz="450" u="none" cap="none" strike="noStrike">
                <a:solidFill>
                  <a:srgbClr val="DCDCAA"/>
                </a:solidFill>
                <a:highlight>
                  <a:srgbClr val="1F1F1F"/>
                </a:highlight>
                <a:latin typeface="Courier New"/>
                <a:ea typeface="Courier New"/>
                <a:cs typeface="Courier New"/>
                <a:sym typeface="Courier New"/>
              </a:rPr>
              <a:t>COUNT</a:t>
            </a:r>
            <a:r>
              <a:rPr b="1" i="0" lang="en" sz="450" u="none" cap="none" strike="noStrike">
                <a:solidFill>
                  <a:srgbClr val="CCCCCC"/>
                </a:solidFill>
                <a:highlight>
                  <a:srgbClr val="1F1F1F"/>
                </a:highlight>
                <a:latin typeface="Courier New"/>
                <a:ea typeface="Courier New"/>
                <a:cs typeface="Courier New"/>
                <a:sym typeface="Courier New"/>
              </a:rPr>
              <a:t>(</a:t>
            </a:r>
            <a:r>
              <a:rPr b="1" i="0" lang="en" sz="450" u="none" cap="none" strike="noStrike">
                <a:solidFill>
                  <a:srgbClr val="D4D4D4"/>
                </a:solidFill>
                <a:highlight>
                  <a:srgbClr val="1F1F1F"/>
                </a:highlight>
                <a:latin typeface="Courier New"/>
                <a:ea typeface="Courier New"/>
                <a:cs typeface="Courier New"/>
                <a:sym typeface="Courier New"/>
              </a:rPr>
              <a:t>*</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AS</a:t>
            </a:r>
            <a:r>
              <a:rPr b="1" i="0" lang="en" sz="450" u="none" cap="none" strike="noStrike">
                <a:solidFill>
                  <a:srgbClr val="CCCCCC"/>
                </a:solidFill>
                <a:highlight>
                  <a:srgbClr val="1F1F1F"/>
                </a:highlight>
                <a:latin typeface="Courier New"/>
                <a:ea typeface="Courier New"/>
                <a:cs typeface="Courier New"/>
                <a:sym typeface="Courier New"/>
              </a:rPr>
              <a:t> num_transfers</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569CD6"/>
                </a:solidFill>
                <a:highlight>
                  <a:srgbClr val="1F1F1F"/>
                </a:highlight>
                <a:latin typeface="Courier New"/>
                <a:ea typeface="Courier New"/>
                <a:cs typeface="Courier New"/>
                <a:sym typeface="Courier New"/>
              </a:rPr>
              <a:t>FROM</a:t>
            </a:r>
            <a:r>
              <a:rPr b="1" i="0" lang="en" sz="450" u="none" cap="none" strike="noStrike">
                <a:solidFill>
                  <a:srgbClr val="CCCCCC"/>
                </a:solidFill>
                <a:highlight>
                  <a:srgbClr val="1F1F1F"/>
                </a:highlight>
                <a:latin typeface="Courier New"/>
                <a:ea typeface="Courier New"/>
                <a:cs typeface="Courier New"/>
                <a:sym typeface="Courier New"/>
              </a:rPr>
              <a:t> transfer_history</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569CD6"/>
                </a:solidFill>
                <a:highlight>
                  <a:srgbClr val="1F1F1F"/>
                </a:highlight>
                <a:latin typeface="Courier New"/>
                <a:ea typeface="Courier New"/>
                <a:cs typeface="Courier New"/>
                <a:sym typeface="Courier New"/>
              </a:rPr>
              <a:t>WHERE</a:t>
            </a:r>
            <a:r>
              <a:rPr b="1" i="0" lang="en" sz="450" u="none" cap="none" strike="noStrike">
                <a:solidFill>
                  <a:srgbClr val="CCCCCC"/>
                </a:solidFill>
                <a:highlight>
                  <a:srgbClr val="1F1F1F"/>
                </a:highlight>
                <a:latin typeface="Courier New"/>
                <a:ea typeface="Courier New"/>
                <a:cs typeface="Courier New"/>
                <a:sym typeface="Courier New"/>
              </a:rPr>
              <a:t> transfer_fee </a:t>
            </a:r>
            <a:r>
              <a:rPr b="1" i="0" lang="en" sz="450" u="none" cap="none" strike="noStrike">
                <a:solidFill>
                  <a:srgbClr val="569CD6"/>
                </a:solidFill>
                <a:highlight>
                  <a:srgbClr val="1F1F1F"/>
                </a:highlight>
                <a:latin typeface="Courier New"/>
                <a:ea typeface="Courier New"/>
                <a:cs typeface="Courier New"/>
                <a:sym typeface="Courier New"/>
              </a:rPr>
              <a:t>IS NOT NULL</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AND</a:t>
            </a:r>
            <a:r>
              <a:rPr b="1" i="0" lang="en" sz="450" u="none" cap="none" strike="noStrike">
                <a:solidFill>
                  <a:srgbClr val="CCCCCC"/>
                </a:solidFill>
                <a:highlight>
                  <a:srgbClr val="1F1F1F"/>
                </a:highlight>
                <a:latin typeface="Courier New"/>
                <a:ea typeface="Courier New"/>
                <a:cs typeface="Courier New"/>
                <a:sym typeface="Courier New"/>
              </a:rPr>
              <a:t> transfer_fee </a:t>
            </a:r>
            <a:r>
              <a:rPr b="1" i="0" lang="en" sz="450" u="none" cap="none" strike="noStrike">
                <a:solidFill>
                  <a:srgbClr val="D4D4D4"/>
                </a:solidFill>
                <a:highlight>
                  <a:srgbClr val="1F1F1F"/>
                </a:highlight>
                <a:latin typeface="Courier New"/>
                <a:ea typeface="Courier New"/>
                <a:cs typeface="Courier New"/>
                <a:sym typeface="Courier New"/>
              </a:rPr>
              <a:t>&gt;</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B5CEA8"/>
                </a:solidFill>
                <a:highlight>
                  <a:srgbClr val="1F1F1F"/>
                </a:highlight>
                <a:latin typeface="Courier New"/>
                <a:ea typeface="Courier New"/>
                <a:cs typeface="Courier New"/>
                <a:sym typeface="Courier New"/>
              </a:rPr>
              <a:t>0</a:t>
            </a:r>
            <a:endParaRPr b="1" i="0" sz="450" u="none" cap="none" strike="noStrike">
              <a:solidFill>
                <a:srgbClr val="B5CEA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569CD6"/>
                </a:solidFill>
                <a:highlight>
                  <a:srgbClr val="1F1F1F"/>
                </a:highlight>
                <a:latin typeface="Courier New"/>
                <a:ea typeface="Courier New"/>
                <a:cs typeface="Courier New"/>
                <a:sym typeface="Courier New"/>
              </a:rPr>
              <a:t>GROUP BY</a:t>
            </a:r>
            <a:r>
              <a:rPr b="1" i="0" lang="en" sz="450" u="none" cap="none" strike="noStrike">
                <a:solidFill>
                  <a:srgbClr val="CCCCCC"/>
                </a:solidFill>
                <a:highlight>
                  <a:srgbClr val="1F1F1F"/>
                </a:highlight>
                <a:latin typeface="Courier New"/>
                <a:ea typeface="Courier New"/>
                <a:cs typeface="Courier New"/>
                <a:sym typeface="Courier New"/>
              </a:rPr>
              <a:t> season_name</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569CD6"/>
                </a:solidFill>
                <a:highlight>
                  <a:srgbClr val="1F1F1F"/>
                </a:highlight>
                <a:latin typeface="Courier New"/>
                <a:ea typeface="Courier New"/>
                <a:cs typeface="Courier New"/>
                <a:sym typeface="Courier New"/>
              </a:rPr>
              <a:t>ORDER BY</a:t>
            </a:r>
            <a:r>
              <a:rPr b="1" i="0" lang="en" sz="450" u="none" cap="none" strike="noStrike">
                <a:solidFill>
                  <a:srgbClr val="CCCCCC"/>
                </a:solidFill>
                <a:highlight>
                  <a:srgbClr val="1F1F1F"/>
                </a:highlight>
                <a:latin typeface="Courier New"/>
                <a:ea typeface="Courier New"/>
                <a:cs typeface="Courier New"/>
                <a:sym typeface="Courier New"/>
              </a:rPr>
              <a:t> season_name;</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569CD6"/>
                </a:solidFill>
                <a:highlight>
                  <a:srgbClr val="1F1F1F"/>
                </a:highlight>
                <a:latin typeface="Courier New"/>
                <a:ea typeface="Courier New"/>
                <a:cs typeface="Courier New"/>
                <a:sym typeface="Courier New"/>
              </a:rPr>
              <a:t>SELECT</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DCDCAA"/>
                </a:solidFill>
                <a:highlight>
                  <a:srgbClr val="1F1F1F"/>
                </a:highlight>
                <a:latin typeface="Courier New"/>
                <a:ea typeface="Courier New"/>
                <a:cs typeface="Courier New"/>
                <a:sym typeface="Courier New"/>
              </a:rPr>
              <a:t>CAST</a:t>
            </a:r>
            <a:r>
              <a:rPr b="1" i="0" lang="en" sz="450" u="none" cap="none" strike="noStrike">
                <a:solidFill>
                  <a:srgbClr val="CCCCCC"/>
                </a:solidFill>
                <a:highlight>
                  <a:srgbClr val="1F1F1F"/>
                </a:highlight>
                <a:latin typeface="Courier New"/>
                <a:ea typeface="Courier New"/>
                <a:cs typeface="Courier New"/>
                <a:sym typeface="Courier New"/>
              </a:rPr>
              <a:t>(strftime(</a:t>
            </a:r>
            <a:r>
              <a:rPr b="1" i="0" lang="en" sz="450" u="none" cap="none" strike="noStrike">
                <a:solidFill>
                  <a:srgbClr val="CE9178"/>
                </a:solidFill>
                <a:highlight>
                  <a:srgbClr val="1F1F1F"/>
                </a:highlight>
                <a:latin typeface="Courier New"/>
                <a:ea typeface="Courier New"/>
                <a:cs typeface="Courier New"/>
                <a:sym typeface="Courier New"/>
              </a:rPr>
              <a:t>'%Y'</a:t>
            </a:r>
            <a:r>
              <a:rPr b="1" i="0" lang="en" sz="450" u="none" cap="none" strike="noStrike">
                <a:solidFill>
                  <a:srgbClr val="CCCCCC"/>
                </a:solidFill>
                <a:highlight>
                  <a:srgbClr val="1F1F1F"/>
                </a:highlight>
                <a:latin typeface="Courier New"/>
                <a:ea typeface="Courier New"/>
                <a:cs typeface="Courier New"/>
                <a:sym typeface="Courier New"/>
              </a:rPr>
              <a:t>, date_unix) </a:t>
            </a:r>
            <a:r>
              <a:rPr b="1" i="0" lang="en" sz="450" u="none" cap="none" strike="noStrike">
                <a:solidFill>
                  <a:srgbClr val="569CD6"/>
                </a:solidFill>
                <a:highlight>
                  <a:srgbClr val="1F1F1F"/>
                </a:highlight>
                <a:latin typeface="Courier New"/>
                <a:ea typeface="Courier New"/>
                <a:cs typeface="Courier New"/>
                <a:sym typeface="Courier New"/>
              </a:rPr>
              <a:t>AS</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INTEGER</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AS</a:t>
            </a:r>
            <a:r>
              <a:rPr b="1" i="0" lang="en" sz="450" u="none" cap="none" strike="noStrike">
                <a:solidFill>
                  <a:srgbClr val="CCCCCC"/>
                </a:solidFill>
                <a:highlight>
                  <a:srgbClr val="1F1F1F"/>
                </a:highlight>
                <a:latin typeface="Courier New"/>
                <a:ea typeface="Courier New"/>
                <a:cs typeface="Courier New"/>
                <a:sym typeface="Courier New"/>
              </a:rPr>
              <a:t> season, </a:t>
            </a:r>
            <a:r>
              <a:rPr b="1" i="0" lang="en" sz="450" u="none" cap="none" strike="noStrike">
                <a:solidFill>
                  <a:srgbClr val="DCDCAA"/>
                </a:solidFill>
                <a:highlight>
                  <a:srgbClr val="1F1F1F"/>
                </a:highlight>
                <a:latin typeface="Courier New"/>
                <a:ea typeface="Courier New"/>
                <a:cs typeface="Courier New"/>
                <a:sym typeface="Courier New"/>
              </a:rPr>
              <a:t>ROUND</a:t>
            </a:r>
            <a:r>
              <a:rPr b="1" i="0" lang="en" sz="450" u="none" cap="none" strike="noStrike">
                <a:solidFill>
                  <a:srgbClr val="CCCCCC"/>
                </a:solidFill>
                <a:highlight>
                  <a:srgbClr val="1F1F1F"/>
                </a:highlight>
                <a:latin typeface="Courier New"/>
                <a:ea typeface="Courier New"/>
                <a:cs typeface="Courier New"/>
                <a:sym typeface="Courier New"/>
              </a:rPr>
              <a:t>(</a:t>
            </a:r>
            <a:r>
              <a:rPr b="1" i="0" lang="en" sz="450" u="none" cap="none" strike="noStrike">
                <a:solidFill>
                  <a:srgbClr val="DCDCAA"/>
                </a:solidFill>
                <a:highlight>
                  <a:srgbClr val="1F1F1F"/>
                </a:highlight>
                <a:latin typeface="Courier New"/>
                <a:ea typeface="Courier New"/>
                <a:cs typeface="Courier New"/>
                <a:sym typeface="Courier New"/>
              </a:rPr>
              <a:t>AVG</a:t>
            </a:r>
            <a:r>
              <a:rPr b="1" i="0" lang="en" sz="450" u="none" cap="none" strike="noStrike">
                <a:solidFill>
                  <a:srgbClr val="CCCCCC"/>
                </a:solidFill>
                <a:highlight>
                  <a:srgbClr val="1F1F1F"/>
                </a:highlight>
                <a:latin typeface="Courier New"/>
                <a:ea typeface="Courier New"/>
                <a:cs typeface="Courier New"/>
                <a:sym typeface="Courier New"/>
              </a:rPr>
              <a:t>(</a:t>
            </a:r>
            <a:r>
              <a:rPr b="1" i="0" lang="en" sz="450" u="none" cap="none" strike="noStrike">
                <a:solidFill>
                  <a:srgbClr val="569CD6"/>
                </a:solidFill>
                <a:highlight>
                  <a:srgbClr val="1F1F1F"/>
                </a:highlight>
                <a:latin typeface="Courier New"/>
                <a:ea typeface="Courier New"/>
                <a:cs typeface="Courier New"/>
                <a:sym typeface="Courier New"/>
              </a:rPr>
              <a:t>value</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D4D4D4"/>
                </a:solidFill>
                <a:highlight>
                  <a:srgbClr val="1F1F1F"/>
                </a:highlight>
                <a:latin typeface="Courier New"/>
                <a:ea typeface="Courier New"/>
                <a:cs typeface="Courier New"/>
                <a:sym typeface="Courier New"/>
              </a:rPr>
              <a:t>/</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B5CEA8"/>
                </a:solidFill>
                <a:highlight>
                  <a:srgbClr val="1F1F1F"/>
                </a:highlight>
                <a:latin typeface="Courier New"/>
                <a:ea typeface="Courier New"/>
                <a:cs typeface="Courier New"/>
                <a:sym typeface="Courier New"/>
              </a:rPr>
              <a:t>1000000</a:t>
            </a:r>
            <a:r>
              <a:rPr b="1" i="0" lang="en" sz="450" u="none" cap="none" strike="noStrike">
                <a:solidFill>
                  <a:srgbClr val="CCCCCC"/>
                </a:solidFill>
                <a:highlight>
                  <a:srgbClr val="1F1F1F"/>
                </a:highlight>
                <a:latin typeface="Courier New"/>
                <a:ea typeface="Courier New"/>
                <a:cs typeface="Courier New"/>
                <a:sym typeface="Courier New"/>
              </a:rPr>
              <a:t>.</a:t>
            </a:r>
            <a:r>
              <a:rPr b="1" i="0" lang="en" sz="450" u="none" cap="none" strike="noStrike">
                <a:solidFill>
                  <a:srgbClr val="B5CEA8"/>
                </a:solidFill>
                <a:highlight>
                  <a:srgbClr val="1F1F1F"/>
                </a:highlight>
                <a:latin typeface="Courier New"/>
                <a:ea typeface="Courier New"/>
                <a:cs typeface="Courier New"/>
                <a:sym typeface="Courier New"/>
              </a:rPr>
              <a:t>0</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B5CEA8"/>
                </a:solidFill>
                <a:highlight>
                  <a:srgbClr val="1F1F1F"/>
                </a:highlight>
                <a:latin typeface="Courier New"/>
                <a:ea typeface="Courier New"/>
                <a:cs typeface="Courier New"/>
                <a:sym typeface="Courier New"/>
              </a:rPr>
              <a:t>2</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AS</a:t>
            </a:r>
            <a:r>
              <a:rPr b="1" i="0" lang="en" sz="450" u="none" cap="none" strike="noStrike">
                <a:solidFill>
                  <a:srgbClr val="CCCCCC"/>
                </a:solidFill>
                <a:highlight>
                  <a:srgbClr val="1F1F1F"/>
                </a:highlight>
                <a:latin typeface="Courier New"/>
                <a:ea typeface="Courier New"/>
                <a:cs typeface="Courier New"/>
                <a:sym typeface="Courier New"/>
              </a:rPr>
              <a:t> avg_market_value_m</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569CD6"/>
                </a:solidFill>
                <a:highlight>
                  <a:srgbClr val="1F1F1F"/>
                </a:highlight>
                <a:latin typeface="Courier New"/>
                <a:ea typeface="Courier New"/>
                <a:cs typeface="Courier New"/>
                <a:sym typeface="Courier New"/>
              </a:rPr>
              <a:t>FROM</a:t>
            </a:r>
            <a:r>
              <a:rPr b="1" i="0" lang="en" sz="450" u="none" cap="none" strike="noStrike">
                <a:solidFill>
                  <a:srgbClr val="CCCCCC"/>
                </a:solidFill>
                <a:highlight>
                  <a:srgbClr val="1F1F1F"/>
                </a:highlight>
                <a:latin typeface="Courier New"/>
                <a:ea typeface="Courier New"/>
                <a:cs typeface="Courier New"/>
                <a:sym typeface="Courier New"/>
              </a:rPr>
              <a:t> player_market_value</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569CD6"/>
                </a:solidFill>
                <a:highlight>
                  <a:srgbClr val="1F1F1F"/>
                </a:highlight>
                <a:latin typeface="Courier New"/>
                <a:ea typeface="Courier New"/>
                <a:cs typeface="Courier New"/>
                <a:sym typeface="Courier New"/>
              </a:rPr>
              <a:t>WHERE</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value</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IS NOT NULL</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AND</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value</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D4D4D4"/>
                </a:solidFill>
                <a:highlight>
                  <a:srgbClr val="1F1F1F"/>
                </a:highlight>
                <a:latin typeface="Courier New"/>
                <a:ea typeface="Courier New"/>
                <a:cs typeface="Courier New"/>
                <a:sym typeface="Courier New"/>
              </a:rPr>
              <a:t>&gt;</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B5CEA8"/>
                </a:solidFill>
                <a:highlight>
                  <a:srgbClr val="1F1F1F"/>
                </a:highlight>
                <a:latin typeface="Courier New"/>
                <a:ea typeface="Courier New"/>
                <a:cs typeface="Courier New"/>
                <a:sym typeface="Courier New"/>
              </a:rPr>
              <a:t>0</a:t>
            </a:r>
            <a:endParaRPr b="1" i="0" sz="450" u="none" cap="none" strike="noStrike">
              <a:solidFill>
                <a:srgbClr val="B5CEA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569CD6"/>
                </a:solidFill>
                <a:highlight>
                  <a:srgbClr val="1F1F1F"/>
                </a:highlight>
                <a:latin typeface="Courier New"/>
                <a:ea typeface="Courier New"/>
                <a:cs typeface="Courier New"/>
                <a:sym typeface="Courier New"/>
              </a:rPr>
              <a:t>GROUP BY</a:t>
            </a:r>
            <a:r>
              <a:rPr b="1" i="0" lang="en" sz="450" u="none" cap="none" strike="noStrike">
                <a:solidFill>
                  <a:srgbClr val="CCCCCC"/>
                </a:solidFill>
                <a:highlight>
                  <a:srgbClr val="1F1F1F"/>
                </a:highlight>
                <a:latin typeface="Courier New"/>
                <a:ea typeface="Courier New"/>
                <a:cs typeface="Courier New"/>
                <a:sym typeface="Courier New"/>
              </a:rPr>
              <a:t> season</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569CD6"/>
                </a:solidFill>
                <a:highlight>
                  <a:srgbClr val="1F1F1F"/>
                </a:highlight>
                <a:latin typeface="Courier New"/>
                <a:ea typeface="Courier New"/>
                <a:cs typeface="Courier New"/>
                <a:sym typeface="Courier New"/>
              </a:rPr>
              <a:t>ORDER BY</a:t>
            </a:r>
            <a:r>
              <a:rPr b="1" i="0" lang="en" sz="450" u="none" cap="none" strike="noStrike">
                <a:solidFill>
                  <a:srgbClr val="CCCCCC"/>
                </a:solidFill>
                <a:highlight>
                  <a:srgbClr val="1F1F1F"/>
                </a:highlight>
                <a:latin typeface="Courier New"/>
                <a:ea typeface="Courier New"/>
                <a:cs typeface="Courier New"/>
                <a:sym typeface="Courier New"/>
              </a:rPr>
              <a:t> season;</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569CD6"/>
                </a:solidFill>
                <a:highlight>
                  <a:srgbClr val="1F1F1F"/>
                </a:highlight>
                <a:latin typeface="Courier New"/>
                <a:ea typeface="Courier New"/>
                <a:cs typeface="Courier New"/>
                <a:sym typeface="Courier New"/>
              </a:rPr>
              <a:t>WITH</a:t>
            </a:r>
            <a:r>
              <a:rPr b="1" i="0" lang="en" sz="450" u="none" cap="none" strike="noStrike">
                <a:solidFill>
                  <a:srgbClr val="CCCCCC"/>
                </a:solidFill>
                <a:highlight>
                  <a:srgbClr val="1F1F1F"/>
                </a:highlight>
                <a:latin typeface="Courier New"/>
                <a:ea typeface="Courier New"/>
                <a:cs typeface="Courier New"/>
                <a:sym typeface="Courier New"/>
              </a:rPr>
              <a:t> fee_by_season </a:t>
            </a:r>
            <a:r>
              <a:rPr b="1" i="0" lang="en" sz="450" u="none" cap="none" strike="noStrike">
                <a:solidFill>
                  <a:srgbClr val="569CD6"/>
                </a:solidFill>
                <a:highlight>
                  <a:srgbClr val="1F1F1F"/>
                </a:highlight>
                <a:latin typeface="Courier New"/>
                <a:ea typeface="Courier New"/>
                <a:cs typeface="Courier New"/>
                <a:sym typeface="Courier New"/>
              </a:rPr>
              <a:t>AS</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SELECT</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DCDCAA"/>
                </a:solidFill>
                <a:highlight>
                  <a:srgbClr val="1F1F1F"/>
                </a:highlight>
                <a:latin typeface="Courier New"/>
                <a:ea typeface="Courier New"/>
                <a:cs typeface="Courier New"/>
                <a:sym typeface="Courier New"/>
              </a:rPr>
              <a:t>CAST</a:t>
            </a:r>
            <a:r>
              <a:rPr b="1" i="0" lang="en" sz="450" u="none" cap="none" strike="noStrike">
                <a:solidFill>
                  <a:srgbClr val="CCCCCC"/>
                </a:solidFill>
                <a:highlight>
                  <a:srgbClr val="1F1F1F"/>
                </a:highlight>
                <a:latin typeface="Courier New"/>
                <a:ea typeface="Courier New"/>
                <a:cs typeface="Courier New"/>
                <a:sym typeface="Courier New"/>
              </a:rPr>
              <a:t>(strftime(</a:t>
            </a:r>
            <a:r>
              <a:rPr b="1" i="0" lang="en" sz="450" u="none" cap="none" strike="noStrike">
                <a:solidFill>
                  <a:srgbClr val="CE9178"/>
                </a:solidFill>
                <a:highlight>
                  <a:srgbClr val="1F1F1F"/>
                </a:highlight>
                <a:latin typeface="Courier New"/>
                <a:ea typeface="Courier New"/>
                <a:cs typeface="Courier New"/>
                <a:sym typeface="Courier New"/>
              </a:rPr>
              <a:t>'%Y'</a:t>
            </a:r>
            <a:r>
              <a:rPr b="1" i="0" lang="en" sz="450" u="none" cap="none" strike="noStrike">
                <a:solidFill>
                  <a:srgbClr val="CCCCCC"/>
                </a:solidFill>
                <a:highlight>
                  <a:srgbClr val="1F1F1F"/>
                </a:highlight>
                <a:latin typeface="Courier New"/>
                <a:ea typeface="Courier New"/>
                <a:cs typeface="Courier New"/>
                <a:sym typeface="Courier New"/>
              </a:rPr>
              <a:t>, transfer_date) </a:t>
            </a:r>
            <a:r>
              <a:rPr b="1" i="0" lang="en" sz="450" u="none" cap="none" strike="noStrike">
                <a:solidFill>
                  <a:srgbClr val="569CD6"/>
                </a:solidFill>
                <a:highlight>
                  <a:srgbClr val="1F1F1F"/>
                </a:highlight>
                <a:latin typeface="Courier New"/>
                <a:ea typeface="Courier New"/>
                <a:cs typeface="Courier New"/>
                <a:sym typeface="Courier New"/>
              </a:rPr>
              <a:t>AS</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INTEGER</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AS</a:t>
            </a:r>
            <a:r>
              <a:rPr b="1" i="0" lang="en" sz="450" u="none" cap="none" strike="noStrike">
                <a:solidFill>
                  <a:srgbClr val="CCCCCC"/>
                </a:solidFill>
                <a:highlight>
                  <a:srgbClr val="1F1F1F"/>
                </a:highlight>
                <a:latin typeface="Courier New"/>
                <a:ea typeface="Courier New"/>
                <a:cs typeface="Courier New"/>
                <a:sym typeface="Courier New"/>
              </a:rPr>
              <a:t> season, </a:t>
            </a:r>
            <a:r>
              <a:rPr b="1" i="0" lang="en" sz="450" u="none" cap="none" strike="noStrike">
                <a:solidFill>
                  <a:srgbClr val="DCDCAA"/>
                </a:solidFill>
                <a:highlight>
                  <a:srgbClr val="1F1F1F"/>
                </a:highlight>
                <a:latin typeface="Courier New"/>
                <a:ea typeface="Courier New"/>
                <a:cs typeface="Courier New"/>
                <a:sym typeface="Courier New"/>
              </a:rPr>
              <a:t>ROUND</a:t>
            </a:r>
            <a:r>
              <a:rPr b="1" i="0" lang="en" sz="450" u="none" cap="none" strike="noStrike">
                <a:solidFill>
                  <a:srgbClr val="CCCCCC"/>
                </a:solidFill>
                <a:highlight>
                  <a:srgbClr val="1F1F1F"/>
                </a:highlight>
                <a:latin typeface="Courier New"/>
                <a:ea typeface="Courier New"/>
                <a:cs typeface="Courier New"/>
                <a:sym typeface="Courier New"/>
              </a:rPr>
              <a:t>(</a:t>
            </a:r>
            <a:r>
              <a:rPr b="1" i="0" lang="en" sz="450" u="none" cap="none" strike="noStrike">
                <a:solidFill>
                  <a:srgbClr val="DCDCAA"/>
                </a:solidFill>
                <a:highlight>
                  <a:srgbClr val="1F1F1F"/>
                </a:highlight>
                <a:latin typeface="Courier New"/>
                <a:ea typeface="Courier New"/>
                <a:cs typeface="Courier New"/>
                <a:sym typeface="Courier New"/>
              </a:rPr>
              <a:t>AVG</a:t>
            </a:r>
            <a:r>
              <a:rPr b="1" i="0" lang="en" sz="450" u="none" cap="none" strike="noStrike">
                <a:solidFill>
                  <a:srgbClr val="CCCCCC"/>
                </a:solidFill>
                <a:highlight>
                  <a:srgbClr val="1F1F1F"/>
                </a:highlight>
                <a:latin typeface="Courier New"/>
                <a:ea typeface="Courier New"/>
                <a:cs typeface="Courier New"/>
                <a:sym typeface="Courier New"/>
              </a:rPr>
              <a:t>(transfer_fee) </a:t>
            </a:r>
            <a:r>
              <a:rPr b="1" i="0" lang="en" sz="450" u="none" cap="none" strike="noStrike">
                <a:solidFill>
                  <a:srgbClr val="D4D4D4"/>
                </a:solidFill>
                <a:highlight>
                  <a:srgbClr val="1F1F1F"/>
                </a:highlight>
                <a:latin typeface="Courier New"/>
                <a:ea typeface="Courier New"/>
                <a:cs typeface="Courier New"/>
                <a:sym typeface="Courier New"/>
              </a:rPr>
              <a:t>/</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B5CEA8"/>
                </a:solidFill>
                <a:highlight>
                  <a:srgbClr val="1F1F1F"/>
                </a:highlight>
                <a:latin typeface="Courier New"/>
                <a:ea typeface="Courier New"/>
                <a:cs typeface="Courier New"/>
                <a:sym typeface="Courier New"/>
              </a:rPr>
              <a:t>1000000</a:t>
            </a:r>
            <a:r>
              <a:rPr b="1" i="0" lang="en" sz="450" u="none" cap="none" strike="noStrike">
                <a:solidFill>
                  <a:srgbClr val="CCCCCC"/>
                </a:solidFill>
                <a:highlight>
                  <a:srgbClr val="1F1F1F"/>
                </a:highlight>
                <a:latin typeface="Courier New"/>
                <a:ea typeface="Courier New"/>
                <a:cs typeface="Courier New"/>
                <a:sym typeface="Courier New"/>
              </a:rPr>
              <a:t>.</a:t>
            </a:r>
            <a:r>
              <a:rPr b="1" i="0" lang="en" sz="450" u="none" cap="none" strike="noStrike">
                <a:solidFill>
                  <a:srgbClr val="B5CEA8"/>
                </a:solidFill>
                <a:highlight>
                  <a:srgbClr val="1F1F1F"/>
                </a:highlight>
                <a:latin typeface="Courier New"/>
                <a:ea typeface="Courier New"/>
                <a:cs typeface="Courier New"/>
                <a:sym typeface="Courier New"/>
              </a:rPr>
              <a:t>0</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B5CEA8"/>
                </a:solidFill>
                <a:highlight>
                  <a:srgbClr val="1F1F1F"/>
                </a:highlight>
                <a:latin typeface="Courier New"/>
                <a:ea typeface="Courier New"/>
                <a:cs typeface="Courier New"/>
                <a:sym typeface="Courier New"/>
              </a:rPr>
              <a:t>2</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AS</a:t>
            </a:r>
            <a:r>
              <a:rPr b="1" i="0" lang="en" sz="450" u="none" cap="none" strike="noStrike">
                <a:solidFill>
                  <a:srgbClr val="CCCCCC"/>
                </a:solidFill>
                <a:highlight>
                  <a:srgbClr val="1F1F1F"/>
                </a:highlight>
                <a:latin typeface="Courier New"/>
                <a:ea typeface="Courier New"/>
                <a:cs typeface="Courier New"/>
                <a:sym typeface="Courier New"/>
              </a:rPr>
              <a:t> avg_fee_m</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FROM</a:t>
            </a:r>
            <a:r>
              <a:rPr b="1" i="0" lang="en" sz="450" u="none" cap="none" strike="noStrike">
                <a:solidFill>
                  <a:srgbClr val="CCCCCC"/>
                </a:solidFill>
                <a:highlight>
                  <a:srgbClr val="1F1F1F"/>
                </a:highlight>
                <a:latin typeface="Courier New"/>
                <a:ea typeface="Courier New"/>
                <a:cs typeface="Courier New"/>
                <a:sym typeface="Courier New"/>
              </a:rPr>
              <a:t> transfer_history</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WHERE</a:t>
            </a:r>
            <a:r>
              <a:rPr b="1" i="0" lang="en" sz="450" u="none" cap="none" strike="noStrike">
                <a:solidFill>
                  <a:srgbClr val="CCCCCC"/>
                </a:solidFill>
                <a:highlight>
                  <a:srgbClr val="1F1F1F"/>
                </a:highlight>
                <a:latin typeface="Courier New"/>
                <a:ea typeface="Courier New"/>
                <a:cs typeface="Courier New"/>
                <a:sym typeface="Courier New"/>
              </a:rPr>
              <a:t> transfer_fee </a:t>
            </a:r>
            <a:r>
              <a:rPr b="1" i="0" lang="en" sz="450" u="none" cap="none" strike="noStrike">
                <a:solidFill>
                  <a:srgbClr val="569CD6"/>
                </a:solidFill>
                <a:highlight>
                  <a:srgbClr val="1F1F1F"/>
                </a:highlight>
                <a:latin typeface="Courier New"/>
                <a:ea typeface="Courier New"/>
                <a:cs typeface="Courier New"/>
                <a:sym typeface="Courier New"/>
              </a:rPr>
              <a:t>IS NOT NULL</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AND</a:t>
            </a:r>
            <a:r>
              <a:rPr b="1" i="0" lang="en" sz="450" u="none" cap="none" strike="noStrike">
                <a:solidFill>
                  <a:srgbClr val="CCCCCC"/>
                </a:solidFill>
                <a:highlight>
                  <a:srgbClr val="1F1F1F"/>
                </a:highlight>
                <a:latin typeface="Courier New"/>
                <a:ea typeface="Courier New"/>
                <a:cs typeface="Courier New"/>
                <a:sym typeface="Courier New"/>
              </a:rPr>
              <a:t> transfer_fee </a:t>
            </a:r>
            <a:r>
              <a:rPr b="1" i="0" lang="en" sz="450" u="none" cap="none" strike="noStrike">
                <a:solidFill>
                  <a:srgbClr val="D4D4D4"/>
                </a:solidFill>
                <a:highlight>
                  <a:srgbClr val="1F1F1F"/>
                </a:highlight>
                <a:latin typeface="Courier New"/>
                <a:ea typeface="Courier New"/>
                <a:cs typeface="Courier New"/>
                <a:sym typeface="Courier New"/>
              </a:rPr>
              <a:t>&gt;</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B5CEA8"/>
                </a:solidFill>
                <a:highlight>
                  <a:srgbClr val="1F1F1F"/>
                </a:highlight>
                <a:latin typeface="Courier New"/>
                <a:ea typeface="Courier New"/>
                <a:cs typeface="Courier New"/>
                <a:sym typeface="Courier New"/>
              </a:rPr>
              <a:t>0</a:t>
            </a:r>
            <a:endParaRPr b="1" i="0" sz="450" u="none" cap="none" strike="noStrike">
              <a:solidFill>
                <a:srgbClr val="B5CEA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GROUP BY</a:t>
            </a:r>
            <a:r>
              <a:rPr b="1" i="0" lang="en" sz="450" u="none" cap="none" strike="noStrike">
                <a:solidFill>
                  <a:srgbClr val="CCCCCC"/>
                </a:solidFill>
                <a:highlight>
                  <a:srgbClr val="1F1F1F"/>
                </a:highlight>
                <a:latin typeface="Courier New"/>
                <a:ea typeface="Courier New"/>
                <a:cs typeface="Courier New"/>
                <a:sym typeface="Courier New"/>
              </a:rPr>
              <a:t> season),value_by_season </a:t>
            </a:r>
            <a:r>
              <a:rPr b="1" i="0" lang="en" sz="450" u="none" cap="none" strike="noStrike">
                <a:solidFill>
                  <a:srgbClr val="569CD6"/>
                </a:solidFill>
                <a:highlight>
                  <a:srgbClr val="1F1F1F"/>
                </a:highlight>
                <a:latin typeface="Courier New"/>
                <a:ea typeface="Courier New"/>
                <a:cs typeface="Courier New"/>
                <a:sym typeface="Courier New"/>
              </a:rPr>
              <a:t>AS</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SELECT</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DCDCAA"/>
                </a:solidFill>
                <a:highlight>
                  <a:srgbClr val="1F1F1F"/>
                </a:highlight>
                <a:latin typeface="Courier New"/>
                <a:ea typeface="Courier New"/>
                <a:cs typeface="Courier New"/>
                <a:sym typeface="Courier New"/>
              </a:rPr>
              <a:t>CAST</a:t>
            </a:r>
            <a:r>
              <a:rPr b="1" i="0" lang="en" sz="450" u="none" cap="none" strike="noStrike">
                <a:solidFill>
                  <a:srgbClr val="CCCCCC"/>
                </a:solidFill>
                <a:highlight>
                  <a:srgbClr val="1F1F1F"/>
                </a:highlight>
                <a:latin typeface="Courier New"/>
                <a:ea typeface="Courier New"/>
                <a:cs typeface="Courier New"/>
                <a:sym typeface="Courier New"/>
              </a:rPr>
              <a:t>(strftime(</a:t>
            </a:r>
            <a:r>
              <a:rPr b="1" i="0" lang="en" sz="450" u="none" cap="none" strike="noStrike">
                <a:solidFill>
                  <a:srgbClr val="CE9178"/>
                </a:solidFill>
                <a:highlight>
                  <a:srgbClr val="1F1F1F"/>
                </a:highlight>
                <a:latin typeface="Courier New"/>
                <a:ea typeface="Courier New"/>
                <a:cs typeface="Courier New"/>
                <a:sym typeface="Courier New"/>
              </a:rPr>
              <a:t>'%Y'</a:t>
            </a:r>
            <a:r>
              <a:rPr b="1" i="0" lang="en" sz="450" u="none" cap="none" strike="noStrike">
                <a:solidFill>
                  <a:srgbClr val="CCCCCC"/>
                </a:solidFill>
                <a:highlight>
                  <a:srgbClr val="1F1F1F"/>
                </a:highlight>
                <a:latin typeface="Courier New"/>
                <a:ea typeface="Courier New"/>
                <a:cs typeface="Courier New"/>
                <a:sym typeface="Courier New"/>
              </a:rPr>
              <a:t>, date_unix) </a:t>
            </a:r>
            <a:r>
              <a:rPr b="1" i="0" lang="en" sz="450" u="none" cap="none" strike="noStrike">
                <a:solidFill>
                  <a:srgbClr val="569CD6"/>
                </a:solidFill>
                <a:highlight>
                  <a:srgbClr val="1F1F1F"/>
                </a:highlight>
                <a:latin typeface="Courier New"/>
                <a:ea typeface="Courier New"/>
                <a:cs typeface="Courier New"/>
                <a:sym typeface="Courier New"/>
              </a:rPr>
              <a:t>AS</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INTEGER</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AS</a:t>
            </a:r>
            <a:r>
              <a:rPr b="1" i="0" lang="en" sz="450" u="none" cap="none" strike="noStrike">
                <a:solidFill>
                  <a:srgbClr val="CCCCCC"/>
                </a:solidFill>
                <a:highlight>
                  <a:srgbClr val="1F1F1F"/>
                </a:highlight>
                <a:latin typeface="Courier New"/>
                <a:ea typeface="Courier New"/>
                <a:cs typeface="Courier New"/>
                <a:sym typeface="Courier New"/>
              </a:rPr>
              <a:t> season, </a:t>
            </a:r>
            <a:r>
              <a:rPr b="1" i="0" lang="en" sz="450" u="none" cap="none" strike="noStrike">
                <a:solidFill>
                  <a:srgbClr val="DCDCAA"/>
                </a:solidFill>
                <a:highlight>
                  <a:srgbClr val="1F1F1F"/>
                </a:highlight>
                <a:latin typeface="Courier New"/>
                <a:ea typeface="Courier New"/>
                <a:cs typeface="Courier New"/>
                <a:sym typeface="Courier New"/>
              </a:rPr>
              <a:t>ROUND</a:t>
            </a:r>
            <a:r>
              <a:rPr b="1" i="0" lang="en" sz="450" u="none" cap="none" strike="noStrike">
                <a:solidFill>
                  <a:srgbClr val="CCCCCC"/>
                </a:solidFill>
                <a:highlight>
                  <a:srgbClr val="1F1F1F"/>
                </a:highlight>
                <a:latin typeface="Courier New"/>
                <a:ea typeface="Courier New"/>
                <a:cs typeface="Courier New"/>
                <a:sym typeface="Courier New"/>
              </a:rPr>
              <a:t>(</a:t>
            </a:r>
            <a:r>
              <a:rPr b="1" i="0" lang="en" sz="450" u="none" cap="none" strike="noStrike">
                <a:solidFill>
                  <a:srgbClr val="DCDCAA"/>
                </a:solidFill>
                <a:highlight>
                  <a:srgbClr val="1F1F1F"/>
                </a:highlight>
                <a:latin typeface="Courier New"/>
                <a:ea typeface="Courier New"/>
                <a:cs typeface="Courier New"/>
                <a:sym typeface="Courier New"/>
              </a:rPr>
              <a:t>AVG</a:t>
            </a:r>
            <a:r>
              <a:rPr b="1" i="0" lang="en" sz="450" u="none" cap="none" strike="noStrike">
                <a:solidFill>
                  <a:srgbClr val="CCCCCC"/>
                </a:solidFill>
                <a:highlight>
                  <a:srgbClr val="1F1F1F"/>
                </a:highlight>
                <a:latin typeface="Courier New"/>
                <a:ea typeface="Courier New"/>
                <a:cs typeface="Courier New"/>
                <a:sym typeface="Courier New"/>
              </a:rPr>
              <a:t>(</a:t>
            </a:r>
            <a:r>
              <a:rPr b="1" i="0" lang="en" sz="450" u="none" cap="none" strike="noStrike">
                <a:solidFill>
                  <a:srgbClr val="569CD6"/>
                </a:solidFill>
                <a:highlight>
                  <a:srgbClr val="1F1F1F"/>
                </a:highlight>
                <a:latin typeface="Courier New"/>
                <a:ea typeface="Courier New"/>
                <a:cs typeface="Courier New"/>
                <a:sym typeface="Courier New"/>
              </a:rPr>
              <a:t>value</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D4D4D4"/>
                </a:solidFill>
                <a:highlight>
                  <a:srgbClr val="1F1F1F"/>
                </a:highlight>
                <a:latin typeface="Courier New"/>
                <a:ea typeface="Courier New"/>
                <a:cs typeface="Courier New"/>
                <a:sym typeface="Courier New"/>
              </a:rPr>
              <a:t>/</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B5CEA8"/>
                </a:solidFill>
                <a:highlight>
                  <a:srgbClr val="1F1F1F"/>
                </a:highlight>
                <a:latin typeface="Courier New"/>
                <a:ea typeface="Courier New"/>
                <a:cs typeface="Courier New"/>
                <a:sym typeface="Courier New"/>
              </a:rPr>
              <a:t>1000000</a:t>
            </a:r>
            <a:r>
              <a:rPr b="1" i="0" lang="en" sz="450" u="none" cap="none" strike="noStrike">
                <a:solidFill>
                  <a:srgbClr val="CCCCCC"/>
                </a:solidFill>
                <a:highlight>
                  <a:srgbClr val="1F1F1F"/>
                </a:highlight>
                <a:latin typeface="Courier New"/>
                <a:ea typeface="Courier New"/>
                <a:cs typeface="Courier New"/>
                <a:sym typeface="Courier New"/>
              </a:rPr>
              <a:t>.</a:t>
            </a:r>
            <a:r>
              <a:rPr b="1" i="0" lang="en" sz="450" u="none" cap="none" strike="noStrike">
                <a:solidFill>
                  <a:srgbClr val="B5CEA8"/>
                </a:solidFill>
                <a:highlight>
                  <a:srgbClr val="1F1F1F"/>
                </a:highlight>
                <a:latin typeface="Courier New"/>
                <a:ea typeface="Courier New"/>
                <a:cs typeface="Courier New"/>
                <a:sym typeface="Courier New"/>
              </a:rPr>
              <a:t>0</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B5CEA8"/>
                </a:solidFill>
                <a:highlight>
                  <a:srgbClr val="1F1F1F"/>
                </a:highlight>
                <a:latin typeface="Courier New"/>
                <a:ea typeface="Courier New"/>
                <a:cs typeface="Courier New"/>
                <a:sym typeface="Courier New"/>
              </a:rPr>
              <a:t>2</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AS</a:t>
            </a:r>
            <a:r>
              <a:rPr b="1" i="0" lang="en" sz="450" u="none" cap="none" strike="noStrike">
                <a:solidFill>
                  <a:srgbClr val="CCCCCC"/>
                </a:solidFill>
                <a:highlight>
                  <a:srgbClr val="1F1F1F"/>
                </a:highlight>
                <a:latin typeface="Courier New"/>
                <a:ea typeface="Courier New"/>
                <a:cs typeface="Courier New"/>
                <a:sym typeface="Courier New"/>
              </a:rPr>
              <a:t> avg_market_value_m</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FROM</a:t>
            </a:r>
            <a:r>
              <a:rPr b="1" i="0" lang="en" sz="450" u="none" cap="none" strike="noStrike">
                <a:solidFill>
                  <a:srgbClr val="CCCCCC"/>
                </a:solidFill>
                <a:highlight>
                  <a:srgbClr val="1F1F1F"/>
                </a:highlight>
                <a:latin typeface="Courier New"/>
                <a:ea typeface="Courier New"/>
                <a:cs typeface="Courier New"/>
                <a:sym typeface="Courier New"/>
              </a:rPr>
              <a:t> player_market_value</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WHERE</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value</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IS NOT NULL</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AND</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value</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D4D4D4"/>
                </a:solidFill>
                <a:highlight>
                  <a:srgbClr val="1F1F1F"/>
                </a:highlight>
                <a:latin typeface="Courier New"/>
                <a:ea typeface="Courier New"/>
                <a:cs typeface="Courier New"/>
                <a:sym typeface="Courier New"/>
              </a:rPr>
              <a:t>&gt;</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B5CEA8"/>
                </a:solidFill>
                <a:highlight>
                  <a:srgbClr val="1F1F1F"/>
                </a:highlight>
                <a:latin typeface="Courier New"/>
                <a:ea typeface="Courier New"/>
                <a:cs typeface="Courier New"/>
                <a:sym typeface="Courier New"/>
              </a:rPr>
              <a:t>0</a:t>
            </a:r>
            <a:endParaRPr b="1" i="0" sz="450" u="none" cap="none" strike="noStrike">
              <a:solidFill>
                <a:srgbClr val="B5CEA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GROUP BY</a:t>
            </a:r>
            <a:r>
              <a:rPr b="1" i="0" lang="en" sz="450" u="none" cap="none" strike="noStrike">
                <a:solidFill>
                  <a:srgbClr val="CCCCCC"/>
                </a:solidFill>
                <a:highlight>
                  <a:srgbClr val="1F1F1F"/>
                </a:highlight>
                <a:latin typeface="Courier New"/>
                <a:ea typeface="Courier New"/>
                <a:cs typeface="Courier New"/>
                <a:sym typeface="Courier New"/>
              </a:rPr>
              <a:t> season)</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569CD6"/>
                </a:solidFill>
                <a:highlight>
                  <a:srgbClr val="1F1F1F"/>
                </a:highlight>
                <a:latin typeface="Courier New"/>
                <a:ea typeface="Courier New"/>
                <a:cs typeface="Courier New"/>
                <a:sym typeface="Courier New"/>
              </a:rPr>
              <a:t>SELECT</a:t>
            </a:r>
            <a:r>
              <a:rPr b="1" i="0" lang="en" sz="450" u="none" cap="none" strike="noStrike">
                <a:solidFill>
                  <a:srgbClr val="CCCCCC"/>
                </a:solidFill>
                <a:highlight>
                  <a:srgbClr val="1F1F1F"/>
                </a:highlight>
                <a:latin typeface="Courier New"/>
                <a:ea typeface="Courier New"/>
                <a:cs typeface="Courier New"/>
                <a:sym typeface="Courier New"/>
              </a:rPr>
              <a:t> f.season,  f.avg_fee_m, v.avg_market_value_m, </a:t>
            </a:r>
            <a:r>
              <a:rPr b="1" i="0" lang="en" sz="450" u="none" cap="none" strike="noStrike">
                <a:solidFill>
                  <a:srgbClr val="DCDCAA"/>
                </a:solidFill>
                <a:highlight>
                  <a:srgbClr val="1F1F1F"/>
                </a:highlight>
                <a:latin typeface="Courier New"/>
                <a:ea typeface="Courier New"/>
                <a:cs typeface="Courier New"/>
                <a:sym typeface="Courier New"/>
              </a:rPr>
              <a:t>ROUND</a:t>
            </a:r>
            <a:r>
              <a:rPr b="1" i="0" lang="en" sz="450" u="none" cap="none" strike="noStrike">
                <a:solidFill>
                  <a:srgbClr val="CCCCCC"/>
                </a:solidFill>
                <a:highlight>
                  <a:srgbClr val="1F1F1F"/>
                </a:highlight>
                <a:latin typeface="Courier New"/>
                <a:ea typeface="Courier New"/>
                <a:cs typeface="Courier New"/>
                <a:sym typeface="Courier New"/>
              </a:rPr>
              <a:t>((f.avg_fee_m </a:t>
            </a:r>
            <a:r>
              <a:rPr b="1" i="0" lang="en" sz="450" u="none" cap="none" strike="noStrike">
                <a:solidFill>
                  <a:srgbClr val="D4D4D4"/>
                </a:solidFill>
                <a:highlight>
                  <a:srgbClr val="1F1F1F"/>
                </a:highlight>
                <a:latin typeface="Courier New"/>
                <a:ea typeface="Courier New"/>
                <a:cs typeface="Courier New"/>
                <a:sym typeface="Courier New"/>
              </a:rPr>
              <a:t>-</a:t>
            </a:r>
            <a:r>
              <a:rPr b="1" i="0" lang="en" sz="450" u="none" cap="none" strike="noStrike">
                <a:solidFill>
                  <a:srgbClr val="CCCCCC"/>
                </a:solidFill>
                <a:highlight>
                  <a:srgbClr val="1F1F1F"/>
                </a:highlight>
                <a:latin typeface="Courier New"/>
                <a:ea typeface="Courier New"/>
                <a:cs typeface="Courier New"/>
                <a:sym typeface="Courier New"/>
              </a:rPr>
              <a:t> v.avg_market_value_m) </a:t>
            </a:r>
            <a:r>
              <a:rPr b="1" i="0" lang="en" sz="450" u="none" cap="none" strike="noStrike">
                <a:solidFill>
                  <a:srgbClr val="D4D4D4"/>
                </a:solidFill>
                <a:highlight>
                  <a:srgbClr val="1F1F1F"/>
                </a:highlight>
                <a:latin typeface="Courier New"/>
                <a:ea typeface="Courier New"/>
                <a:cs typeface="Courier New"/>
                <a:sym typeface="Courier New"/>
              </a:rPr>
              <a:t>/</a:t>
            </a:r>
            <a:r>
              <a:rPr b="1" i="0" lang="en" sz="450" u="none" cap="none" strike="noStrike">
                <a:solidFill>
                  <a:srgbClr val="CCCCCC"/>
                </a:solidFill>
                <a:highlight>
                  <a:srgbClr val="1F1F1F"/>
                </a:highlight>
                <a:latin typeface="Courier New"/>
                <a:ea typeface="Courier New"/>
                <a:cs typeface="Courier New"/>
                <a:sym typeface="Courier New"/>
              </a:rPr>
              <a:t> v.avg_market_value_m </a:t>
            </a:r>
            <a:r>
              <a:rPr b="1" i="0" lang="en" sz="450" u="none" cap="none" strike="noStrike">
                <a:solidFill>
                  <a:srgbClr val="D4D4D4"/>
                </a:solidFill>
                <a:highlight>
                  <a:srgbClr val="1F1F1F"/>
                </a:highlight>
                <a:latin typeface="Courier New"/>
                <a:ea typeface="Courier New"/>
                <a:cs typeface="Courier New"/>
                <a:sym typeface="Courier New"/>
              </a:rPr>
              <a:t>*</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B5CEA8"/>
                </a:solidFill>
                <a:highlight>
                  <a:srgbClr val="1F1F1F"/>
                </a:highlight>
                <a:latin typeface="Courier New"/>
                <a:ea typeface="Courier New"/>
                <a:cs typeface="Courier New"/>
                <a:sym typeface="Courier New"/>
              </a:rPr>
              <a:t>100</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B5CEA8"/>
                </a:solidFill>
                <a:highlight>
                  <a:srgbClr val="1F1F1F"/>
                </a:highlight>
                <a:latin typeface="Courier New"/>
                <a:ea typeface="Courier New"/>
                <a:cs typeface="Courier New"/>
                <a:sym typeface="Courier New"/>
              </a:rPr>
              <a:t>1</a:t>
            </a:r>
            <a:r>
              <a:rPr b="1" i="0" lang="en" sz="450" u="none" cap="none" strike="noStrike">
                <a:solidFill>
                  <a:srgbClr val="CCCCCC"/>
                </a:solidFill>
                <a:highlight>
                  <a:srgbClr val="1F1F1F"/>
                </a:highlight>
                <a:latin typeface="Courier New"/>
                <a:ea typeface="Courier New"/>
                <a:cs typeface="Courier New"/>
                <a:sym typeface="Courier New"/>
              </a:rPr>
              <a:t>) </a:t>
            </a:r>
            <a:r>
              <a:rPr b="1" i="0" lang="en" sz="450" u="none" cap="none" strike="noStrike">
                <a:solidFill>
                  <a:srgbClr val="569CD6"/>
                </a:solidFill>
                <a:highlight>
                  <a:srgbClr val="1F1F1F"/>
                </a:highlight>
                <a:latin typeface="Courier New"/>
                <a:ea typeface="Courier New"/>
                <a:cs typeface="Courier New"/>
                <a:sym typeface="Courier New"/>
              </a:rPr>
              <a:t>AS</a:t>
            </a:r>
            <a:r>
              <a:rPr b="1" i="0" lang="en" sz="450" u="none" cap="none" strike="noStrike">
                <a:solidFill>
                  <a:srgbClr val="CCCCCC"/>
                </a:solidFill>
                <a:highlight>
                  <a:srgbClr val="1F1F1F"/>
                </a:highlight>
                <a:latin typeface="Courier New"/>
                <a:ea typeface="Courier New"/>
                <a:cs typeface="Courier New"/>
                <a:sym typeface="Courier New"/>
              </a:rPr>
              <a:t> fee_premium_pct</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569CD6"/>
                </a:solidFill>
                <a:highlight>
                  <a:srgbClr val="1F1F1F"/>
                </a:highlight>
                <a:latin typeface="Courier New"/>
                <a:ea typeface="Courier New"/>
                <a:cs typeface="Courier New"/>
                <a:sym typeface="Courier New"/>
              </a:rPr>
              <a:t>FROM</a:t>
            </a:r>
            <a:r>
              <a:rPr b="1" i="0" lang="en" sz="450" u="none" cap="none" strike="noStrike">
                <a:solidFill>
                  <a:srgbClr val="CCCCCC"/>
                </a:solidFill>
                <a:highlight>
                  <a:srgbClr val="1F1F1F"/>
                </a:highlight>
                <a:latin typeface="Courier New"/>
                <a:ea typeface="Courier New"/>
                <a:cs typeface="Courier New"/>
                <a:sym typeface="Courier New"/>
              </a:rPr>
              <a:t> fee_by_season f</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569CD6"/>
                </a:solidFill>
                <a:highlight>
                  <a:srgbClr val="1F1F1F"/>
                </a:highlight>
                <a:latin typeface="Courier New"/>
                <a:ea typeface="Courier New"/>
                <a:cs typeface="Courier New"/>
                <a:sym typeface="Courier New"/>
              </a:rPr>
              <a:t>INNER JOIN</a:t>
            </a:r>
            <a:r>
              <a:rPr b="1" i="0" lang="en" sz="450" u="none" cap="none" strike="noStrike">
                <a:solidFill>
                  <a:srgbClr val="CCCCCC"/>
                </a:solidFill>
                <a:highlight>
                  <a:srgbClr val="1F1F1F"/>
                </a:highlight>
                <a:latin typeface="Courier New"/>
                <a:ea typeface="Courier New"/>
                <a:cs typeface="Courier New"/>
                <a:sym typeface="Courier New"/>
              </a:rPr>
              <a:t> value_by_season v </a:t>
            </a:r>
            <a:r>
              <a:rPr b="1" i="0" lang="en" sz="450" u="none" cap="none" strike="noStrike">
                <a:solidFill>
                  <a:srgbClr val="569CD6"/>
                </a:solidFill>
                <a:highlight>
                  <a:srgbClr val="1F1F1F"/>
                </a:highlight>
                <a:latin typeface="Courier New"/>
                <a:ea typeface="Courier New"/>
                <a:cs typeface="Courier New"/>
                <a:sym typeface="Courier New"/>
              </a:rPr>
              <a:t>ON</a:t>
            </a:r>
            <a:r>
              <a:rPr b="1" i="0" lang="en" sz="450" u="none" cap="none" strike="noStrike">
                <a:solidFill>
                  <a:srgbClr val="CCCCCC"/>
                </a:solidFill>
                <a:highlight>
                  <a:srgbClr val="1F1F1F"/>
                </a:highlight>
                <a:latin typeface="Courier New"/>
                <a:ea typeface="Courier New"/>
                <a:cs typeface="Courier New"/>
                <a:sym typeface="Courier New"/>
              </a:rPr>
              <a:t> f.season </a:t>
            </a:r>
            <a:r>
              <a:rPr b="1" i="0" lang="en" sz="450" u="none" cap="none" strike="noStrike">
                <a:solidFill>
                  <a:srgbClr val="D4D4D4"/>
                </a:solidFill>
                <a:highlight>
                  <a:srgbClr val="1F1F1F"/>
                </a:highlight>
                <a:latin typeface="Courier New"/>
                <a:ea typeface="Courier New"/>
                <a:cs typeface="Courier New"/>
                <a:sym typeface="Courier New"/>
              </a:rPr>
              <a:t>=</a:t>
            </a:r>
            <a:r>
              <a:rPr b="1" i="0" lang="en" sz="450" u="none" cap="none" strike="noStrike">
                <a:solidFill>
                  <a:srgbClr val="CCCCCC"/>
                </a:solidFill>
                <a:highlight>
                  <a:srgbClr val="1F1F1F"/>
                </a:highlight>
                <a:latin typeface="Courier New"/>
                <a:ea typeface="Courier New"/>
                <a:cs typeface="Courier New"/>
                <a:sym typeface="Courier New"/>
              </a:rPr>
              <a:t> v.season</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rPr b="1" i="0" lang="en" sz="450" u="none" cap="none" strike="noStrike">
                <a:solidFill>
                  <a:srgbClr val="569CD6"/>
                </a:solidFill>
                <a:highlight>
                  <a:srgbClr val="1F1F1F"/>
                </a:highlight>
                <a:latin typeface="Courier New"/>
                <a:ea typeface="Courier New"/>
                <a:cs typeface="Courier New"/>
                <a:sym typeface="Courier New"/>
              </a:rPr>
              <a:t>ORDER BY</a:t>
            </a:r>
            <a:r>
              <a:rPr b="1" i="0" lang="en" sz="450" u="none" cap="none" strike="noStrike">
                <a:solidFill>
                  <a:srgbClr val="CCCCCC"/>
                </a:solidFill>
                <a:highlight>
                  <a:srgbClr val="1F1F1F"/>
                </a:highlight>
                <a:latin typeface="Courier New"/>
                <a:ea typeface="Courier New"/>
                <a:cs typeface="Courier New"/>
                <a:sym typeface="Courier New"/>
              </a:rPr>
              <a:t> f.season;</a:t>
            </a:r>
            <a:endParaRPr b="1" i="0" sz="4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450"/>
              <a:buFont typeface="Arial"/>
              <a:buNone/>
            </a:pPr>
            <a:r>
              <a:t/>
            </a:r>
            <a:endParaRPr b="1" i="0" sz="450" u="none" cap="none" strike="noStrike">
              <a:solidFill>
                <a:srgbClr val="569CD6"/>
              </a:solidFill>
              <a:highlight>
                <a:srgbClr val="1F1F1F"/>
              </a:highlight>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chemeClr val="dk2"/>
              </a:solidFill>
              <a:latin typeface="Nunito"/>
              <a:ea typeface="Nunito"/>
              <a:cs typeface="Nunito"/>
              <a:sym typeface="Nunito"/>
            </a:endParaRPr>
          </a:p>
        </p:txBody>
      </p:sp>
      <p:sp>
        <p:nvSpPr>
          <p:cNvPr id="375" name="Google Shape;375;p12"/>
          <p:cNvSpPr/>
          <p:nvPr/>
        </p:nvSpPr>
        <p:spPr>
          <a:xfrm>
            <a:off x="4886775" y="2975938"/>
            <a:ext cx="476400" cy="291900"/>
          </a:xfrm>
          <a:prstGeom prst="stripedRightArrow">
            <a:avLst>
              <a:gd fmla="val 5000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p:txBody>
      </p:sp>
      <p:pic>
        <p:nvPicPr>
          <p:cNvPr id="376" name="Google Shape;376;p12"/>
          <p:cNvPicPr preferRelativeResize="0"/>
          <p:nvPr/>
        </p:nvPicPr>
        <p:blipFill rotWithShape="1">
          <a:blip r:embed="rId3">
            <a:alphaModFix/>
          </a:blip>
          <a:srcRect b="0" l="0" r="0" t="0"/>
          <a:stretch/>
        </p:blipFill>
        <p:spPr>
          <a:xfrm>
            <a:off x="5761375" y="1597875"/>
            <a:ext cx="1921016" cy="32408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13"/>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6160"/>
              <a:buNone/>
            </a:pPr>
            <a:r>
              <a:rPr lang="en" sz="2466"/>
              <a:t>4. How has the overall transfer market inflated yearly, are fees growing faster than market values?</a:t>
            </a:r>
            <a:endParaRPr sz="2466"/>
          </a:p>
          <a:p>
            <a:pPr indent="0" lvl="0" marL="0" rtl="0" algn="l">
              <a:lnSpc>
                <a:spcPct val="100000"/>
              </a:lnSpc>
              <a:spcBef>
                <a:spcPts val="0"/>
              </a:spcBef>
              <a:spcAft>
                <a:spcPts val="0"/>
              </a:spcAft>
              <a:buSzPct val="111111"/>
              <a:buNone/>
            </a:pPr>
            <a:r>
              <a:t/>
            </a:r>
            <a:endParaRPr/>
          </a:p>
        </p:txBody>
      </p:sp>
      <p:sp>
        <p:nvSpPr>
          <p:cNvPr id="382" name="Google Shape;382;p13"/>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chemeClr val="accent6"/>
                </a:solidFill>
                <a:latin typeface="Maven Pro"/>
                <a:ea typeface="Maven Pro"/>
                <a:cs typeface="Maven Pro"/>
                <a:sym typeface="Maven Pro"/>
              </a:rPr>
              <a:t>Transfer Market Dynamics 💱</a:t>
            </a:r>
            <a:endParaRPr b="1" i="0" sz="1766" u="none" cap="none" strike="noStrike">
              <a:solidFill>
                <a:schemeClr val="accent6"/>
              </a:solidFill>
              <a:latin typeface="Maven Pro"/>
              <a:ea typeface="Maven Pro"/>
              <a:cs typeface="Maven Pro"/>
              <a:sym typeface="Maven Pro"/>
            </a:endParaRPr>
          </a:p>
        </p:txBody>
      </p:sp>
      <p:sp>
        <p:nvSpPr>
          <p:cNvPr id="383" name="Google Shape;383;p13"/>
          <p:cNvSpPr txBox="1"/>
          <p:nvPr/>
        </p:nvSpPr>
        <p:spPr>
          <a:xfrm>
            <a:off x="969300" y="1760330"/>
            <a:ext cx="3602700" cy="1207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6A9955"/>
                </a:solidFill>
                <a:highlight>
                  <a:srgbClr val="1F1F1F"/>
                </a:highlight>
                <a:latin typeface="Courier New"/>
                <a:ea typeface="Courier New"/>
                <a:cs typeface="Courier New"/>
                <a:sym typeface="Courier New"/>
              </a:rPr>
              <a:t># PLOTS</a:t>
            </a:r>
            <a:endParaRPr b="1" i="0" sz="350" u="none" cap="none" strike="noStrike">
              <a:solidFill>
                <a:srgbClr val="6A9955"/>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9CDCFE"/>
                </a:solidFill>
                <a:highlight>
                  <a:srgbClr val="1F1F1F"/>
                </a:highlight>
                <a:latin typeface="Courier New"/>
                <a:ea typeface="Courier New"/>
                <a:cs typeface="Courier New"/>
                <a:sym typeface="Courier New"/>
              </a:rPr>
              <a:t>fig</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4EC9B0"/>
                </a:solidFill>
                <a:highlight>
                  <a:srgbClr val="1F1F1F"/>
                </a:highlight>
                <a:latin typeface="Courier New"/>
                <a:ea typeface="Courier New"/>
                <a:cs typeface="Courier New"/>
                <a:sym typeface="Courier New"/>
              </a:rPr>
              <a:t>plt</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DCDCAA"/>
                </a:solidFill>
                <a:highlight>
                  <a:srgbClr val="1F1F1F"/>
                </a:highlight>
                <a:latin typeface="Courier New"/>
                <a:ea typeface="Courier New"/>
                <a:cs typeface="Courier New"/>
                <a:sym typeface="Courier New"/>
              </a:rPr>
              <a:t>subplots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1</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B5CEA8"/>
                </a:solidFill>
                <a:highlight>
                  <a:srgbClr val="1F1F1F"/>
                </a:highlight>
                <a:latin typeface="Courier New"/>
                <a:ea typeface="Courier New"/>
                <a:cs typeface="Courier New"/>
                <a:sym typeface="Courier New"/>
              </a:rPr>
              <a:t>2</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figsize</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14</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B5CEA8"/>
                </a:solidFill>
                <a:highlight>
                  <a:srgbClr val="1F1F1F"/>
                </a:highlight>
                <a:latin typeface="Courier New"/>
                <a:ea typeface="Courier New"/>
                <a:cs typeface="Courier New"/>
                <a:sym typeface="Courier New"/>
              </a:rPr>
              <a:t>5</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6A9955"/>
                </a:solidFill>
                <a:highlight>
                  <a:srgbClr val="1F1F1F"/>
                </a:highlight>
                <a:latin typeface="Courier New"/>
                <a:ea typeface="Courier New"/>
                <a:cs typeface="Courier New"/>
                <a:sym typeface="Courier New"/>
              </a:rPr>
              <a:t># raw values</a:t>
            </a:r>
            <a:endParaRPr b="1" i="0" sz="350" u="none" cap="none" strike="noStrike">
              <a:solidFill>
                <a:srgbClr val="6A9955"/>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0</a:t>
            </a:r>
            <a:r>
              <a:rPr b="1" i="0" lang="en" sz="350" u="none" cap="none" strike="noStrike">
                <a:solidFill>
                  <a:srgbClr val="CCCCCC"/>
                </a:solidFill>
                <a:highlight>
                  <a:srgbClr val="1F1F1F"/>
                </a:highlight>
                <a:latin typeface="Courier New"/>
                <a:ea typeface="Courier New"/>
                <a:cs typeface="Courier New"/>
                <a:sym typeface="Courier New"/>
              </a:rPr>
              <a:t>].plot(</a:t>
            </a:r>
            <a:r>
              <a:rPr b="1" i="0" lang="en" sz="350" u="none" cap="none" strike="noStrike">
                <a:solidFill>
                  <a:srgbClr val="9CDCFE"/>
                </a:solidFill>
                <a:highlight>
                  <a:srgbClr val="1F1F1F"/>
                </a:highlight>
                <a:latin typeface="Courier New"/>
                <a:ea typeface="Courier New"/>
                <a:cs typeface="Courier New"/>
                <a:sym typeface="Courier New"/>
              </a:rPr>
              <a:t>df_inflation</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'season_year'</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df_inflation</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'avg_fee_m'</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marker</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'o'</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label</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'Avg Transfer Fee (€M)'</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0</a:t>
            </a:r>
            <a:r>
              <a:rPr b="1" i="0" lang="en" sz="350" u="none" cap="none" strike="noStrike">
                <a:solidFill>
                  <a:srgbClr val="CCCCCC"/>
                </a:solidFill>
                <a:highlight>
                  <a:srgbClr val="1F1F1F"/>
                </a:highlight>
                <a:latin typeface="Courier New"/>
                <a:ea typeface="Courier New"/>
                <a:cs typeface="Courier New"/>
                <a:sym typeface="Courier New"/>
              </a:rPr>
              <a:t>].plot(</a:t>
            </a:r>
            <a:r>
              <a:rPr b="1" i="0" lang="en" sz="350" u="none" cap="none" strike="noStrike">
                <a:solidFill>
                  <a:srgbClr val="9CDCFE"/>
                </a:solidFill>
                <a:highlight>
                  <a:srgbClr val="1F1F1F"/>
                </a:highlight>
                <a:latin typeface="Courier New"/>
                <a:ea typeface="Courier New"/>
                <a:cs typeface="Courier New"/>
                <a:sym typeface="Courier New"/>
              </a:rPr>
              <a:t>df_inflation</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'season_year'</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df_inflation</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'avg_value_m'</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marker</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's'</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label</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'Avg Market Value (€M)'</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6A9955"/>
                </a:solidFill>
                <a:highlight>
                  <a:srgbClr val="1F1F1F"/>
                </a:highlight>
                <a:latin typeface="Courier New"/>
                <a:ea typeface="Courier New"/>
                <a:cs typeface="Courier New"/>
                <a:sym typeface="Courier New"/>
              </a:rPr>
              <a:t># Trend lines</a:t>
            </a:r>
            <a:endParaRPr b="1" i="0" sz="350" u="none" cap="none" strike="noStrike">
              <a:solidFill>
                <a:srgbClr val="6A9955"/>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C586C0"/>
                </a:solidFill>
                <a:highlight>
                  <a:srgbClr val="1F1F1F"/>
                </a:highlight>
                <a:latin typeface="Courier New"/>
                <a:ea typeface="Courier New"/>
                <a:cs typeface="Courier New"/>
                <a:sym typeface="Courier New"/>
              </a:rPr>
              <a:t>for</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col</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color</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C586C0"/>
                </a:solidFill>
                <a:highlight>
                  <a:srgbClr val="1F1F1F"/>
                </a:highlight>
                <a:latin typeface="Courier New"/>
                <a:ea typeface="Courier New"/>
                <a:cs typeface="Courier New"/>
                <a:sym typeface="Courier New"/>
              </a:rPr>
              <a:t>in</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CE9178"/>
                </a:solidFill>
                <a:highlight>
                  <a:srgbClr val="1F1F1F"/>
                </a:highlight>
                <a:latin typeface="Courier New"/>
                <a:ea typeface="Courier New"/>
                <a:cs typeface="Courier New"/>
                <a:sym typeface="Courier New"/>
              </a:rPr>
              <a:t>'avg_fee_m'</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CE9178"/>
                </a:solidFill>
                <a:highlight>
                  <a:srgbClr val="1F1F1F"/>
                </a:highlight>
                <a:latin typeface="Courier New"/>
                <a:ea typeface="Courier New"/>
                <a:cs typeface="Courier New"/>
                <a:sym typeface="Courier New"/>
              </a:rPr>
              <a:t>'steelblue'</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CE9178"/>
                </a:solidFill>
                <a:highlight>
                  <a:srgbClr val="1F1F1F"/>
                </a:highlight>
                <a:latin typeface="Courier New"/>
                <a:ea typeface="Courier New"/>
                <a:cs typeface="Courier New"/>
                <a:sym typeface="Courier New"/>
              </a:rPr>
              <a:t>'avg_value_m'</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CE9178"/>
                </a:solidFill>
                <a:highlight>
                  <a:srgbClr val="1F1F1F"/>
                </a:highlight>
                <a:latin typeface="Courier New"/>
                <a:ea typeface="Courier New"/>
                <a:cs typeface="Courier New"/>
                <a:sym typeface="Courier New"/>
              </a:rPr>
              <a:t>'darkorange'</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z</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4EC9B0"/>
                </a:solidFill>
                <a:highlight>
                  <a:srgbClr val="1F1F1F"/>
                </a:highlight>
                <a:latin typeface="Courier New"/>
                <a:ea typeface="Courier New"/>
                <a:cs typeface="Courier New"/>
                <a:sym typeface="Courier New"/>
              </a:rPr>
              <a:t>np</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DCDCAA"/>
                </a:solidFill>
                <a:highlight>
                  <a:srgbClr val="1F1F1F"/>
                </a:highlight>
                <a:latin typeface="Courier New"/>
                <a:ea typeface="Courier New"/>
                <a:cs typeface="Courier New"/>
                <a:sym typeface="Courier New"/>
              </a:rPr>
              <a:t>polyfit</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9CDCFE"/>
                </a:solidFill>
                <a:highlight>
                  <a:srgbClr val="1F1F1F"/>
                </a:highlight>
                <a:latin typeface="Courier New"/>
                <a:ea typeface="Courier New"/>
                <a:cs typeface="Courier New"/>
                <a:sym typeface="Courier New"/>
              </a:rPr>
              <a:t>df_inflation</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'season_year'</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df_inflation</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9CDCFE"/>
                </a:solidFill>
                <a:highlight>
                  <a:srgbClr val="1F1F1F"/>
                </a:highlight>
                <a:latin typeface="Courier New"/>
                <a:ea typeface="Courier New"/>
                <a:cs typeface="Courier New"/>
                <a:sym typeface="Courier New"/>
              </a:rPr>
              <a:t>col</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B5CEA8"/>
                </a:solidFill>
                <a:highlight>
                  <a:srgbClr val="1F1F1F"/>
                </a:highlight>
                <a:latin typeface="Courier New"/>
                <a:ea typeface="Courier New"/>
                <a:cs typeface="Courier New"/>
                <a:sym typeface="Courier New"/>
              </a:rPr>
              <a:t>1</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p</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4EC9B0"/>
                </a:solidFill>
                <a:highlight>
                  <a:srgbClr val="1F1F1F"/>
                </a:highlight>
                <a:latin typeface="Courier New"/>
                <a:ea typeface="Courier New"/>
                <a:cs typeface="Courier New"/>
                <a:sym typeface="Courier New"/>
              </a:rPr>
              <a:t>np</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4EC9B0"/>
                </a:solidFill>
                <a:highlight>
                  <a:srgbClr val="1F1F1F"/>
                </a:highlight>
                <a:latin typeface="Courier New"/>
                <a:ea typeface="Courier New"/>
                <a:cs typeface="Courier New"/>
                <a:sym typeface="Courier New"/>
              </a:rPr>
              <a:t>poly1d</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9CDCFE"/>
                </a:solidFill>
                <a:highlight>
                  <a:srgbClr val="1F1F1F"/>
                </a:highlight>
                <a:latin typeface="Courier New"/>
                <a:ea typeface="Courier New"/>
                <a:cs typeface="Courier New"/>
                <a:sym typeface="Courier New"/>
              </a:rPr>
              <a:t>z</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0</a:t>
            </a:r>
            <a:r>
              <a:rPr b="1" i="0" lang="en" sz="350" u="none" cap="none" strike="noStrike">
                <a:solidFill>
                  <a:srgbClr val="CCCCCC"/>
                </a:solidFill>
                <a:highlight>
                  <a:srgbClr val="1F1F1F"/>
                </a:highlight>
                <a:latin typeface="Courier New"/>
                <a:ea typeface="Courier New"/>
                <a:cs typeface="Courier New"/>
                <a:sym typeface="Courier New"/>
              </a:rPr>
              <a:t>].plot(</a:t>
            </a:r>
            <a:r>
              <a:rPr b="1" i="0" lang="en" sz="350" u="none" cap="none" strike="noStrike">
                <a:solidFill>
                  <a:srgbClr val="9CDCFE"/>
                </a:solidFill>
                <a:highlight>
                  <a:srgbClr val="1F1F1F"/>
                </a:highlight>
                <a:latin typeface="Courier New"/>
                <a:ea typeface="Courier New"/>
                <a:cs typeface="Courier New"/>
                <a:sym typeface="Courier New"/>
              </a:rPr>
              <a:t>df_inflation</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'season_year'</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p</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9CDCFE"/>
                </a:solidFill>
                <a:highlight>
                  <a:srgbClr val="1F1F1F"/>
                </a:highlight>
                <a:latin typeface="Courier New"/>
                <a:ea typeface="Courier New"/>
                <a:cs typeface="Courier New"/>
                <a:sym typeface="Courier New"/>
              </a:rPr>
              <a:t>df_inflation</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'season_year'</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color</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9CDCFE"/>
                </a:solidFill>
                <a:highlight>
                  <a:srgbClr val="1F1F1F"/>
                </a:highlight>
                <a:latin typeface="Courier New"/>
                <a:ea typeface="Courier New"/>
                <a:cs typeface="Courier New"/>
                <a:sym typeface="Courier New"/>
              </a:rPr>
              <a:t>color</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alpha</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0.5</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linewidth</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1.5</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0</a:t>
            </a:r>
            <a:r>
              <a:rPr b="1" i="0" lang="en" sz="350" u="none" cap="none" strike="noStrike">
                <a:solidFill>
                  <a:srgbClr val="CCCCCC"/>
                </a:solidFill>
                <a:highlight>
                  <a:srgbClr val="1F1F1F"/>
                </a:highlight>
                <a:latin typeface="Courier New"/>
                <a:ea typeface="Courier New"/>
                <a:cs typeface="Courier New"/>
                <a:sym typeface="Courier New"/>
              </a:rPr>
              <a:t>].set_title(</a:t>
            </a:r>
            <a:r>
              <a:rPr b="1" i="0" lang="en" sz="350" u="none" cap="none" strike="noStrike">
                <a:solidFill>
                  <a:srgbClr val="CE9178"/>
                </a:solidFill>
                <a:highlight>
                  <a:srgbClr val="1F1F1F"/>
                </a:highlight>
                <a:latin typeface="Courier New"/>
                <a:ea typeface="Courier New"/>
                <a:cs typeface="Courier New"/>
                <a:sym typeface="Courier New"/>
              </a:rPr>
              <a:t>"Avg Transfer Fee vs Market Value by Season"</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0</a:t>
            </a:r>
            <a:r>
              <a:rPr b="1" i="0" lang="en" sz="350" u="none" cap="none" strike="noStrike">
                <a:solidFill>
                  <a:srgbClr val="CCCCCC"/>
                </a:solidFill>
                <a:highlight>
                  <a:srgbClr val="1F1F1F"/>
                </a:highlight>
                <a:latin typeface="Courier New"/>
                <a:ea typeface="Courier New"/>
                <a:cs typeface="Courier New"/>
                <a:sym typeface="Courier New"/>
              </a:rPr>
              <a:t>].set_xlabel(</a:t>
            </a:r>
            <a:r>
              <a:rPr b="1" i="0" lang="en" sz="350" u="none" cap="none" strike="noStrike">
                <a:solidFill>
                  <a:srgbClr val="CE9178"/>
                </a:solidFill>
                <a:highlight>
                  <a:srgbClr val="1F1F1F"/>
                </a:highlight>
                <a:latin typeface="Courier New"/>
                <a:ea typeface="Courier New"/>
                <a:cs typeface="Courier New"/>
                <a:sym typeface="Courier New"/>
              </a:rPr>
              <a:t>"Season"</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0</a:t>
            </a:r>
            <a:r>
              <a:rPr b="1" i="0" lang="en" sz="350" u="none" cap="none" strike="noStrike">
                <a:solidFill>
                  <a:srgbClr val="CCCCCC"/>
                </a:solidFill>
                <a:highlight>
                  <a:srgbClr val="1F1F1F"/>
                </a:highlight>
                <a:latin typeface="Courier New"/>
                <a:ea typeface="Courier New"/>
                <a:cs typeface="Courier New"/>
                <a:sym typeface="Courier New"/>
              </a:rPr>
              <a:t>].set_ylabel(</a:t>
            </a:r>
            <a:r>
              <a:rPr b="1" i="0" lang="en" sz="350" u="none" cap="none" strike="noStrike">
                <a:solidFill>
                  <a:srgbClr val="CE9178"/>
                </a:solidFill>
                <a:highlight>
                  <a:srgbClr val="1F1F1F"/>
                </a:highlight>
                <a:latin typeface="Courier New"/>
                <a:ea typeface="Courier New"/>
                <a:cs typeface="Courier New"/>
                <a:sym typeface="Courier New"/>
              </a:rPr>
              <a:t>"€M"</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0</a:t>
            </a:r>
            <a:r>
              <a:rPr b="1" i="0" lang="en" sz="350" u="none" cap="none" strike="noStrike">
                <a:solidFill>
                  <a:srgbClr val="CCCCCC"/>
                </a:solidFill>
                <a:highlight>
                  <a:srgbClr val="1F1F1F"/>
                </a:highlight>
                <a:latin typeface="Courier New"/>
                <a:ea typeface="Courier New"/>
                <a:cs typeface="Courier New"/>
                <a:sym typeface="Courier New"/>
              </a:rPr>
              <a:t>].legend()</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4EC9B0"/>
                </a:solidFill>
                <a:highlight>
                  <a:srgbClr val="1F1F1F"/>
                </a:highlight>
                <a:latin typeface="Courier New"/>
                <a:ea typeface="Courier New"/>
                <a:cs typeface="Courier New"/>
                <a:sym typeface="Courier New"/>
              </a:rPr>
              <a:t>plt</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DCDCAA"/>
                </a:solidFill>
                <a:highlight>
                  <a:srgbClr val="1F1F1F"/>
                </a:highlight>
                <a:latin typeface="Courier New"/>
                <a:ea typeface="Courier New"/>
                <a:cs typeface="Courier New"/>
                <a:sym typeface="Courier New"/>
              </a:rPr>
              <a:t>setp</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0</a:t>
            </a:r>
            <a:r>
              <a:rPr b="1" i="0" lang="en" sz="350" u="none" cap="none" strike="noStrike">
                <a:solidFill>
                  <a:srgbClr val="CCCCCC"/>
                </a:solidFill>
                <a:highlight>
                  <a:srgbClr val="1F1F1F"/>
                </a:highlight>
                <a:latin typeface="Courier New"/>
                <a:ea typeface="Courier New"/>
                <a:cs typeface="Courier New"/>
                <a:sym typeface="Courier New"/>
              </a:rPr>
              <a:t>].get_xticklabels(), </a:t>
            </a:r>
            <a:r>
              <a:rPr b="1" i="0" lang="en" sz="350" u="none" cap="none" strike="noStrike">
                <a:solidFill>
                  <a:srgbClr val="9CDCFE"/>
                </a:solidFill>
                <a:highlight>
                  <a:srgbClr val="1F1F1F"/>
                </a:highlight>
                <a:latin typeface="Courier New"/>
                <a:ea typeface="Courier New"/>
                <a:cs typeface="Courier New"/>
                <a:sym typeface="Courier New"/>
              </a:rPr>
              <a:t>rotation</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45</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ha</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'right'</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200"/>
              <a:buFont typeface="Arial"/>
              <a:buNone/>
            </a:pPr>
            <a:r>
              <a:t/>
            </a:r>
            <a:endParaRPr b="1" i="0" sz="200" u="none" cap="none" strike="noStrike">
              <a:solidFill>
                <a:schemeClr val="dk2"/>
              </a:solidFill>
              <a:latin typeface="Nunito"/>
              <a:ea typeface="Nunito"/>
              <a:cs typeface="Nunito"/>
              <a:sym typeface="Nunito"/>
            </a:endParaRPr>
          </a:p>
        </p:txBody>
      </p:sp>
      <p:pic>
        <p:nvPicPr>
          <p:cNvPr id="384" name="Google Shape;384;p13"/>
          <p:cNvPicPr preferRelativeResize="0"/>
          <p:nvPr/>
        </p:nvPicPr>
        <p:blipFill rotWithShape="1">
          <a:blip r:embed="rId3">
            <a:alphaModFix/>
          </a:blip>
          <a:srcRect b="0" l="0" r="0" t="0"/>
          <a:stretch/>
        </p:blipFill>
        <p:spPr>
          <a:xfrm>
            <a:off x="1563012" y="3130300"/>
            <a:ext cx="5751666" cy="2054175"/>
          </a:xfrm>
          <a:prstGeom prst="rect">
            <a:avLst/>
          </a:prstGeom>
          <a:noFill/>
          <a:ln>
            <a:noFill/>
          </a:ln>
        </p:spPr>
      </p:pic>
      <p:sp>
        <p:nvSpPr>
          <p:cNvPr id="385" name="Google Shape;385;p13"/>
          <p:cNvSpPr txBox="1"/>
          <p:nvPr/>
        </p:nvSpPr>
        <p:spPr>
          <a:xfrm>
            <a:off x="4731600" y="1739843"/>
            <a:ext cx="3602700" cy="1207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6A9955"/>
                </a:solidFill>
                <a:highlight>
                  <a:srgbClr val="1F1F1F"/>
                </a:highlight>
                <a:latin typeface="Courier New"/>
                <a:ea typeface="Courier New"/>
                <a:cs typeface="Courier New"/>
                <a:sym typeface="Courier New"/>
              </a:rPr>
              <a:t>#  indexed growth + trend lines</a:t>
            </a:r>
            <a:endParaRPr b="1" i="0" sz="350" u="none" cap="none" strike="noStrike">
              <a:solidFill>
                <a:srgbClr val="6A9955"/>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1</a:t>
            </a:r>
            <a:r>
              <a:rPr b="1" i="0" lang="en" sz="350" u="none" cap="none" strike="noStrike">
                <a:solidFill>
                  <a:srgbClr val="CCCCCC"/>
                </a:solidFill>
                <a:highlight>
                  <a:srgbClr val="1F1F1F"/>
                </a:highlight>
                <a:latin typeface="Courier New"/>
                <a:ea typeface="Courier New"/>
                <a:cs typeface="Courier New"/>
                <a:sym typeface="Courier New"/>
              </a:rPr>
              <a:t>].plot(</a:t>
            </a:r>
            <a:r>
              <a:rPr b="1" i="0" lang="en" sz="350" u="none" cap="none" strike="noStrike">
                <a:solidFill>
                  <a:srgbClr val="9CDCFE"/>
                </a:solidFill>
                <a:highlight>
                  <a:srgbClr val="1F1F1F"/>
                </a:highlight>
                <a:latin typeface="Courier New"/>
                <a:ea typeface="Courier New"/>
                <a:cs typeface="Courier New"/>
                <a:sym typeface="Courier New"/>
              </a:rPr>
              <a:t>df_inflation</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'season_year'</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df_inflation</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'fee_idx'</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marker</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'o'</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label</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'Fee Growth Index'</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1</a:t>
            </a:r>
            <a:r>
              <a:rPr b="1" i="0" lang="en" sz="350" u="none" cap="none" strike="noStrike">
                <a:solidFill>
                  <a:srgbClr val="CCCCCC"/>
                </a:solidFill>
                <a:highlight>
                  <a:srgbClr val="1F1F1F"/>
                </a:highlight>
                <a:latin typeface="Courier New"/>
                <a:ea typeface="Courier New"/>
                <a:cs typeface="Courier New"/>
                <a:sym typeface="Courier New"/>
              </a:rPr>
              <a:t>].plot(</a:t>
            </a:r>
            <a:r>
              <a:rPr b="1" i="0" lang="en" sz="350" u="none" cap="none" strike="noStrike">
                <a:solidFill>
                  <a:srgbClr val="9CDCFE"/>
                </a:solidFill>
                <a:highlight>
                  <a:srgbClr val="1F1F1F"/>
                </a:highlight>
                <a:latin typeface="Courier New"/>
                <a:ea typeface="Courier New"/>
                <a:cs typeface="Courier New"/>
                <a:sym typeface="Courier New"/>
              </a:rPr>
              <a:t>df_inflation</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'season_year'</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df_inflation</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'value_idx'</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marker</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's'</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label</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'Market Value Growth Index'</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6A9955"/>
                </a:solidFill>
                <a:highlight>
                  <a:srgbClr val="1F1F1F"/>
                </a:highlight>
                <a:latin typeface="Courier New"/>
                <a:ea typeface="Courier New"/>
                <a:cs typeface="Courier New"/>
                <a:sym typeface="Courier New"/>
              </a:rPr>
              <a:t># Trend lines</a:t>
            </a:r>
            <a:endParaRPr b="1" i="0" sz="350" u="none" cap="none" strike="noStrike">
              <a:solidFill>
                <a:srgbClr val="6A9955"/>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C586C0"/>
                </a:solidFill>
                <a:highlight>
                  <a:srgbClr val="1F1F1F"/>
                </a:highlight>
                <a:latin typeface="Courier New"/>
                <a:ea typeface="Courier New"/>
                <a:cs typeface="Courier New"/>
                <a:sym typeface="Courier New"/>
              </a:rPr>
              <a:t>for</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col</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color</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C586C0"/>
                </a:solidFill>
                <a:highlight>
                  <a:srgbClr val="1F1F1F"/>
                </a:highlight>
                <a:latin typeface="Courier New"/>
                <a:ea typeface="Courier New"/>
                <a:cs typeface="Courier New"/>
                <a:sym typeface="Courier New"/>
              </a:rPr>
              <a:t>in</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CE9178"/>
                </a:solidFill>
                <a:highlight>
                  <a:srgbClr val="1F1F1F"/>
                </a:highlight>
                <a:latin typeface="Courier New"/>
                <a:ea typeface="Courier New"/>
                <a:cs typeface="Courier New"/>
                <a:sym typeface="Courier New"/>
              </a:rPr>
              <a:t>'fee_idx'</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CE9178"/>
                </a:solidFill>
                <a:highlight>
                  <a:srgbClr val="1F1F1F"/>
                </a:highlight>
                <a:latin typeface="Courier New"/>
                <a:ea typeface="Courier New"/>
                <a:cs typeface="Courier New"/>
                <a:sym typeface="Courier New"/>
              </a:rPr>
              <a:t>'steelblue'</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CE9178"/>
                </a:solidFill>
                <a:highlight>
                  <a:srgbClr val="1F1F1F"/>
                </a:highlight>
                <a:latin typeface="Courier New"/>
                <a:ea typeface="Courier New"/>
                <a:cs typeface="Courier New"/>
                <a:sym typeface="Courier New"/>
              </a:rPr>
              <a:t>'value_idx'</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CE9178"/>
                </a:solidFill>
                <a:highlight>
                  <a:srgbClr val="1F1F1F"/>
                </a:highlight>
                <a:latin typeface="Courier New"/>
                <a:ea typeface="Courier New"/>
                <a:cs typeface="Courier New"/>
                <a:sym typeface="Courier New"/>
              </a:rPr>
              <a:t>'darkorange'</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z</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4EC9B0"/>
                </a:solidFill>
                <a:highlight>
                  <a:srgbClr val="1F1F1F"/>
                </a:highlight>
                <a:latin typeface="Courier New"/>
                <a:ea typeface="Courier New"/>
                <a:cs typeface="Courier New"/>
                <a:sym typeface="Courier New"/>
              </a:rPr>
              <a:t>np</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DCDCAA"/>
                </a:solidFill>
                <a:highlight>
                  <a:srgbClr val="1F1F1F"/>
                </a:highlight>
                <a:latin typeface="Courier New"/>
                <a:ea typeface="Courier New"/>
                <a:cs typeface="Courier New"/>
                <a:sym typeface="Courier New"/>
              </a:rPr>
              <a:t>polyfit</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9CDCFE"/>
                </a:solidFill>
                <a:highlight>
                  <a:srgbClr val="1F1F1F"/>
                </a:highlight>
                <a:latin typeface="Courier New"/>
                <a:ea typeface="Courier New"/>
                <a:cs typeface="Courier New"/>
                <a:sym typeface="Courier New"/>
              </a:rPr>
              <a:t>df_inflation</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'season_year'</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df_inflation</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9CDCFE"/>
                </a:solidFill>
                <a:highlight>
                  <a:srgbClr val="1F1F1F"/>
                </a:highlight>
                <a:latin typeface="Courier New"/>
                <a:ea typeface="Courier New"/>
                <a:cs typeface="Courier New"/>
                <a:sym typeface="Courier New"/>
              </a:rPr>
              <a:t>col</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B5CEA8"/>
                </a:solidFill>
                <a:highlight>
                  <a:srgbClr val="1F1F1F"/>
                </a:highlight>
                <a:latin typeface="Courier New"/>
                <a:ea typeface="Courier New"/>
                <a:cs typeface="Courier New"/>
                <a:sym typeface="Courier New"/>
              </a:rPr>
              <a:t>1</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p</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4EC9B0"/>
                </a:solidFill>
                <a:highlight>
                  <a:srgbClr val="1F1F1F"/>
                </a:highlight>
                <a:latin typeface="Courier New"/>
                <a:ea typeface="Courier New"/>
                <a:cs typeface="Courier New"/>
                <a:sym typeface="Courier New"/>
              </a:rPr>
              <a:t>np</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4EC9B0"/>
                </a:solidFill>
                <a:highlight>
                  <a:srgbClr val="1F1F1F"/>
                </a:highlight>
                <a:latin typeface="Courier New"/>
                <a:ea typeface="Courier New"/>
                <a:cs typeface="Courier New"/>
                <a:sym typeface="Courier New"/>
              </a:rPr>
              <a:t>poly1d</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9CDCFE"/>
                </a:solidFill>
                <a:highlight>
                  <a:srgbClr val="1F1F1F"/>
                </a:highlight>
                <a:latin typeface="Courier New"/>
                <a:ea typeface="Courier New"/>
                <a:cs typeface="Courier New"/>
                <a:sym typeface="Courier New"/>
              </a:rPr>
              <a:t>z</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1</a:t>
            </a:r>
            <a:r>
              <a:rPr b="1" i="0" lang="en" sz="350" u="none" cap="none" strike="noStrike">
                <a:solidFill>
                  <a:srgbClr val="CCCCCC"/>
                </a:solidFill>
                <a:highlight>
                  <a:srgbClr val="1F1F1F"/>
                </a:highlight>
                <a:latin typeface="Courier New"/>
                <a:ea typeface="Courier New"/>
                <a:cs typeface="Courier New"/>
                <a:sym typeface="Courier New"/>
              </a:rPr>
              <a:t>].plot(</a:t>
            </a:r>
            <a:r>
              <a:rPr b="1" i="0" lang="en" sz="350" u="none" cap="none" strike="noStrike">
                <a:solidFill>
                  <a:srgbClr val="9CDCFE"/>
                </a:solidFill>
                <a:highlight>
                  <a:srgbClr val="1F1F1F"/>
                </a:highlight>
                <a:latin typeface="Courier New"/>
                <a:ea typeface="Courier New"/>
                <a:cs typeface="Courier New"/>
                <a:sym typeface="Courier New"/>
              </a:rPr>
              <a:t>df_inflation</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'season_year'</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p</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9CDCFE"/>
                </a:solidFill>
                <a:highlight>
                  <a:srgbClr val="1F1F1F"/>
                </a:highlight>
                <a:latin typeface="Courier New"/>
                <a:ea typeface="Courier New"/>
                <a:cs typeface="Courier New"/>
                <a:sym typeface="Courier New"/>
              </a:rPr>
              <a:t>df_inflation</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'season_year'</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color</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9CDCFE"/>
                </a:solidFill>
                <a:highlight>
                  <a:srgbClr val="1F1F1F"/>
                </a:highlight>
                <a:latin typeface="Courier New"/>
                <a:ea typeface="Courier New"/>
                <a:cs typeface="Courier New"/>
                <a:sym typeface="Courier New"/>
              </a:rPr>
              <a:t>color</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alpha</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0.5</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linewidth</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1.5</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1</a:t>
            </a:r>
            <a:r>
              <a:rPr b="1" i="0" lang="en" sz="350" u="none" cap="none" strike="noStrike">
                <a:solidFill>
                  <a:srgbClr val="CCCCCC"/>
                </a:solidFill>
                <a:highlight>
                  <a:srgbClr val="1F1F1F"/>
                </a:highlight>
                <a:latin typeface="Courier New"/>
                <a:ea typeface="Courier New"/>
                <a:cs typeface="Courier New"/>
                <a:sym typeface="Courier New"/>
              </a:rPr>
              <a:t>].set_title(</a:t>
            </a:r>
            <a:r>
              <a:rPr b="1" i="0" lang="en" sz="350" u="none" cap="none" strike="noStrike">
                <a:solidFill>
                  <a:srgbClr val="CE9178"/>
                </a:solidFill>
                <a:highlight>
                  <a:srgbClr val="1F1F1F"/>
                </a:highlight>
                <a:latin typeface="Courier New"/>
                <a:ea typeface="Courier New"/>
                <a:cs typeface="Courier New"/>
                <a:sym typeface="Courier New"/>
              </a:rPr>
              <a:t>"Indexed Growth: Fees vs Market Values (Base=100)"</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1</a:t>
            </a:r>
            <a:r>
              <a:rPr b="1" i="0" lang="en" sz="350" u="none" cap="none" strike="noStrike">
                <a:solidFill>
                  <a:srgbClr val="CCCCCC"/>
                </a:solidFill>
                <a:highlight>
                  <a:srgbClr val="1F1F1F"/>
                </a:highlight>
                <a:latin typeface="Courier New"/>
                <a:ea typeface="Courier New"/>
                <a:cs typeface="Courier New"/>
                <a:sym typeface="Courier New"/>
              </a:rPr>
              <a:t>].set_xlabel(</a:t>
            </a:r>
            <a:r>
              <a:rPr b="1" i="0" lang="en" sz="350" u="none" cap="none" strike="noStrike">
                <a:solidFill>
                  <a:srgbClr val="CE9178"/>
                </a:solidFill>
                <a:highlight>
                  <a:srgbClr val="1F1F1F"/>
                </a:highlight>
                <a:latin typeface="Courier New"/>
                <a:ea typeface="Courier New"/>
                <a:cs typeface="Courier New"/>
                <a:sym typeface="Courier New"/>
              </a:rPr>
              <a:t>"Season"</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1</a:t>
            </a:r>
            <a:r>
              <a:rPr b="1" i="0" lang="en" sz="350" u="none" cap="none" strike="noStrike">
                <a:solidFill>
                  <a:srgbClr val="CCCCCC"/>
                </a:solidFill>
                <a:highlight>
                  <a:srgbClr val="1F1F1F"/>
                </a:highlight>
                <a:latin typeface="Courier New"/>
                <a:ea typeface="Courier New"/>
                <a:cs typeface="Courier New"/>
                <a:sym typeface="Courier New"/>
              </a:rPr>
              <a:t>].set_ylabel(</a:t>
            </a:r>
            <a:r>
              <a:rPr b="1" i="0" lang="en" sz="350" u="none" cap="none" strike="noStrike">
                <a:solidFill>
                  <a:srgbClr val="CE9178"/>
                </a:solidFill>
                <a:highlight>
                  <a:srgbClr val="1F1F1F"/>
                </a:highlight>
                <a:latin typeface="Courier New"/>
                <a:ea typeface="Courier New"/>
                <a:cs typeface="Courier New"/>
                <a:sym typeface="Courier New"/>
              </a:rPr>
              <a:t>"Index (Base=100)"</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1</a:t>
            </a:r>
            <a:r>
              <a:rPr b="1" i="0" lang="en" sz="350" u="none" cap="none" strike="noStrike">
                <a:solidFill>
                  <a:srgbClr val="CCCCCC"/>
                </a:solidFill>
                <a:highlight>
                  <a:srgbClr val="1F1F1F"/>
                </a:highlight>
                <a:latin typeface="Courier New"/>
                <a:ea typeface="Courier New"/>
                <a:cs typeface="Courier New"/>
                <a:sym typeface="Courier New"/>
              </a:rPr>
              <a:t>].legend()</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50"/>
              <a:buFont typeface="Arial"/>
              <a:buNone/>
            </a:pPr>
            <a:r>
              <a:rPr b="1" i="0" lang="en" sz="350" u="none" cap="none" strike="noStrike">
                <a:solidFill>
                  <a:srgbClr val="4EC9B0"/>
                </a:solidFill>
                <a:highlight>
                  <a:srgbClr val="1F1F1F"/>
                </a:highlight>
                <a:latin typeface="Courier New"/>
                <a:ea typeface="Courier New"/>
                <a:cs typeface="Courier New"/>
                <a:sym typeface="Courier New"/>
              </a:rPr>
              <a:t>plt</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DCDCAA"/>
                </a:solidFill>
                <a:highlight>
                  <a:srgbClr val="1F1F1F"/>
                </a:highlight>
                <a:latin typeface="Courier New"/>
                <a:ea typeface="Courier New"/>
                <a:cs typeface="Courier New"/>
                <a:sym typeface="Courier New"/>
              </a:rPr>
              <a:t>setp</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9CDCFE"/>
                </a:solidFill>
                <a:highlight>
                  <a:srgbClr val="1F1F1F"/>
                </a:highlight>
                <a:latin typeface="Courier New"/>
                <a:ea typeface="Courier New"/>
                <a:cs typeface="Courier New"/>
                <a:sym typeface="Courier New"/>
              </a:rPr>
              <a:t>axes</a:t>
            </a:r>
            <a:r>
              <a:rPr b="1" i="0" lang="en" sz="350" u="none" cap="none" strike="noStrike">
                <a:solidFill>
                  <a:srgbClr val="CCCCCC"/>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1</a:t>
            </a:r>
            <a:r>
              <a:rPr b="1" i="0" lang="en" sz="350" u="none" cap="none" strike="noStrike">
                <a:solidFill>
                  <a:srgbClr val="CCCCCC"/>
                </a:solidFill>
                <a:highlight>
                  <a:srgbClr val="1F1F1F"/>
                </a:highlight>
                <a:latin typeface="Courier New"/>
                <a:ea typeface="Courier New"/>
                <a:cs typeface="Courier New"/>
                <a:sym typeface="Courier New"/>
              </a:rPr>
              <a:t>].get_xticklabels(), </a:t>
            </a:r>
            <a:r>
              <a:rPr b="1" i="0" lang="en" sz="350" u="none" cap="none" strike="noStrike">
                <a:solidFill>
                  <a:srgbClr val="9CDCFE"/>
                </a:solidFill>
                <a:highlight>
                  <a:srgbClr val="1F1F1F"/>
                </a:highlight>
                <a:latin typeface="Courier New"/>
                <a:ea typeface="Courier New"/>
                <a:cs typeface="Courier New"/>
                <a:sym typeface="Courier New"/>
              </a:rPr>
              <a:t>rotation</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B5CEA8"/>
                </a:solidFill>
                <a:highlight>
                  <a:srgbClr val="1F1F1F"/>
                </a:highlight>
                <a:latin typeface="Courier New"/>
                <a:ea typeface="Courier New"/>
                <a:cs typeface="Courier New"/>
                <a:sym typeface="Courier New"/>
              </a:rPr>
              <a:t>45</a:t>
            </a:r>
            <a:r>
              <a:rPr b="1" i="0" lang="en" sz="350" u="none" cap="none" strike="noStrike">
                <a:solidFill>
                  <a:srgbClr val="CCCCCC"/>
                </a:solidFill>
                <a:highlight>
                  <a:srgbClr val="1F1F1F"/>
                </a:highlight>
                <a:latin typeface="Courier New"/>
                <a:ea typeface="Courier New"/>
                <a:cs typeface="Courier New"/>
                <a:sym typeface="Courier New"/>
              </a:rPr>
              <a:t>, </a:t>
            </a:r>
            <a:r>
              <a:rPr b="1" i="0" lang="en" sz="350" u="none" cap="none" strike="noStrike">
                <a:solidFill>
                  <a:srgbClr val="9CDCFE"/>
                </a:solidFill>
                <a:highlight>
                  <a:srgbClr val="1F1F1F"/>
                </a:highlight>
                <a:latin typeface="Courier New"/>
                <a:ea typeface="Courier New"/>
                <a:cs typeface="Courier New"/>
                <a:sym typeface="Courier New"/>
              </a:rPr>
              <a:t>ha</a:t>
            </a:r>
            <a:r>
              <a:rPr b="1" i="0" lang="en" sz="350" u="none" cap="none" strike="noStrike">
                <a:solidFill>
                  <a:srgbClr val="D4D4D4"/>
                </a:solidFill>
                <a:highlight>
                  <a:srgbClr val="1F1F1F"/>
                </a:highlight>
                <a:latin typeface="Courier New"/>
                <a:ea typeface="Courier New"/>
                <a:cs typeface="Courier New"/>
                <a:sym typeface="Courier New"/>
              </a:rPr>
              <a:t>=</a:t>
            </a:r>
            <a:r>
              <a:rPr b="1" i="0" lang="en" sz="350" u="none" cap="none" strike="noStrike">
                <a:solidFill>
                  <a:srgbClr val="CE9178"/>
                </a:solidFill>
                <a:highlight>
                  <a:srgbClr val="1F1F1F"/>
                </a:highlight>
                <a:latin typeface="Courier New"/>
                <a:ea typeface="Courier New"/>
                <a:cs typeface="Courier New"/>
                <a:sym typeface="Courier New"/>
              </a:rPr>
              <a:t>'right'</a:t>
            </a:r>
            <a:r>
              <a:rPr b="1" i="0" lang="en" sz="350" u="none" cap="none" strike="noStrike">
                <a:solidFill>
                  <a:srgbClr val="CCCCCC"/>
                </a:solidFill>
                <a:highlight>
                  <a:srgbClr val="1F1F1F"/>
                </a:highlight>
                <a:latin typeface="Courier New"/>
                <a:ea typeface="Courier New"/>
                <a:cs typeface="Courier New"/>
                <a:sym typeface="Courier New"/>
              </a:rPr>
              <a:t>)</a:t>
            </a:r>
            <a:endParaRPr b="1" i="0" sz="3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200"/>
              <a:buFont typeface="Arial"/>
              <a:buNone/>
            </a:pPr>
            <a:r>
              <a:t/>
            </a:r>
            <a:endParaRPr b="1" i="0" sz="20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200"/>
              <a:buFont typeface="Arial"/>
              <a:buNone/>
            </a:pPr>
            <a:r>
              <a:t/>
            </a:r>
            <a:endParaRPr b="1" i="0" sz="200" u="none" cap="none" strike="noStrike">
              <a:solidFill>
                <a:srgbClr val="569CD6"/>
              </a:solidFill>
              <a:highlight>
                <a:srgbClr val="1F1F1F"/>
              </a:highlight>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200"/>
              <a:buFont typeface="Arial"/>
              <a:buNone/>
            </a:pPr>
            <a:r>
              <a:t/>
            </a:r>
            <a:endParaRPr b="1" i="0" sz="200" u="none" cap="none" strike="noStrike">
              <a:solidFill>
                <a:schemeClr val="dk2"/>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14"/>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lang="en" sz="2100"/>
              <a:t>5. Which clubs consistently buys undervalued players? (Scouting efficiency when buying)</a:t>
            </a:r>
            <a:endParaRPr sz="2100"/>
          </a:p>
        </p:txBody>
      </p:sp>
      <p:sp>
        <p:nvSpPr>
          <p:cNvPr id="391" name="Google Shape;391;p14"/>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chemeClr val="accent6"/>
                </a:solidFill>
                <a:latin typeface="Maven Pro"/>
                <a:ea typeface="Maven Pro"/>
                <a:cs typeface="Maven Pro"/>
                <a:sym typeface="Maven Pro"/>
              </a:rPr>
              <a:t>Transfer Market Dynamics 💱</a:t>
            </a:r>
            <a:endParaRPr b="1" i="0" sz="1766" u="none" cap="none" strike="noStrike">
              <a:solidFill>
                <a:schemeClr val="accent6"/>
              </a:solidFill>
              <a:latin typeface="Maven Pro"/>
              <a:ea typeface="Maven Pro"/>
              <a:cs typeface="Maven Pro"/>
              <a:sym typeface="Maven Pro"/>
            </a:endParaRPr>
          </a:p>
        </p:txBody>
      </p:sp>
      <p:sp>
        <p:nvSpPr>
          <p:cNvPr id="392" name="Google Shape;392;p14"/>
          <p:cNvSpPr txBox="1"/>
          <p:nvPr/>
        </p:nvSpPr>
        <p:spPr>
          <a:xfrm>
            <a:off x="499400" y="1631725"/>
            <a:ext cx="3372900" cy="3300900"/>
          </a:xfrm>
          <a:prstGeom prst="rect">
            <a:avLst/>
          </a:prstGeom>
          <a:noFill/>
          <a:ln>
            <a:noFill/>
          </a:ln>
        </p:spPr>
        <p:txBody>
          <a:bodyPr anchorCtr="0" anchor="t" bIns="91425" lIns="91425" spcFirstLastPara="1" rIns="91425" wrap="square" tIns="91425">
            <a:noAutofit/>
          </a:bodyPr>
          <a:lstStyle/>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569CD6"/>
                </a:solidFill>
                <a:highlight>
                  <a:srgbClr val="1F1F1F"/>
                </a:highlight>
                <a:latin typeface="Courier New"/>
                <a:ea typeface="Courier New"/>
                <a:cs typeface="Courier New"/>
                <a:sym typeface="Courier New"/>
              </a:rPr>
              <a:t>SELECT</a:t>
            </a:r>
            <a:r>
              <a:rPr b="1" i="0" lang="en" sz="700" u="none" cap="none" strike="noStrike">
                <a:solidFill>
                  <a:srgbClr val="CCCCCC"/>
                </a:solidFill>
                <a:highlight>
                  <a:srgbClr val="1F1F1F"/>
                </a:highlight>
                <a:latin typeface="Courier New"/>
                <a:ea typeface="Courier New"/>
                <a:cs typeface="Courier New"/>
                <a:sym typeface="Courier New"/>
              </a:rPr>
              <a:t> t.to_team_name,d.competition_id </a:t>
            </a:r>
            <a:r>
              <a:rPr b="1" i="0" lang="en" sz="700" u="none" cap="none" strike="noStrike">
                <a:solidFill>
                  <a:srgbClr val="569CD6"/>
                </a:solidFill>
                <a:highlight>
                  <a:srgbClr val="1F1F1F"/>
                </a:highlight>
                <a:latin typeface="Courier New"/>
                <a:ea typeface="Courier New"/>
                <a:cs typeface="Courier New"/>
                <a:sym typeface="Courier New"/>
              </a:rPr>
              <a:t>AS</a:t>
            </a:r>
            <a:r>
              <a:rPr b="1" i="0" lang="en" sz="700" u="none" cap="none" strike="noStrike">
                <a:solidFill>
                  <a:srgbClr val="CCCCCC"/>
                </a:solidFill>
                <a:highlight>
                  <a:srgbClr val="1F1F1F"/>
                </a:highlight>
                <a:latin typeface="Courier New"/>
                <a:ea typeface="Courier New"/>
                <a:cs typeface="Courier New"/>
                <a:sym typeface="Courier New"/>
              </a:rPr>
              <a:t> league, </a:t>
            </a:r>
            <a:r>
              <a:rPr b="1" i="0" lang="en" sz="700" u="none" cap="none" strike="noStrike">
                <a:solidFill>
                  <a:srgbClr val="DCDCAA"/>
                </a:solidFill>
                <a:highlight>
                  <a:srgbClr val="1F1F1F"/>
                </a:highlight>
                <a:latin typeface="Courier New"/>
                <a:ea typeface="Courier New"/>
                <a:cs typeface="Courier New"/>
                <a:sym typeface="Courier New"/>
              </a:rPr>
              <a:t>COUNT</a:t>
            </a:r>
            <a:r>
              <a:rPr b="1" i="0" lang="en" sz="700" u="none" cap="none" strike="noStrike">
                <a:solidFill>
                  <a:srgbClr val="CCCCCC"/>
                </a:solidFill>
                <a:highlight>
                  <a:srgbClr val="1F1F1F"/>
                </a:highlight>
                <a:latin typeface="Courier New"/>
                <a:ea typeface="Courier New"/>
                <a:cs typeface="Courier New"/>
                <a:sym typeface="Courier New"/>
              </a:rPr>
              <a:t>(t.player_id) </a:t>
            </a:r>
            <a:r>
              <a:rPr b="1" i="0" lang="en" sz="700" u="none" cap="none" strike="noStrike">
                <a:solidFill>
                  <a:srgbClr val="569CD6"/>
                </a:solidFill>
                <a:highlight>
                  <a:srgbClr val="1F1F1F"/>
                </a:highlight>
                <a:latin typeface="Courier New"/>
                <a:ea typeface="Courier New"/>
                <a:cs typeface="Courier New"/>
                <a:sym typeface="Courier New"/>
              </a:rPr>
              <a:t>AS</a:t>
            </a:r>
            <a:r>
              <a:rPr b="1" i="0" lang="en" sz="700" u="none" cap="none" strike="noStrike">
                <a:solidFill>
                  <a:srgbClr val="CCCCCC"/>
                </a:solidFill>
                <a:highlight>
                  <a:srgbClr val="1F1F1F"/>
                </a:highlight>
                <a:latin typeface="Courier New"/>
                <a:ea typeface="Courier New"/>
                <a:cs typeface="Courier New"/>
                <a:sym typeface="Courier New"/>
              </a:rPr>
              <a:t> transfers_in, </a:t>
            </a:r>
            <a:r>
              <a:rPr b="1" i="0" lang="en" sz="700" u="none" cap="none" strike="noStrike">
                <a:solidFill>
                  <a:srgbClr val="DCDCAA"/>
                </a:solidFill>
                <a:highlight>
                  <a:srgbClr val="1F1F1F"/>
                </a:highlight>
                <a:latin typeface="Courier New"/>
                <a:ea typeface="Courier New"/>
                <a:cs typeface="Courier New"/>
                <a:sym typeface="Courier New"/>
              </a:rPr>
              <a:t>ROUND</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DCDCAA"/>
                </a:solidFill>
                <a:highlight>
                  <a:srgbClr val="1F1F1F"/>
                </a:highlight>
                <a:latin typeface="Courier New"/>
                <a:ea typeface="Courier New"/>
                <a:cs typeface="Courier New"/>
                <a:sym typeface="Courier New"/>
              </a:rPr>
              <a:t>ABS</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DCDCAA"/>
                </a:solidFill>
                <a:highlight>
                  <a:srgbClr val="1F1F1F"/>
                </a:highlight>
                <a:latin typeface="Courier New"/>
                <a:ea typeface="Courier New"/>
                <a:cs typeface="Courier New"/>
                <a:sym typeface="Courier New"/>
              </a:rPr>
              <a:t>AVG</a:t>
            </a:r>
            <a:r>
              <a:rPr b="1" i="0" lang="en" sz="700" u="none" cap="none" strike="noStrike">
                <a:solidFill>
                  <a:srgbClr val="CCCCCC"/>
                </a:solidFill>
                <a:highlight>
                  <a:srgbClr val="1F1F1F"/>
                </a:highlight>
                <a:latin typeface="Courier New"/>
                <a:ea typeface="Courier New"/>
                <a:cs typeface="Courier New"/>
                <a:sym typeface="Courier New"/>
              </a:rPr>
              <a:t>((t.transfer_fee </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CCCCC"/>
                </a:solidFill>
                <a:highlight>
                  <a:srgbClr val="1F1F1F"/>
                </a:highlight>
                <a:latin typeface="Courier New"/>
                <a:ea typeface="Courier New"/>
                <a:cs typeface="Courier New"/>
                <a:sym typeface="Courier New"/>
              </a:rPr>
              <a:t> t.value_at_transfer) </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B5CEA8"/>
                </a:solidFill>
                <a:highlight>
                  <a:srgbClr val="1F1F1F"/>
                </a:highlight>
                <a:latin typeface="Courier New"/>
                <a:ea typeface="Courier New"/>
                <a:cs typeface="Courier New"/>
                <a:sym typeface="Courier New"/>
              </a:rPr>
              <a:t>1</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B5CEA8"/>
                </a:solidFill>
                <a:highlight>
                  <a:srgbClr val="1F1F1F"/>
                </a:highlight>
                <a:latin typeface="Courier New"/>
                <a:ea typeface="Courier New"/>
                <a:cs typeface="Courier New"/>
                <a:sym typeface="Courier New"/>
              </a:rPr>
              <a:t>0</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CCCCC"/>
                </a:solidFill>
                <a:highlight>
                  <a:srgbClr val="1F1F1F"/>
                </a:highlight>
                <a:latin typeface="Courier New"/>
                <a:ea typeface="Courier New"/>
                <a:cs typeface="Courier New"/>
                <a:sym typeface="Courier New"/>
              </a:rPr>
              <a:t> t.value_at_transfer </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B5CEA8"/>
                </a:solidFill>
                <a:highlight>
                  <a:srgbClr val="1F1F1F"/>
                </a:highlight>
                <a:latin typeface="Courier New"/>
                <a:ea typeface="Courier New"/>
                <a:cs typeface="Courier New"/>
                <a:sym typeface="Courier New"/>
              </a:rPr>
              <a:t>100</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B5CEA8"/>
                </a:solidFill>
                <a:highlight>
                  <a:srgbClr val="1F1F1F"/>
                </a:highlight>
                <a:latin typeface="Courier New"/>
                <a:ea typeface="Courier New"/>
                <a:cs typeface="Courier New"/>
                <a:sym typeface="Courier New"/>
              </a:rPr>
              <a:t>2</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569CD6"/>
                </a:solidFill>
                <a:highlight>
                  <a:srgbClr val="1F1F1F"/>
                </a:highlight>
                <a:latin typeface="Courier New"/>
                <a:ea typeface="Courier New"/>
                <a:cs typeface="Courier New"/>
                <a:sym typeface="Courier New"/>
              </a:rPr>
              <a:t>AS</a:t>
            </a:r>
            <a:r>
              <a:rPr b="1" i="0" lang="en" sz="700" u="none" cap="none" strike="noStrike">
                <a:solidFill>
                  <a:srgbClr val="CCCCCC"/>
                </a:solidFill>
                <a:highlight>
                  <a:srgbClr val="1F1F1F"/>
                </a:highlight>
                <a:latin typeface="Courier New"/>
                <a:ea typeface="Courier New"/>
                <a:cs typeface="Courier New"/>
                <a:sym typeface="Courier New"/>
              </a:rPr>
              <a:t> avg_buy_discount_pct</a:t>
            </a:r>
            <a:endParaRPr b="1" i="0" sz="7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569CD6"/>
                </a:solidFill>
                <a:highlight>
                  <a:srgbClr val="1F1F1F"/>
                </a:highlight>
                <a:latin typeface="Courier New"/>
                <a:ea typeface="Courier New"/>
                <a:cs typeface="Courier New"/>
                <a:sym typeface="Courier New"/>
              </a:rPr>
              <a:t>FROM</a:t>
            </a:r>
            <a:r>
              <a:rPr b="1" i="0" lang="en" sz="700" u="none" cap="none" strike="noStrike">
                <a:solidFill>
                  <a:srgbClr val="CCCCCC"/>
                </a:solidFill>
                <a:highlight>
                  <a:srgbClr val="1F1F1F"/>
                </a:highlight>
                <a:latin typeface="Courier New"/>
                <a:ea typeface="Courier New"/>
                <a:cs typeface="Courier New"/>
                <a:sym typeface="Courier New"/>
              </a:rPr>
              <a:t> transfer_history t</a:t>
            </a:r>
            <a:endParaRPr b="1" i="0" sz="7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569CD6"/>
                </a:solidFill>
                <a:highlight>
                  <a:srgbClr val="1F1F1F"/>
                </a:highlight>
                <a:latin typeface="Courier New"/>
                <a:ea typeface="Courier New"/>
                <a:cs typeface="Courier New"/>
                <a:sym typeface="Courier New"/>
              </a:rPr>
              <a:t>INNER JOIN</a:t>
            </a:r>
            <a:r>
              <a:rPr b="1" i="0" lang="en" sz="700" u="none" cap="none" strike="noStrike">
                <a:solidFill>
                  <a:srgbClr val="CCCCCC"/>
                </a:solidFill>
                <a:highlight>
                  <a:srgbClr val="1F1F1F"/>
                </a:highlight>
                <a:latin typeface="Courier New"/>
                <a:ea typeface="Courier New"/>
                <a:cs typeface="Courier New"/>
                <a:sym typeface="Courier New"/>
              </a:rPr>
              <a:t> team_details d </a:t>
            </a:r>
            <a:r>
              <a:rPr b="1" i="0" lang="en" sz="700" u="none" cap="none" strike="noStrike">
                <a:solidFill>
                  <a:srgbClr val="569CD6"/>
                </a:solidFill>
                <a:highlight>
                  <a:srgbClr val="1F1F1F"/>
                </a:highlight>
                <a:latin typeface="Courier New"/>
                <a:ea typeface="Courier New"/>
                <a:cs typeface="Courier New"/>
                <a:sym typeface="Courier New"/>
              </a:rPr>
              <a:t>ON</a:t>
            </a:r>
            <a:r>
              <a:rPr b="1" i="0" lang="en" sz="700" u="none" cap="none" strike="noStrike">
                <a:solidFill>
                  <a:srgbClr val="CCCCCC"/>
                </a:solidFill>
                <a:highlight>
                  <a:srgbClr val="1F1F1F"/>
                </a:highlight>
                <a:latin typeface="Courier New"/>
                <a:ea typeface="Courier New"/>
                <a:cs typeface="Courier New"/>
                <a:sym typeface="Courier New"/>
              </a:rPr>
              <a:t> t.to_team_id </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CCCCC"/>
                </a:solidFill>
                <a:highlight>
                  <a:srgbClr val="1F1F1F"/>
                </a:highlight>
                <a:latin typeface="Courier New"/>
                <a:ea typeface="Courier New"/>
                <a:cs typeface="Courier New"/>
                <a:sym typeface="Courier New"/>
              </a:rPr>
              <a:t> d.club_id</a:t>
            </a:r>
            <a:endParaRPr b="1" i="0" sz="7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569CD6"/>
                </a:solidFill>
                <a:highlight>
                  <a:srgbClr val="1F1F1F"/>
                </a:highlight>
                <a:latin typeface="Courier New"/>
                <a:ea typeface="Courier New"/>
                <a:cs typeface="Courier New"/>
                <a:sym typeface="Courier New"/>
              </a:rPr>
              <a:t>WHERE</a:t>
            </a:r>
            <a:r>
              <a:rPr b="1" i="0" lang="en" sz="700" u="none" cap="none" strike="noStrike">
                <a:solidFill>
                  <a:srgbClr val="CCCCCC"/>
                </a:solidFill>
                <a:highlight>
                  <a:srgbClr val="1F1F1F"/>
                </a:highlight>
                <a:latin typeface="Courier New"/>
                <a:ea typeface="Courier New"/>
                <a:cs typeface="Courier New"/>
                <a:sym typeface="Courier New"/>
              </a:rPr>
              <a:t> d.competition_id </a:t>
            </a:r>
            <a:r>
              <a:rPr b="1" i="0" lang="en" sz="700" u="none" cap="none" strike="noStrike">
                <a:solidFill>
                  <a:srgbClr val="569CD6"/>
                </a:solidFill>
                <a:highlight>
                  <a:srgbClr val="1F1F1F"/>
                </a:highlight>
                <a:latin typeface="Courier New"/>
                <a:ea typeface="Courier New"/>
                <a:cs typeface="Courier New"/>
                <a:sym typeface="Courier New"/>
              </a:rPr>
              <a:t>IN</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CE9178"/>
                </a:solidFill>
                <a:highlight>
                  <a:srgbClr val="1F1F1F"/>
                </a:highlight>
                <a:latin typeface="Courier New"/>
                <a:ea typeface="Courier New"/>
                <a:cs typeface="Courier New"/>
                <a:sym typeface="Courier New"/>
              </a:rPr>
              <a:t>'ES1'</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CE9178"/>
                </a:solidFill>
                <a:highlight>
                  <a:srgbClr val="1F1F1F"/>
                </a:highlight>
                <a:latin typeface="Courier New"/>
                <a:ea typeface="Courier New"/>
                <a:cs typeface="Courier New"/>
                <a:sym typeface="Courier New"/>
              </a:rPr>
              <a:t>'GB1'</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CE9178"/>
                </a:solidFill>
                <a:highlight>
                  <a:srgbClr val="1F1F1F"/>
                </a:highlight>
                <a:latin typeface="Courier New"/>
                <a:ea typeface="Courier New"/>
                <a:cs typeface="Courier New"/>
                <a:sym typeface="Courier New"/>
              </a:rPr>
              <a:t>'FR1'</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CE9178"/>
                </a:solidFill>
                <a:highlight>
                  <a:srgbClr val="1F1F1F"/>
                </a:highlight>
                <a:latin typeface="Courier New"/>
                <a:ea typeface="Courier New"/>
                <a:cs typeface="Courier New"/>
                <a:sym typeface="Courier New"/>
              </a:rPr>
              <a:t>'L1'</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CE9178"/>
                </a:solidFill>
                <a:highlight>
                  <a:srgbClr val="1F1F1F"/>
                </a:highlight>
                <a:latin typeface="Courier New"/>
                <a:ea typeface="Courier New"/>
                <a:cs typeface="Courier New"/>
                <a:sym typeface="Courier New"/>
              </a:rPr>
              <a:t>'IT1'</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569CD6"/>
                </a:solidFill>
                <a:highlight>
                  <a:srgbClr val="1F1F1F"/>
                </a:highlight>
                <a:latin typeface="Courier New"/>
                <a:ea typeface="Courier New"/>
                <a:cs typeface="Courier New"/>
                <a:sym typeface="Courier New"/>
              </a:rPr>
              <a:t>AND</a:t>
            </a:r>
            <a:r>
              <a:rPr b="1" i="0" lang="en" sz="700" u="none" cap="none" strike="noStrike">
                <a:solidFill>
                  <a:srgbClr val="CCCCCC"/>
                </a:solidFill>
                <a:highlight>
                  <a:srgbClr val="1F1F1F"/>
                </a:highlight>
                <a:latin typeface="Courier New"/>
                <a:ea typeface="Courier New"/>
                <a:cs typeface="Courier New"/>
                <a:sym typeface="Courier New"/>
              </a:rPr>
              <a:t> t.transfer_fee </a:t>
            </a:r>
            <a:r>
              <a:rPr b="1" i="0" lang="en" sz="700" u="none" cap="none" strike="noStrike">
                <a:solidFill>
                  <a:srgbClr val="D4D4D4"/>
                </a:solidFill>
                <a:highlight>
                  <a:srgbClr val="1F1F1F"/>
                </a:highlight>
                <a:latin typeface="Courier New"/>
                <a:ea typeface="Courier New"/>
                <a:cs typeface="Courier New"/>
                <a:sym typeface="Courier New"/>
              </a:rPr>
              <a:t>&gt;</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B5CEA8"/>
                </a:solidFill>
                <a:highlight>
                  <a:srgbClr val="1F1F1F"/>
                </a:highlight>
                <a:latin typeface="Courier New"/>
                <a:ea typeface="Courier New"/>
                <a:cs typeface="Courier New"/>
                <a:sym typeface="Courier New"/>
              </a:rPr>
              <a:t>0</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569CD6"/>
                </a:solidFill>
                <a:highlight>
                  <a:srgbClr val="1F1F1F"/>
                </a:highlight>
                <a:latin typeface="Courier New"/>
                <a:ea typeface="Courier New"/>
                <a:cs typeface="Courier New"/>
                <a:sym typeface="Courier New"/>
              </a:rPr>
              <a:t>AND</a:t>
            </a:r>
            <a:r>
              <a:rPr b="1" i="0" lang="en" sz="700" u="none" cap="none" strike="noStrike">
                <a:solidFill>
                  <a:srgbClr val="CCCCCC"/>
                </a:solidFill>
                <a:highlight>
                  <a:srgbClr val="1F1F1F"/>
                </a:highlight>
                <a:latin typeface="Courier New"/>
                <a:ea typeface="Courier New"/>
                <a:cs typeface="Courier New"/>
                <a:sym typeface="Courier New"/>
              </a:rPr>
              <a:t> t.value_at_transfer </a:t>
            </a:r>
            <a:r>
              <a:rPr b="1" i="0" lang="en" sz="700" u="none" cap="none" strike="noStrike">
                <a:solidFill>
                  <a:srgbClr val="D4D4D4"/>
                </a:solidFill>
                <a:highlight>
                  <a:srgbClr val="1F1F1F"/>
                </a:highlight>
                <a:latin typeface="Courier New"/>
                <a:ea typeface="Courier New"/>
                <a:cs typeface="Courier New"/>
                <a:sym typeface="Courier New"/>
              </a:rPr>
              <a:t>&gt;</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B5CEA8"/>
                </a:solidFill>
                <a:highlight>
                  <a:srgbClr val="1F1F1F"/>
                </a:highlight>
                <a:latin typeface="Courier New"/>
                <a:ea typeface="Courier New"/>
                <a:cs typeface="Courier New"/>
                <a:sym typeface="Courier New"/>
              </a:rPr>
              <a:t>0</a:t>
            </a:r>
            <a:endParaRPr b="1" i="0" sz="700" u="none" cap="none" strike="noStrike">
              <a:solidFill>
                <a:srgbClr val="B5CEA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569CD6"/>
                </a:solidFill>
                <a:highlight>
                  <a:srgbClr val="1F1F1F"/>
                </a:highlight>
                <a:latin typeface="Courier New"/>
                <a:ea typeface="Courier New"/>
                <a:cs typeface="Courier New"/>
                <a:sym typeface="Courier New"/>
              </a:rPr>
              <a:t>GROUP BY</a:t>
            </a:r>
            <a:r>
              <a:rPr b="1" i="0" lang="en" sz="700" u="none" cap="none" strike="noStrike">
                <a:solidFill>
                  <a:srgbClr val="CCCCCC"/>
                </a:solidFill>
                <a:highlight>
                  <a:srgbClr val="1F1F1F"/>
                </a:highlight>
                <a:latin typeface="Courier New"/>
                <a:ea typeface="Courier New"/>
                <a:cs typeface="Courier New"/>
                <a:sym typeface="Courier New"/>
              </a:rPr>
              <a:t> t.to_team_id, t.to_team_name, d.competition_id   </a:t>
            </a:r>
            <a:r>
              <a:rPr b="1" i="0" lang="en" sz="700" u="none" cap="none" strike="noStrike">
                <a:solidFill>
                  <a:srgbClr val="6A9955"/>
                </a:solidFill>
                <a:highlight>
                  <a:srgbClr val="1F1F1F"/>
                </a:highlight>
                <a:latin typeface="Courier New"/>
                <a:ea typeface="Courier New"/>
                <a:cs typeface="Courier New"/>
                <a:sym typeface="Courier New"/>
              </a:rPr>
              <a:t>-- anchor on ID, not just name</a:t>
            </a:r>
            <a:endParaRPr b="1" i="0" sz="700" u="none" cap="none" strike="noStrike">
              <a:solidFill>
                <a:srgbClr val="6A9955"/>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569CD6"/>
                </a:solidFill>
                <a:highlight>
                  <a:srgbClr val="1F1F1F"/>
                </a:highlight>
                <a:latin typeface="Courier New"/>
                <a:ea typeface="Courier New"/>
                <a:cs typeface="Courier New"/>
                <a:sym typeface="Courier New"/>
              </a:rPr>
              <a:t>HAVING</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DCDCAA"/>
                </a:solidFill>
                <a:highlight>
                  <a:srgbClr val="1F1F1F"/>
                </a:highlight>
                <a:latin typeface="Courier New"/>
                <a:ea typeface="Courier New"/>
                <a:cs typeface="Courier New"/>
                <a:sym typeface="Courier New"/>
              </a:rPr>
              <a:t>AVG</a:t>
            </a:r>
            <a:r>
              <a:rPr b="1" i="0" lang="en" sz="700" u="none" cap="none" strike="noStrike">
                <a:solidFill>
                  <a:srgbClr val="CCCCCC"/>
                </a:solidFill>
                <a:highlight>
                  <a:srgbClr val="1F1F1F"/>
                </a:highlight>
                <a:latin typeface="Courier New"/>
                <a:ea typeface="Courier New"/>
                <a:cs typeface="Courier New"/>
                <a:sym typeface="Courier New"/>
              </a:rPr>
              <a:t>( (t.transfer_fee </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CCCCC"/>
                </a:solidFill>
                <a:highlight>
                  <a:srgbClr val="1F1F1F"/>
                </a:highlight>
                <a:latin typeface="Courier New"/>
                <a:ea typeface="Courier New"/>
                <a:cs typeface="Courier New"/>
                <a:sym typeface="Courier New"/>
              </a:rPr>
              <a:t> t.value_at_transfer) </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B5CEA8"/>
                </a:solidFill>
                <a:highlight>
                  <a:srgbClr val="1F1F1F"/>
                </a:highlight>
                <a:latin typeface="Courier New"/>
                <a:ea typeface="Courier New"/>
                <a:cs typeface="Courier New"/>
                <a:sym typeface="Courier New"/>
              </a:rPr>
              <a:t>1</a:t>
            </a:r>
            <a:r>
              <a:rPr b="1" i="0" lang="en" sz="700" u="none" cap="none" strike="noStrike">
                <a:solidFill>
                  <a:srgbClr val="CCCCCC"/>
                </a:solidFill>
                <a:highlight>
                  <a:srgbClr val="1F1F1F"/>
                </a:highlight>
                <a:latin typeface="Courier New"/>
                <a:ea typeface="Courier New"/>
                <a:cs typeface="Courier New"/>
                <a:sym typeface="Courier New"/>
              </a:rPr>
              <a:t>.</a:t>
            </a:r>
            <a:r>
              <a:rPr b="1" i="0" lang="en" sz="700" u="none" cap="none" strike="noStrike">
                <a:solidFill>
                  <a:srgbClr val="B5CEA8"/>
                </a:solidFill>
                <a:highlight>
                  <a:srgbClr val="1F1F1F"/>
                </a:highlight>
                <a:latin typeface="Courier New"/>
                <a:ea typeface="Courier New"/>
                <a:cs typeface="Courier New"/>
                <a:sym typeface="Courier New"/>
              </a:rPr>
              <a:t>0</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CCCCC"/>
                </a:solidFill>
                <a:highlight>
                  <a:srgbClr val="1F1F1F"/>
                </a:highlight>
                <a:latin typeface="Courier New"/>
                <a:ea typeface="Courier New"/>
                <a:cs typeface="Courier New"/>
                <a:sym typeface="Courier New"/>
              </a:rPr>
              <a:t> t.value_at_transfer </a:t>
            </a:r>
            <a:r>
              <a:rPr b="1" i="0" lang="en" sz="700" u="none" cap="none" strike="noStrike">
                <a:solidFill>
                  <a:srgbClr val="D4D4D4"/>
                </a:solidFill>
                <a:highlight>
                  <a:srgbClr val="1F1F1F"/>
                </a:highlight>
                <a:latin typeface="Courier New"/>
                <a:ea typeface="Courier New"/>
                <a:cs typeface="Courier New"/>
                <a:sym typeface="Courier New"/>
              </a:rPr>
              <a:t>*</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B5CEA8"/>
                </a:solidFill>
                <a:highlight>
                  <a:srgbClr val="1F1F1F"/>
                </a:highlight>
                <a:latin typeface="Courier New"/>
                <a:ea typeface="Courier New"/>
                <a:cs typeface="Courier New"/>
                <a:sym typeface="Courier New"/>
              </a:rPr>
              <a:t>100</a:t>
            </a:r>
            <a:r>
              <a:rPr b="1" i="0" lang="en" sz="700" u="none" cap="none" strike="noStrike">
                <a:solidFill>
                  <a:srgbClr val="CCCCCC"/>
                </a:solidFill>
                <a:highlight>
                  <a:srgbClr val="1F1F1F"/>
                </a:highlight>
                <a:latin typeface="Courier New"/>
                <a:ea typeface="Courier New"/>
                <a:cs typeface="Courier New"/>
                <a:sym typeface="Courier New"/>
              </a:rPr>
              <a:t> ) </a:t>
            </a:r>
            <a:r>
              <a:rPr b="1" i="0" lang="en" sz="700" u="none" cap="none" strike="noStrike">
                <a:solidFill>
                  <a:srgbClr val="D4D4D4"/>
                </a:solidFill>
                <a:highlight>
                  <a:srgbClr val="1F1F1F"/>
                </a:highlight>
                <a:latin typeface="Courier New"/>
                <a:ea typeface="Courier New"/>
                <a:cs typeface="Courier New"/>
                <a:sym typeface="Courier New"/>
              </a:rPr>
              <a:t>&lt;</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B5CEA8"/>
                </a:solidFill>
                <a:highlight>
                  <a:srgbClr val="1F1F1F"/>
                </a:highlight>
                <a:latin typeface="Courier New"/>
                <a:ea typeface="Courier New"/>
                <a:cs typeface="Courier New"/>
                <a:sym typeface="Courier New"/>
              </a:rPr>
              <a:t>0</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569CD6"/>
                </a:solidFill>
                <a:highlight>
                  <a:srgbClr val="1F1F1F"/>
                </a:highlight>
                <a:latin typeface="Courier New"/>
                <a:ea typeface="Courier New"/>
                <a:cs typeface="Courier New"/>
                <a:sym typeface="Courier New"/>
              </a:rPr>
              <a:t>AND</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DCDCAA"/>
                </a:solidFill>
                <a:highlight>
                  <a:srgbClr val="1F1F1F"/>
                </a:highlight>
                <a:latin typeface="Courier New"/>
                <a:ea typeface="Courier New"/>
                <a:cs typeface="Courier New"/>
                <a:sym typeface="Courier New"/>
              </a:rPr>
              <a:t>COUNT</a:t>
            </a:r>
            <a:r>
              <a:rPr b="1" i="0" lang="en" sz="700" u="none" cap="none" strike="noStrike">
                <a:solidFill>
                  <a:srgbClr val="CCCCCC"/>
                </a:solidFill>
                <a:highlight>
                  <a:srgbClr val="1F1F1F"/>
                </a:highlight>
                <a:latin typeface="Courier New"/>
                <a:ea typeface="Courier New"/>
                <a:cs typeface="Courier New"/>
                <a:sym typeface="Courier New"/>
              </a:rPr>
              <a:t>(t.player_id) </a:t>
            </a:r>
            <a:r>
              <a:rPr b="1" i="0" lang="en" sz="700" u="none" cap="none" strike="noStrike">
                <a:solidFill>
                  <a:srgbClr val="D4D4D4"/>
                </a:solidFill>
                <a:highlight>
                  <a:srgbClr val="1F1F1F"/>
                </a:highlight>
                <a:latin typeface="Courier New"/>
                <a:ea typeface="Courier New"/>
                <a:cs typeface="Courier New"/>
                <a:sym typeface="Courier New"/>
              </a:rPr>
              <a:t>&gt;</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B5CEA8"/>
                </a:solidFill>
                <a:highlight>
                  <a:srgbClr val="1F1F1F"/>
                </a:highlight>
                <a:latin typeface="Courier New"/>
                <a:ea typeface="Courier New"/>
                <a:cs typeface="Courier New"/>
                <a:sym typeface="Courier New"/>
              </a:rPr>
              <a:t>10</a:t>
            </a:r>
            <a:endParaRPr b="1" i="0" sz="700" u="none" cap="none" strike="noStrike">
              <a:solidFill>
                <a:srgbClr val="B5CEA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569CD6"/>
                </a:solidFill>
                <a:highlight>
                  <a:srgbClr val="1F1F1F"/>
                </a:highlight>
                <a:latin typeface="Courier New"/>
                <a:ea typeface="Courier New"/>
                <a:cs typeface="Courier New"/>
                <a:sym typeface="Courier New"/>
              </a:rPr>
              <a:t>ORDER BY</a:t>
            </a:r>
            <a:r>
              <a:rPr b="1" i="0" lang="en" sz="700" u="none" cap="none" strike="noStrike">
                <a:solidFill>
                  <a:srgbClr val="CCCCCC"/>
                </a:solidFill>
                <a:highlight>
                  <a:srgbClr val="1F1F1F"/>
                </a:highlight>
                <a:latin typeface="Courier New"/>
                <a:ea typeface="Courier New"/>
                <a:cs typeface="Courier New"/>
                <a:sym typeface="Courier New"/>
              </a:rPr>
              <a:t> avg_buy_discount_pct </a:t>
            </a:r>
            <a:r>
              <a:rPr b="1" i="0" lang="en" sz="700" u="none" cap="none" strike="noStrike">
                <a:solidFill>
                  <a:srgbClr val="569CD6"/>
                </a:solidFill>
                <a:highlight>
                  <a:srgbClr val="1F1F1F"/>
                </a:highlight>
                <a:latin typeface="Courier New"/>
                <a:ea typeface="Courier New"/>
                <a:cs typeface="Courier New"/>
                <a:sym typeface="Courier New"/>
              </a:rPr>
              <a:t>DESC</a:t>
            </a:r>
            <a:endParaRPr b="1" i="0" sz="70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700"/>
              <a:buFont typeface="Arial"/>
              <a:buNone/>
            </a:pPr>
            <a:r>
              <a:rPr b="1" i="0" lang="en" sz="700" u="none" cap="none" strike="noStrike">
                <a:solidFill>
                  <a:srgbClr val="569CD6"/>
                </a:solidFill>
                <a:highlight>
                  <a:srgbClr val="1F1F1F"/>
                </a:highlight>
                <a:latin typeface="Courier New"/>
                <a:ea typeface="Courier New"/>
                <a:cs typeface="Courier New"/>
                <a:sym typeface="Courier New"/>
              </a:rPr>
              <a:t>LIMIT</a:t>
            </a:r>
            <a:r>
              <a:rPr b="1" i="0" lang="en" sz="700" u="none" cap="none" strike="noStrike">
                <a:solidFill>
                  <a:srgbClr val="CCCCCC"/>
                </a:solidFill>
                <a:highlight>
                  <a:srgbClr val="1F1F1F"/>
                </a:highlight>
                <a:latin typeface="Courier New"/>
                <a:ea typeface="Courier New"/>
                <a:cs typeface="Courier New"/>
                <a:sym typeface="Courier New"/>
              </a:rPr>
              <a:t> </a:t>
            </a:r>
            <a:r>
              <a:rPr b="1" i="0" lang="en" sz="700" u="none" cap="none" strike="noStrike">
                <a:solidFill>
                  <a:srgbClr val="B5CEA8"/>
                </a:solidFill>
                <a:highlight>
                  <a:srgbClr val="1F1F1F"/>
                </a:highlight>
                <a:latin typeface="Courier New"/>
                <a:ea typeface="Courier New"/>
                <a:cs typeface="Courier New"/>
                <a:sym typeface="Courier New"/>
              </a:rPr>
              <a:t>15</a:t>
            </a:r>
            <a:r>
              <a:rPr b="1" i="0" lang="en" sz="700" u="none" cap="none" strike="noStrike">
                <a:solidFill>
                  <a:srgbClr val="CCCCCC"/>
                </a:solidFill>
                <a:highlight>
                  <a:srgbClr val="1F1F1F"/>
                </a:highlight>
                <a:latin typeface="Courier New"/>
                <a:ea typeface="Courier New"/>
                <a:cs typeface="Courier New"/>
                <a:sym typeface="Courier New"/>
              </a:rPr>
              <a:t>;</a:t>
            </a:r>
            <a:endParaRPr b="1" i="0" sz="7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2"/>
              </a:solidFill>
              <a:latin typeface="Nunito"/>
              <a:ea typeface="Nunito"/>
              <a:cs typeface="Nunito"/>
              <a:sym typeface="Nunito"/>
            </a:endParaRPr>
          </a:p>
        </p:txBody>
      </p:sp>
      <p:pic>
        <p:nvPicPr>
          <p:cNvPr id="393" name="Google Shape;393;p14"/>
          <p:cNvPicPr preferRelativeResize="0"/>
          <p:nvPr/>
        </p:nvPicPr>
        <p:blipFill rotWithShape="1">
          <a:blip r:embed="rId3">
            <a:alphaModFix/>
          </a:blip>
          <a:srcRect b="0" l="0" r="0" t="0"/>
          <a:stretch/>
        </p:blipFill>
        <p:spPr>
          <a:xfrm>
            <a:off x="5239874" y="1597875"/>
            <a:ext cx="2582651" cy="2741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15"/>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lang="en" sz="2100"/>
              <a:t>6. Which clubs consistently sells overvalued players? (Scouting efficiency when selling)</a:t>
            </a:r>
            <a:endParaRPr sz="2100"/>
          </a:p>
        </p:txBody>
      </p:sp>
      <p:sp>
        <p:nvSpPr>
          <p:cNvPr id="399" name="Google Shape;399;p15"/>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chemeClr val="accent6"/>
                </a:solidFill>
                <a:latin typeface="Maven Pro"/>
                <a:ea typeface="Maven Pro"/>
                <a:cs typeface="Maven Pro"/>
                <a:sym typeface="Maven Pro"/>
              </a:rPr>
              <a:t>Transfer Market Dynamics 💱</a:t>
            </a:r>
            <a:endParaRPr b="1" i="0" sz="1766" u="none" cap="none" strike="noStrike">
              <a:solidFill>
                <a:schemeClr val="accent6"/>
              </a:solidFill>
              <a:latin typeface="Maven Pro"/>
              <a:ea typeface="Maven Pro"/>
              <a:cs typeface="Maven Pro"/>
              <a:sym typeface="Maven Pro"/>
            </a:endParaRPr>
          </a:p>
        </p:txBody>
      </p:sp>
      <p:sp>
        <p:nvSpPr>
          <p:cNvPr id="400" name="Google Shape;400;p15"/>
          <p:cNvSpPr txBox="1"/>
          <p:nvPr/>
        </p:nvSpPr>
        <p:spPr>
          <a:xfrm>
            <a:off x="499400" y="1631725"/>
            <a:ext cx="3372900" cy="3300900"/>
          </a:xfrm>
          <a:prstGeom prst="rect">
            <a:avLst/>
          </a:prstGeom>
          <a:noFill/>
          <a:ln>
            <a:noFill/>
          </a:ln>
        </p:spPr>
        <p:txBody>
          <a:bodyPr anchorCtr="0" anchor="t" bIns="91425" lIns="91425" spcFirstLastPara="1" rIns="91425" wrap="square" tIns="91425">
            <a:noAutofit/>
          </a:bodyPr>
          <a:lstStyle/>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SELECT</a:t>
            </a:r>
            <a:r>
              <a:rPr b="1" i="0" lang="en" sz="650" u="none" cap="none" strike="noStrike">
                <a:solidFill>
                  <a:srgbClr val="CCCCCC"/>
                </a:solidFill>
                <a:highlight>
                  <a:srgbClr val="1F1F1F"/>
                </a:highlight>
                <a:latin typeface="Courier New"/>
                <a:ea typeface="Courier New"/>
                <a:cs typeface="Courier New"/>
                <a:sym typeface="Courier New"/>
              </a:rPr>
              <a:t> t.from_team_name, d.competition_id </a:t>
            </a:r>
            <a:r>
              <a:rPr b="1" i="0" lang="en" sz="650" u="none" cap="none" strike="noStrike">
                <a:solidFill>
                  <a:srgbClr val="569CD6"/>
                </a:solidFill>
                <a:highlight>
                  <a:srgbClr val="1F1F1F"/>
                </a:highlight>
                <a:latin typeface="Courier New"/>
                <a:ea typeface="Courier New"/>
                <a:cs typeface="Courier New"/>
                <a:sym typeface="Courier New"/>
              </a:rPr>
              <a:t>AS</a:t>
            </a:r>
            <a:r>
              <a:rPr b="1" i="0" lang="en" sz="650" u="none" cap="none" strike="noStrike">
                <a:solidFill>
                  <a:srgbClr val="CCCCCC"/>
                </a:solidFill>
                <a:highlight>
                  <a:srgbClr val="1F1F1F"/>
                </a:highlight>
                <a:latin typeface="Courier New"/>
                <a:ea typeface="Courier New"/>
                <a:cs typeface="Courier New"/>
                <a:sym typeface="Courier New"/>
              </a:rPr>
              <a:t> league, </a:t>
            </a:r>
            <a:r>
              <a:rPr b="1" i="0" lang="en" sz="650" u="none" cap="none" strike="noStrike">
                <a:solidFill>
                  <a:srgbClr val="DCDCAA"/>
                </a:solidFill>
                <a:highlight>
                  <a:srgbClr val="1F1F1F"/>
                </a:highlight>
                <a:latin typeface="Courier New"/>
                <a:ea typeface="Courier New"/>
                <a:cs typeface="Courier New"/>
                <a:sym typeface="Courier New"/>
              </a:rPr>
              <a:t>COUNT</a:t>
            </a:r>
            <a:r>
              <a:rPr b="1" i="0" lang="en" sz="650" u="none" cap="none" strike="noStrike">
                <a:solidFill>
                  <a:srgbClr val="CCCCCC"/>
                </a:solidFill>
                <a:highlight>
                  <a:srgbClr val="1F1F1F"/>
                </a:highlight>
                <a:latin typeface="Courier New"/>
                <a:ea typeface="Courier New"/>
                <a:cs typeface="Courier New"/>
                <a:sym typeface="Courier New"/>
              </a:rPr>
              <a:t>(t.player_id) </a:t>
            </a:r>
            <a:r>
              <a:rPr b="1" i="0" lang="en" sz="650" u="none" cap="none" strike="noStrike">
                <a:solidFill>
                  <a:srgbClr val="569CD6"/>
                </a:solidFill>
                <a:highlight>
                  <a:srgbClr val="1F1F1F"/>
                </a:highlight>
                <a:latin typeface="Courier New"/>
                <a:ea typeface="Courier New"/>
                <a:cs typeface="Courier New"/>
                <a:sym typeface="Courier New"/>
              </a:rPr>
              <a:t>AS</a:t>
            </a:r>
            <a:r>
              <a:rPr b="1" i="0" lang="en" sz="650" u="none" cap="none" strike="noStrike">
                <a:solidFill>
                  <a:srgbClr val="CCCCCC"/>
                </a:solidFill>
                <a:highlight>
                  <a:srgbClr val="1F1F1F"/>
                </a:highlight>
                <a:latin typeface="Courier New"/>
                <a:ea typeface="Courier New"/>
                <a:cs typeface="Courier New"/>
                <a:sym typeface="Courier New"/>
              </a:rPr>
              <a:t> transfers_out, </a:t>
            </a:r>
            <a:r>
              <a:rPr b="1" i="0" lang="en" sz="650" u="none" cap="none" strike="noStrike">
                <a:solidFill>
                  <a:srgbClr val="DCDCAA"/>
                </a:solidFill>
                <a:highlight>
                  <a:srgbClr val="1F1F1F"/>
                </a:highlight>
                <a:latin typeface="Courier New"/>
                <a:ea typeface="Courier New"/>
                <a:cs typeface="Courier New"/>
                <a:sym typeface="Courier New"/>
              </a:rPr>
              <a:t>ROUND</a:t>
            </a:r>
            <a:r>
              <a:rPr b="1" i="0" lang="en" sz="650" u="none" cap="none" strike="noStrike">
                <a:solidFill>
                  <a:srgbClr val="CCCCCC"/>
                </a:solidFill>
                <a:highlight>
                  <a:srgbClr val="1F1F1F"/>
                </a:highlight>
                <a:latin typeface="Courier New"/>
                <a:ea typeface="Courier New"/>
                <a:cs typeface="Courier New"/>
                <a:sym typeface="Courier New"/>
              </a:rPr>
              <a:t>(</a:t>
            </a:r>
            <a:r>
              <a:rPr b="1" i="0" lang="en" sz="650" u="none" cap="none" strike="noStrike">
                <a:solidFill>
                  <a:srgbClr val="DCDCAA"/>
                </a:solidFill>
                <a:highlight>
                  <a:srgbClr val="1F1F1F"/>
                </a:highlight>
                <a:latin typeface="Courier New"/>
                <a:ea typeface="Courier New"/>
                <a:cs typeface="Courier New"/>
                <a:sym typeface="Courier New"/>
              </a:rPr>
              <a:t>AVG</a:t>
            </a:r>
            <a:r>
              <a:rPr b="1" i="0" lang="en" sz="650" u="none" cap="none" strike="noStrike">
                <a:solidFill>
                  <a:srgbClr val="CCCCCC"/>
                </a:solidFill>
                <a:highlight>
                  <a:srgbClr val="1F1F1F"/>
                </a:highlight>
                <a:latin typeface="Courier New"/>
                <a:ea typeface="Courier New"/>
                <a:cs typeface="Courier New"/>
                <a:sym typeface="Courier New"/>
              </a:rPr>
              <a:t>((t.transfer_fee </a:t>
            </a:r>
            <a:r>
              <a:rPr b="1" i="0" lang="en" sz="650" u="none" cap="none" strike="noStrike">
                <a:solidFill>
                  <a:srgbClr val="D4D4D4"/>
                </a:solidFill>
                <a:highlight>
                  <a:srgbClr val="1F1F1F"/>
                </a:highlight>
                <a:latin typeface="Courier New"/>
                <a:ea typeface="Courier New"/>
                <a:cs typeface="Courier New"/>
                <a:sym typeface="Courier New"/>
              </a:rPr>
              <a:t>-</a:t>
            </a:r>
            <a:r>
              <a:rPr b="1" i="0" lang="en" sz="650" u="none" cap="none" strike="noStrike">
                <a:solidFill>
                  <a:srgbClr val="CCCCCC"/>
                </a:solidFill>
                <a:highlight>
                  <a:srgbClr val="1F1F1F"/>
                </a:highlight>
                <a:latin typeface="Courier New"/>
                <a:ea typeface="Courier New"/>
                <a:cs typeface="Courier New"/>
                <a:sym typeface="Courier New"/>
              </a:rPr>
              <a:t> t.value_at_transfer) </a:t>
            </a:r>
            <a:r>
              <a:rPr b="1" i="0" lang="en" sz="650" u="none" cap="none" strike="noStrike">
                <a:solidFill>
                  <a:srgbClr val="D4D4D4"/>
                </a:solidFill>
                <a:highlight>
                  <a:srgbClr val="1F1F1F"/>
                </a:highlight>
                <a:latin typeface="Courier New"/>
                <a:ea typeface="Courier New"/>
                <a:cs typeface="Courier New"/>
                <a:sym typeface="Courier New"/>
              </a:rPr>
              <a:t>*</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B5CEA8"/>
                </a:solidFill>
                <a:highlight>
                  <a:srgbClr val="1F1F1F"/>
                </a:highlight>
                <a:latin typeface="Courier New"/>
                <a:ea typeface="Courier New"/>
                <a:cs typeface="Courier New"/>
                <a:sym typeface="Courier New"/>
              </a:rPr>
              <a:t>1</a:t>
            </a:r>
            <a:r>
              <a:rPr b="1" i="0" lang="en" sz="650" u="none" cap="none" strike="noStrike">
                <a:solidFill>
                  <a:srgbClr val="CCCCCC"/>
                </a:solidFill>
                <a:highlight>
                  <a:srgbClr val="1F1F1F"/>
                </a:highlight>
                <a:latin typeface="Courier New"/>
                <a:ea typeface="Courier New"/>
                <a:cs typeface="Courier New"/>
                <a:sym typeface="Courier New"/>
              </a:rPr>
              <a:t>.</a:t>
            </a:r>
            <a:r>
              <a:rPr b="1" i="0" lang="en" sz="650" u="none" cap="none" strike="noStrike">
                <a:solidFill>
                  <a:srgbClr val="B5CEA8"/>
                </a:solidFill>
                <a:highlight>
                  <a:srgbClr val="1F1F1F"/>
                </a:highlight>
                <a:latin typeface="Courier New"/>
                <a:ea typeface="Courier New"/>
                <a:cs typeface="Courier New"/>
                <a:sym typeface="Courier New"/>
              </a:rPr>
              <a:t>0</a:t>
            </a:r>
            <a:r>
              <a:rPr b="1" i="0" lang="en" sz="650" u="none" cap="none" strike="noStrike">
                <a:solidFill>
                  <a:srgbClr val="D4D4D4"/>
                </a:solidFill>
                <a:highlight>
                  <a:srgbClr val="1F1F1F"/>
                </a:highlight>
                <a:latin typeface="Courier New"/>
                <a:ea typeface="Courier New"/>
                <a:cs typeface="Courier New"/>
                <a:sym typeface="Courier New"/>
              </a:rPr>
              <a:t>/</a:t>
            </a:r>
            <a:r>
              <a:rPr b="1" i="0" lang="en" sz="650" u="none" cap="none" strike="noStrike">
                <a:solidFill>
                  <a:srgbClr val="CCCCCC"/>
                </a:solidFill>
                <a:highlight>
                  <a:srgbClr val="1F1F1F"/>
                </a:highlight>
                <a:latin typeface="Courier New"/>
                <a:ea typeface="Courier New"/>
                <a:cs typeface="Courier New"/>
                <a:sym typeface="Courier New"/>
              </a:rPr>
              <a:t> t.value_at_transfer </a:t>
            </a:r>
            <a:r>
              <a:rPr b="1" i="0" lang="en" sz="650" u="none" cap="none" strike="noStrike">
                <a:solidFill>
                  <a:srgbClr val="D4D4D4"/>
                </a:solidFill>
                <a:highlight>
                  <a:srgbClr val="1F1F1F"/>
                </a:highlight>
                <a:latin typeface="Courier New"/>
                <a:ea typeface="Courier New"/>
                <a:cs typeface="Courier New"/>
                <a:sym typeface="Courier New"/>
              </a:rPr>
              <a:t>*</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B5CEA8"/>
                </a:solidFill>
                <a:highlight>
                  <a:srgbClr val="1F1F1F"/>
                </a:highlight>
                <a:latin typeface="Courier New"/>
                <a:ea typeface="Courier New"/>
                <a:cs typeface="Courier New"/>
                <a:sym typeface="Courier New"/>
              </a:rPr>
              <a:t>100</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B5CEA8"/>
                </a:solidFill>
                <a:highlight>
                  <a:srgbClr val="1F1F1F"/>
                </a:highlight>
                <a:latin typeface="Courier New"/>
                <a:ea typeface="Courier New"/>
                <a:cs typeface="Courier New"/>
                <a:sym typeface="Courier New"/>
              </a:rPr>
              <a:t>2</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569CD6"/>
                </a:solidFill>
                <a:highlight>
                  <a:srgbClr val="1F1F1F"/>
                </a:highlight>
                <a:latin typeface="Courier New"/>
                <a:ea typeface="Courier New"/>
                <a:cs typeface="Courier New"/>
                <a:sym typeface="Courier New"/>
              </a:rPr>
              <a:t>AS</a:t>
            </a:r>
            <a:r>
              <a:rPr b="1" i="0" lang="en" sz="650" u="none" cap="none" strike="noStrike">
                <a:solidFill>
                  <a:srgbClr val="CCCCCC"/>
                </a:solidFill>
                <a:highlight>
                  <a:srgbClr val="1F1F1F"/>
                </a:highlight>
                <a:latin typeface="Courier New"/>
                <a:ea typeface="Courier New"/>
                <a:cs typeface="Courier New"/>
                <a:sym typeface="Courier New"/>
              </a:rPr>
              <a:t> avg_sell_premium_pct</a:t>
            </a:r>
            <a:endParaRPr b="1" i="0" sz="6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FROM</a:t>
            </a:r>
            <a:r>
              <a:rPr b="1" i="0" lang="en" sz="650" u="none" cap="none" strike="noStrike">
                <a:solidFill>
                  <a:srgbClr val="CCCCCC"/>
                </a:solidFill>
                <a:highlight>
                  <a:srgbClr val="1F1F1F"/>
                </a:highlight>
                <a:latin typeface="Courier New"/>
                <a:ea typeface="Courier New"/>
                <a:cs typeface="Courier New"/>
                <a:sym typeface="Courier New"/>
              </a:rPr>
              <a:t> transfer_history t</a:t>
            </a:r>
            <a:endParaRPr b="1" i="0" sz="6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INNER JOIN</a:t>
            </a:r>
            <a:r>
              <a:rPr b="1" i="0" lang="en" sz="650" u="none" cap="none" strike="noStrike">
                <a:solidFill>
                  <a:srgbClr val="CCCCCC"/>
                </a:solidFill>
                <a:highlight>
                  <a:srgbClr val="1F1F1F"/>
                </a:highlight>
                <a:latin typeface="Courier New"/>
                <a:ea typeface="Courier New"/>
                <a:cs typeface="Courier New"/>
                <a:sym typeface="Courier New"/>
              </a:rPr>
              <a:t> team_details d </a:t>
            </a:r>
            <a:r>
              <a:rPr b="1" i="0" lang="en" sz="650" u="none" cap="none" strike="noStrike">
                <a:solidFill>
                  <a:srgbClr val="569CD6"/>
                </a:solidFill>
                <a:highlight>
                  <a:srgbClr val="1F1F1F"/>
                </a:highlight>
                <a:latin typeface="Courier New"/>
                <a:ea typeface="Courier New"/>
                <a:cs typeface="Courier New"/>
                <a:sym typeface="Courier New"/>
              </a:rPr>
              <a:t>ON</a:t>
            </a:r>
            <a:r>
              <a:rPr b="1" i="0" lang="en" sz="650" u="none" cap="none" strike="noStrike">
                <a:solidFill>
                  <a:srgbClr val="CCCCCC"/>
                </a:solidFill>
                <a:highlight>
                  <a:srgbClr val="1F1F1F"/>
                </a:highlight>
                <a:latin typeface="Courier New"/>
                <a:ea typeface="Courier New"/>
                <a:cs typeface="Courier New"/>
                <a:sym typeface="Courier New"/>
              </a:rPr>
              <a:t> t.from_team_id </a:t>
            </a:r>
            <a:r>
              <a:rPr b="1" i="0" lang="en" sz="650" u="none" cap="none" strike="noStrike">
                <a:solidFill>
                  <a:srgbClr val="D4D4D4"/>
                </a:solidFill>
                <a:highlight>
                  <a:srgbClr val="1F1F1F"/>
                </a:highlight>
                <a:latin typeface="Courier New"/>
                <a:ea typeface="Courier New"/>
                <a:cs typeface="Courier New"/>
                <a:sym typeface="Courier New"/>
              </a:rPr>
              <a:t>=</a:t>
            </a:r>
            <a:r>
              <a:rPr b="1" i="0" lang="en" sz="650" u="none" cap="none" strike="noStrike">
                <a:solidFill>
                  <a:srgbClr val="CCCCCC"/>
                </a:solidFill>
                <a:highlight>
                  <a:srgbClr val="1F1F1F"/>
                </a:highlight>
                <a:latin typeface="Courier New"/>
                <a:ea typeface="Courier New"/>
                <a:cs typeface="Courier New"/>
                <a:sym typeface="Courier New"/>
              </a:rPr>
              <a:t> d.club_id</a:t>
            </a:r>
            <a:endParaRPr b="1" i="0" sz="6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WHERE</a:t>
            </a:r>
            <a:r>
              <a:rPr b="1" i="0" lang="en" sz="650" u="none" cap="none" strike="noStrike">
                <a:solidFill>
                  <a:srgbClr val="CCCCCC"/>
                </a:solidFill>
                <a:highlight>
                  <a:srgbClr val="1F1F1F"/>
                </a:highlight>
                <a:latin typeface="Courier New"/>
                <a:ea typeface="Courier New"/>
                <a:cs typeface="Courier New"/>
                <a:sym typeface="Courier New"/>
              </a:rPr>
              <a:t> d.competition_id </a:t>
            </a:r>
            <a:r>
              <a:rPr b="1" i="0" lang="en" sz="650" u="none" cap="none" strike="noStrike">
                <a:solidFill>
                  <a:srgbClr val="569CD6"/>
                </a:solidFill>
                <a:highlight>
                  <a:srgbClr val="1F1F1F"/>
                </a:highlight>
                <a:latin typeface="Courier New"/>
                <a:ea typeface="Courier New"/>
                <a:cs typeface="Courier New"/>
                <a:sym typeface="Courier New"/>
              </a:rPr>
              <a:t>IN</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CE9178"/>
                </a:solidFill>
                <a:highlight>
                  <a:srgbClr val="1F1F1F"/>
                </a:highlight>
                <a:latin typeface="Courier New"/>
                <a:ea typeface="Courier New"/>
                <a:cs typeface="Courier New"/>
                <a:sym typeface="Courier New"/>
              </a:rPr>
              <a:t>'ES1'</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CE9178"/>
                </a:solidFill>
                <a:highlight>
                  <a:srgbClr val="1F1F1F"/>
                </a:highlight>
                <a:latin typeface="Courier New"/>
                <a:ea typeface="Courier New"/>
                <a:cs typeface="Courier New"/>
                <a:sym typeface="Courier New"/>
              </a:rPr>
              <a:t>'GB1'</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CE9178"/>
                </a:solidFill>
                <a:highlight>
                  <a:srgbClr val="1F1F1F"/>
                </a:highlight>
                <a:latin typeface="Courier New"/>
                <a:ea typeface="Courier New"/>
                <a:cs typeface="Courier New"/>
                <a:sym typeface="Courier New"/>
              </a:rPr>
              <a:t>'FR1'</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CE9178"/>
                </a:solidFill>
                <a:highlight>
                  <a:srgbClr val="1F1F1F"/>
                </a:highlight>
                <a:latin typeface="Courier New"/>
                <a:ea typeface="Courier New"/>
                <a:cs typeface="Courier New"/>
                <a:sym typeface="Courier New"/>
              </a:rPr>
              <a:t>'L1'</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CE9178"/>
                </a:solidFill>
                <a:highlight>
                  <a:srgbClr val="1F1F1F"/>
                </a:highlight>
                <a:latin typeface="Courier New"/>
                <a:ea typeface="Courier New"/>
                <a:cs typeface="Courier New"/>
                <a:sym typeface="Courier New"/>
              </a:rPr>
              <a:t>'IT1'</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569CD6"/>
                </a:solidFill>
                <a:highlight>
                  <a:srgbClr val="1F1F1F"/>
                </a:highlight>
                <a:latin typeface="Courier New"/>
                <a:ea typeface="Courier New"/>
                <a:cs typeface="Courier New"/>
                <a:sym typeface="Courier New"/>
              </a:rPr>
              <a:t>AND</a:t>
            </a:r>
            <a:r>
              <a:rPr b="1" i="0" lang="en" sz="650" u="none" cap="none" strike="noStrike">
                <a:solidFill>
                  <a:srgbClr val="CCCCCC"/>
                </a:solidFill>
                <a:highlight>
                  <a:srgbClr val="1F1F1F"/>
                </a:highlight>
                <a:latin typeface="Courier New"/>
                <a:ea typeface="Courier New"/>
                <a:cs typeface="Courier New"/>
                <a:sym typeface="Courier New"/>
              </a:rPr>
              <a:t> t.transfer_fee </a:t>
            </a:r>
            <a:r>
              <a:rPr b="1" i="0" lang="en" sz="650" u="none" cap="none" strike="noStrike">
                <a:solidFill>
                  <a:srgbClr val="D4D4D4"/>
                </a:solidFill>
                <a:highlight>
                  <a:srgbClr val="1F1F1F"/>
                </a:highlight>
                <a:latin typeface="Courier New"/>
                <a:ea typeface="Courier New"/>
                <a:cs typeface="Courier New"/>
                <a:sym typeface="Courier New"/>
              </a:rPr>
              <a:t>&gt;</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B5CEA8"/>
                </a:solidFill>
                <a:highlight>
                  <a:srgbClr val="1F1F1F"/>
                </a:highlight>
                <a:latin typeface="Courier New"/>
                <a:ea typeface="Courier New"/>
                <a:cs typeface="Courier New"/>
                <a:sym typeface="Courier New"/>
              </a:rPr>
              <a:t>0</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569CD6"/>
                </a:solidFill>
                <a:highlight>
                  <a:srgbClr val="1F1F1F"/>
                </a:highlight>
                <a:latin typeface="Courier New"/>
                <a:ea typeface="Courier New"/>
                <a:cs typeface="Courier New"/>
                <a:sym typeface="Courier New"/>
              </a:rPr>
              <a:t>AND</a:t>
            </a:r>
            <a:r>
              <a:rPr b="1" i="0" lang="en" sz="650" u="none" cap="none" strike="noStrike">
                <a:solidFill>
                  <a:srgbClr val="CCCCCC"/>
                </a:solidFill>
                <a:highlight>
                  <a:srgbClr val="1F1F1F"/>
                </a:highlight>
                <a:latin typeface="Courier New"/>
                <a:ea typeface="Courier New"/>
                <a:cs typeface="Courier New"/>
                <a:sym typeface="Courier New"/>
              </a:rPr>
              <a:t> t.value_at_transfer </a:t>
            </a:r>
            <a:r>
              <a:rPr b="1" i="0" lang="en" sz="650" u="none" cap="none" strike="noStrike">
                <a:solidFill>
                  <a:srgbClr val="D4D4D4"/>
                </a:solidFill>
                <a:highlight>
                  <a:srgbClr val="1F1F1F"/>
                </a:highlight>
                <a:latin typeface="Courier New"/>
                <a:ea typeface="Courier New"/>
                <a:cs typeface="Courier New"/>
                <a:sym typeface="Courier New"/>
              </a:rPr>
              <a:t>&gt;</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B5CEA8"/>
                </a:solidFill>
                <a:highlight>
                  <a:srgbClr val="1F1F1F"/>
                </a:highlight>
                <a:latin typeface="Courier New"/>
                <a:ea typeface="Courier New"/>
                <a:cs typeface="Courier New"/>
                <a:sym typeface="Courier New"/>
              </a:rPr>
              <a:t>0</a:t>
            </a:r>
            <a:endParaRPr b="1" i="0" sz="650" u="none" cap="none" strike="noStrike">
              <a:solidFill>
                <a:srgbClr val="B5CEA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GROUP BY</a:t>
            </a:r>
            <a:r>
              <a:rPr b="1" i="0" lang="en" sz="650" u="none" cap="none" strike="noStrike">
                <a:solidFill>
                  <a:srgbClr val="CCCCCC"/>
                </a:solidFill>
                <a:highlight>
                  <a:srgbClr val="1F1F1F"/>
                </a:highlight>
                <a:latin typeface="Courier New"/>
                <a:ea typeface="Courier New"/>
                <a:cs typeface="Courier New"/>
                <a:sym typeface="Courier New"/>
              </a:rPr>
              <a:t> t.from_team_id, t.from_team_name, d.competition_id</a:t>
            </a:r>
            <a:endParaRPr b="1" i="0" sz="6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HAVING</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DCDCAA"/>
                </a:solidFill>
                <a:highlight>
                  <a:srgbClr val="1F1F1F"/>
                </a:highlight>
                <a:latin typeface="Courier New"/>
                <a:ea typeface="Courier New"/>
                <a:cs typeface="Courier New"/>
                <a:sym typeface="Courier New"/>
              </a:rPr>
              <a:t>AVG</a:t>
            </a:r>
            <a:r>
              <a:rPr b="1" i="0" lang="en" sz="650" u="none" cap="none" strike="noStrike">
                <a:solidFill>
                  <a:srgbClr val="CCCCCC"/>
                </a:solidFill>
                <a:highlight>
                  <a:srgbClr val="1F1F1F"/>
                </a:highlight>
                <a:latin typeface="Courier New"/>
                <a:ea typeface="Courier New"/>
                <a:cs typeface="Courier New"/>
                <a:sym typeface="Courier New"/>
              </a:rPr>
              <a:t>((t.transfer_fee </a:t>
            </a:r>
            <a:r>
              <a:rPr b="1" i="0" lang="en" sz="650" u="none" cap="none" strike="noStrike">
                <a:solidFill>
                  <a:srgbClr val="D4D4D4"/>
                </a:solidFill>
                <a:highlight>
                  <a:srgbClr val="1F1F1F"/>
                </a:highlight>
                <a:latin typeface="Courier New"/>
                <a:ea typeface="Courier New"/>
                <a:cs typeface="Courier New"/>
                <a:sym typeface="Courier New"/>
              </a:rPr>
              <a:t>-</a:t>
            </a:r>
            <a:r>
              <a:rPr b="1" i="0" lang="en" sz="650" u="none" cap="none" strike="noStrike">
                <a:solidFill>
                  <a:srgbClr val="CCCCCC"/>
                </a:solidFill>
                <a:highlight>
                  <a:srgbClr val="1F1F1F"/>
                </a:highlight>
                <a:latin typeface="Courier New"/>
                <a:ea typeface="Courier New"/>
                <a:cs typeface="Courier New"/>
                <a:sym typeface="Courier New"/>
              </a:rPr>
              <a:t> t.value_at_transfer) </a:t>
            </a:r>
            <a:r>
              <a:rPr b="1" i="0" lang="en" sz="650" u="none" cap="none" strike="noStrike">
                <a:solidFill>
                  <a:srgbClr val="D4D4D4"/>
                </a:solidFill>
                <a:highlight>
                  <a:srgbClr val="1F1F1F"/>
                </a:highlight>
                <a:latin typeface="Courier New"/>
                <a:ea typeface="Courier New"/>
                <a:cs typeface="Courier New"/>
                <a:sym typeface="Courier New"/>
              </a:rPr>
              <a:t>*</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B5CEA8"/>
                </a:solidFill>
                <a:highlight>
                  <a:srgbClr val="1F1F1F"/>
                </a:highlight>
                <a:latin typeface="Courier New"/>
                <a:ea typeface="Courier New"/>
                <a:cs typeface="Courier New"/>
                <a:sym typeface="Courier New"/>
              </a:rPr>
              <a:t>1</a:t>
            </a:r>
            <a:r>
              <a:rPr b="1" i="0" lang="en" sz="650" u="none" cap="none" strike="noStrike">
                <a:solidFill>
                  <a:srgbClr val="CCCCCC"/>
                </a:solidFill>
                <a:highlight>
                  <a:srgbClr val="1F1F1F"/>
                </a:highlight>
                <a:latin typeface="Courier New"/>
                <a:ea typeface="Courier New"/>
                <a:cs typeface="Courier New"/>
                <a:sym typeface="Courier New"/>
              </a:rPr>
              <a:t>.</a:t>
            </a:r>
            <a:r>
              <a:rPr b="1" i="0" lang="en" sz="650" u="none" cap="none" strike="noStrike">
                <a:solidFill>
                  <a:srgbClr val="B5CEA8"/>
                </a:solidFill>
                <a:highlight>
                  <a:srgbClr val="1F1F1F"/>
                </a:highlight>
                <a:latin typeface="Courier New"/>
                <a:ea typeface="Courier New"/>
                <a:cs typeface="Courier New"/>
                <a:sym typeface="Courier New"/>
              </a:rPr>
              <a:t>0</a:t>
            </a:r>
            <a:r>
              <a:rPr b="1" i="0" lang="en" sz="650" u="none" cap="none" strike="noStrike">
                <a:solidFill>
                  <a:srgbClr val="D4D4D4"/>
                </a:solidFill>
                <a:highlight>
                  <a:srgbClr val="1F1F1F"/>
                </a:highlight>
                <a:latin typeface="Courier New"/>
                <a:ea typeface="Courier New"/>
                <a:cs typeface="Courier New"/>
                <a:sym typeface="Courier New"/>
              </a:rPr>
              <a:t>/</a:t>
            </a:r>
            <a:r>
              <a:rPr b="1" i="0" lang="en" sz="650" u="none" cap="none" strike="noStrike">
                <a:solidFill>
                  <a:srgbClr val="CCCCCC"/>
                </a:solidFill>
                <a:highlight>
                  <a:srgbClr val="1F1F1F"/>
                </a:highlight>
                <a:latin typeface="Courier New"/>
                <a:ea typeface="Courier New"/>
                <a:cs typeface="Courier New"/>
                <a:sym typeface="Courier New"/>
              </a:rPr>
              <a:t> t.value_at_transfer </a:t>
            </a:r>
            <a:r>
              <a:rPr b="1" i="0" lang="en" sz="650" u="none" cap="none" strike="noStrike">
                <a:solidFill>
                  <a:srgbClr val="D4D4D4"/>
                </a:solidFill>
                <a:highlight>
                  <a:srgbClr val="1F1F1F"/>
                </a:highlight>
                <a:latin typeface="Courier New"/>
                <a:ea typeface="Courier New"/>
                <a:cs typeface="Courier New"/>
                <a:sym typeface="Courier New"/>
              </a:rPr>
              <a:t>*</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B5CEA8"/>
                </a:solidFill>
                <a:highlight>
                  <a:srgbClr val="1F1F1F"/>
                </a:highlight>
                <a:latin typeface="Courier New"/>
                <a:ea typeface="Courier New"/>
                <a:cs typeface="Courier New"/>
                <a:sym typeface="Courier New"/>
              </a:rPr>
              <a:t>100</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D4D4D4"/>
                </a:solidFill>
                <a:highlight>
                  <a:srgbClr val="1F1F1F"/>
                </a:highlight>
                <a:latin typeface="Courier New"/>
                <a:ea typeface="Courier New"/>
                <a:cs typeface="Courier New"/>
                <a:sym typeface="Courier New"/>
              </a:rPr>
              <a:t>&gt;</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B5CEA8"/>
                </a:solidFill>
                <a:highlight>
                  <a:srgbClr val="1F1F1F"/>
                </a:highlight>
                <a:latin typeface="Courier New"/>
                <a:ea typeface="Courier New"/>
                <a:cs typeface="Courier New"/>
                <a:sym typeface="Courier New"/>
              </a:rPr>
              <a:t>0</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569CD6"/>
                </a:solidFill>
                <a:highlight>
                  <a:srgbClr val="1F1F1F"/>
                </a:highlight>
                <a:latin typeface="Courier New"/>
                <a:ea typeface="Courier New"/>
                <a:cs typeface="Courier New"/>
                <a:sym typeface="Courier New"/>
              </a:rPr>
              <a:t>AND</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DCDCAA"/>
                </a:solidFill>
                <a:highlight>
                  <a:srgbClr val="1F1F1F"/>
                </a:highlight>
                <a:latin typeface="Courier New"/>
                <a:ea typeface="Courier New"/>
                <a:cs typeface="Courier New"/>
                <a:sym typeface="Courier New"/>
              </a:rPr>
              <a:t>COUNT</a:t>
            </a:r>
            <a:r>
              <a:rPr b="1" i="0" lang="en" sz="650" u="none" cap="none" strike="noStrike">
                <a:solidFill>
                  <a:srgbClr val="CCCCCC"/>
                </a:solidFill>
                <a:highlight>
                  <a:srgbClr val="1F1F1F"/>
                </a:highlight>
                <a:latin typeface="Courier New"/>
                <a:ea typeface="Courier New"/>
                <a:cs typeface="Courier New"/>
                <a:sym typeface="Courier New"/>
              </a:rPr>
              <a:t>(t.player_id) </a:t>
            </a:r>
            <a:r>
              <a:rPr b="1" i="0" lang="en" sz="650" u="none" cap="none" strike="noStrike">
                <a:solidFill>
                  <a:srgbClr val="D4D4D4"/>
                </a:solidFill>
                <a:highlight>
                  <a:srgbClr val="1F1F1F"/>
                </a:highlight>
                <a:latin typeface="Courier New"/>
                <a:ea typeface="Courier New"/>
                <a:cs typeface="Courier New"/>
                <a:sym typeface="Courier New"/>
              </a:rPr>
              <a:t>&gt;</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B5CEA8"/>
                </a:solidFill>
                <a:highlight>
                  <a:srgbClr val="1F1F1F"/>
                </a:highlight>
                <a:latin typeface="Courier New"/>
                <a:ea typeface="Courier New"/>
                <a:cs typeface="Courier New"/>
                <a:sym typeface="Courier New"/>
              </a:rPr>
              <a:t>10</a:t>
            </a:r>
            <a:endParaRPr b="1" i="0" sz="650" u="none" cap="none" strike="noStrike">
              <a:solidFill>
                <a:srgbClr val="B5CEA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ORDER BY</a:t>
            </a:r>
            <a:r>
              <a:rPr b="1" i="0" lang="en" sz="650" u="none" cap="none" strike="noStrike">
                <a:solidFill>
                  <a:srgbClr val="CCCCCC"/>
                </a:solidFill>
                <a:highlight>
                  <a:srgbClr val="1F1F1F"/>
                </a:highlight>
                <a:latin typeface="Courier New"/>
                <a:ea typeface="Courier New"/>
                <a:cs typeface="Courier New"/>
                <a:sym typeface="Courier New"/>
              </a:rPr>
              <a:t> avg_sell_premium_pct </a:t>
            </a:r>
            <a:r>
              <a:rPr b="1" i="0" lang="en" sz="650" u="none" cap="none" strike="noStrike">
                <a:solidFill>
                  <a:srgbClr val="569CD6"/>
                </a:solidFill>
                <a:highlight>
                  <a:srgbClr val="1F1F1F"/>
                </a:highlight>
                <a:latin typeface="Courier New"/>
                <a:ea typeface="Courier New"/>
                <a:cs typeface="Courier New"/>
                <a:sym typeface="Courier New"/>
              </a:rPr>
              <a:t>DESC</a:t>
            </a:r>
            <a:endParaRPr b="1" i="0" sz="65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LIMIT</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B5CEA8"/>
                </a:solidFill>
                <a:highlight>
                  <a:srgbClr val="1F1F1F"/>
                </a:highlight>
                <a:latin typeface="Courier New"/>
                <a:ea typeface="Courier New"/>
                <a:cs typeface="Courier New"/>
                <a:sym typeface="Courier New"/>
              </a:rPr>
              <a:t>15</a:t>
            </a:r>
            <a:r>
              <a:rPr b="1" i="0" lang="en" sz="650" u="none" cap="none" strike="noStrike">
                <a:solidFill>
                  <a:srgbClr val="CCCCCC"/>
                </a:solidFill>
                <a:highlight>
                  <a:srgbClr val="1F1F1F"/>
                </a:highlight>
                <a:latin typeface="Courier New"/>
                <a:ea typeface="Courier New"/>
                <a:cs typeface="Courier New"/>
                <a:sym typeface="Courier New"/>
              </a:rPr>
              <a:t>;</a:t>
            </a:r>
            <a:endParaRPr b="1" i="0" sz="6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00"/>
              <a:buFont typeface="Arial"/>
              <a:buNone/>
            </a:pPr>
            <a:r>
              <a:t/>
            </a:r>
            <a:endParaRPr b="1" i="0" sz="30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300"/>
              <a:buFont typeface="Arial"/>
              <a:buNone/>
            </a:pPr>
            <a:r>
              <a:t/>
            </a:r>
            <a:endParaRPr b="1" i="0" sz="300" u="none" cap="none" strike="noStrike">
              <a:solidFill>
                <a:schemeClr val="dk2"/>
              </a:solidFill>
              <a:latin typeface="Nunito"/>
              <a:ea typeface="Nunito"/>
              <a:cs typeface="Nunito"/>
              <a:sym typeface="Nunito"/>
            </a:endParaRPr>
          </a:p>
        </p:txBody>
      </p:sp>
      <p:pic>
        <p:nvPicPr>
          <p:cNvPr id="401" name="Google Shape;401;p15"/>
          <p:cNvPicPr preferRelativeResize="0"/>
          <p:nvPr/>
        </p:nvPicPr>
        <p:blipFill rotWithShape="1">
          <a:blip r:embed="rId3">
            <a:alphaModFix/>
          </a:blip>
          <a:srcRect b="0" l="0" r="0" t="0"/>
          <a:stretch/>
        </p:blipFill>
        <p:spPr>
          <a:xfrm>
            <a:off x="5063774" y="1597875"/>
            <a:ext cx="2740824" cy="2958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16"/>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lang="en" sz="2100"/>
              <a:t>5&amp;6. Overall Scouting efficiency</a:t>
            </a:r>
            <a:endParaRPr sz="2100"/>
          </a:p>
        </p:txBody>
      </p:sp>
      <p:sp>
        <p:nvSpPr>
          <p:cNvPr id="407" name="Google Shape;407;p16"/>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chemeClr val="accent6"/>
                </a:solidFill>
                <a:latin typeface="Maven Pro"/>
                <a:ea typeface="Maven Pro"/>
                <a:cs typeface="Maven Pro"/>
                <a:sym typeface="Maven Pro"/>
              </a:rPr>
              <a:t>Transfer Market Dynamics 💱</a:t>
            </a:r>
            <a:endParaRPr b="1" i="0" sz="1766" u="none" cap="none" strike="noStrike">
              <a:solidFill>
                <a:schemeClr val="accent6"/>
              </a:solidFill>
              <a:latin typeface="Maven Pro"/>
              <a:ea typeface="Maven Pro"/>
              <a:cs typeface="Maven Pro"/>
              <a:sym typeface="Maven Pro"/>
            </a:endParaRPr>
          </a:p>
        </p:txBody>
      </p:sp>
      <p:sp>
        <p:nvSpPr>
          <p:cNvPr id="408" name="Google Shape;408;p16"/>
          <p:cNvSpPr txBox="1"/>
          <p:nvPr/>
        </p:nvSpPr>
        <p:spPr>
          <a:xfrm>
            <a:off x="491375" y="1607688"/>
            <a:ext cx="4080600" cy="2988300"/>
          </a:xfrm>
          <a:prstGeom prst="rect">
            <a:avLst/>
          </a:prstGeom>
          <a:noFill/>
          <a:ln>
            <a:noFill/>
          </a:ln>
        </p:spPr>
        <p:txBody>
          <a:bodyPr anchorCtr="0" anchor="t" bIns="91425" lIns="91425" spcFirstLastPara="1" rIns="91425" wrap="square" tIns="91425">
            <a:noAutofit/>
          </a:bodyPr>
          <a:lstStyle/>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6A9955"/>
                </a:solidFill>
                <a:highlight>
                  <a:srgbClr val="1F1F1F"/>
                </a:highlight>
                <a:latin typeface="Courier New"/>
                <a:ea typeface="Courier New"/>
                <a:cs typeface="Courier New"/>
                <a:sym typeface="Courier New"/>
              </a:rPr>
              <a:t># Min threshold</a:t>
            </a:r>
            <a:endParaRPr b="1" i="0" sz="500" u="none" cap="none" strike="noStrike">
              <a:solidFill>
                <a:srgbClr val="6A9955"/>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4FC1FF"/>
                </a:solidFill>
                <a:highlight>
                  <a:srgbClr val="1F1F1F"/>
                </a:highlight>
                <a:latin typeface="Courier New"/>
                <a:ea typeface="Courier New"/>
                <a:cs typeface="Courier New"/>
                <a:sym typeface="Courier New"/>
              </a:rPr>
              <a:t>MIN_TRANSFERS</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B5CEA8"/>
                </a:solidFill>
                <a:highlight>
                  <a:srgbClr val="1F1F1F"/>
                </a:highlight>
                <a:latin typeface="Courier New"/>
                <a:ea typeface="Courier New"/>
                <a:cs typeface="Courier New"/>
                <a:sym typeface="Courier New"/>
              </a:rPr>
              <a:t>10</a:t>
            </a:r>
            <a:endParaRPr b="1" i="0" sz="500" u="none" cap="none" strike="noStrike">
              <a:solidFill>
                <a:srgbClr val="B5CEA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9CDCFE"/>
                </a:solidFill>
                <a:highlight>
                  <a:srgbClr val="1F1F1F"/>
                </a:highlight>
                <a:latin typeface="Courier New"/>
                <a:ea typeface="Courier New"/>
                <a:cs typeface="Courier New"/>
                <a:sym typeface="Courier New"/>
              </a:rPr>
              <a:t>valid_buyers</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df_fees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CE9178"/>
                </a:solidFill>
                <a:highlight>
                  <a:srgbClr val="1F1F1F"/>
                </a:highlight>
                <a:latin typeface="Courier New"/>
                <a:ea typeface="Courier New"/>
                <a:cs typeface="Courier New"/>
                <a:sym typeface="Courier New"/>
              </a:rPr>
              <a:t>'to_team_id'</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DCDCAA"/>
                </a:solidFill>
                <a:highlight>
                  <a:srgbClr val="1F1F1F"/>
                </a:highlight>
                <a:latin typeface="Courier New"/>
                <a:ea typeface="Courier New"/>
                <a:cs typeface="Courier New"/>
                <a:sym typeface="Courier New"/>
              </a:rPr>
              <a:t>value_counts</a:t>
            </a:r>
            <a:r>
              <a:rPr b="1" i="0" lang="en" sz="500" u="none" cap="none" strike="noStrike">
                <a:solidFill>
                  <a:srgbClr val="CCCCCC"/>
                </a:solidFill>
                <a:highlight>
                  <a:srgbClr val="1F1F1F"/>
                </a:highlight>
                <a:latin typeface="Courier New"/>
                <a:ea typeface="Courier New"/>
                <a:cs typeface="Courier New"/>
                <a:sym typeface="Courier New"/>
              </a:rPr>
              <a:t>()</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9CDCFE"/>
                </a:solidFill>
                <a:highlight>
                  <a:srgbClr val="1F1F1F"/>
                </a:highlight>
                <a:latin typeface="Courier New"/>
                <a:ea typeface="Courier New"/>
                <a:cs typeface="Courier New"/>
                <a:sym typeface="Courier New"/>
              </a:rPr>
              <a:t>valid_buyers</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valid_buyers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9CDCFE"/>
                </a:solidFill>
                <a:highlight>
                  <a:srgbClr val="1F1F1F"/>
                </a:highlight>
                <a:latin typeface="Courier New"/>
                <a:ea typeface="Courier New"/>
                <a:cs typeface="Courier New"/>
                <a:sym typeface="Courier New"/>
              </a:rPr>
              <a:t>valid_buyers</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DCDCAA"/>
                </a:solidFill>
                <a:highlight>
                  <a:srgbClr val="1F1F1F"/>
                </a:highlight>
                <a:latin typeface="Courier New"/>
                <a:ea typeface="Courier New"/>
                <a:cs typeface="Courier New"/>
                <a:sym typeface="Courier New"/>
              </a:rPr>
              <a:t>&gt;=</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4FC1FF"/>
                </a:solidFill>
                <a:highlight>
                  <a:srgbClr val="1F1F1F"/>
                </a:highlight>
                <a:latin typeface="Courier New"/>
                <a:ea typeface="Courier New"/>
                <a:cs typeface="Courier New"/>
                <a:sym typeface="Courier New"/>
              </a:rPr>
              <a:t>MIN_TRANSFERS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9CDCFE"/>
                </a:solidFill>
                <a:highlight>
                  <a:srgbClr val="1F1F1F"/>
                </a:highlight>
                <a:latin typeface="Courier New"/>
                <a:ea typeface="Courier New"/>
                <a:cs typeface="Courier New"/>
                <a:sym typeface="Courier New"/>
              </a:rPr>
              <a:t>index</a:t>
            </a:r>
            <a:endParaRPr b="1" i="0" sz="500" u="none" cap="none" strike="noStrike">
              <a:solidFill>
                <a:srgbClr val="9CDCFE"/>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9CDCFE"/>
                </a:solidFill>
                <a:highlight>
                  <a:srgbClr val="1F1F1F"/>
                </a:highlight>
                <a:latin typeface="Courier New"/>
                <a:ea typeface="Courier New"/>
                <a:cs typeface="Courier New"/>
                <a:sym typeface="Courier New"/>
              </a:rPr>
              <a:t>df_fees</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df_fees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9CDCFE"/>
                </a:solidFill>
                <a:highlight>
                  <a:srgbClr val="1F1F1F"/>
                </a:highlight>
                <a:latin typeface="Courier New"/>
                <a:ea typeface="Courier New"/>
                <a:cs typeface="Courier New"/>
                <a:sym typeface="Courier New"/>
              </a:rPr>
              <a:t>df_fees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CE9178"/>
                </a:solidFill>
                <a:highlight>
                  <a:srgbClr val="1F1F1F"/>
                </a:highlight>
                <a:latin typeface="Courier New"/>
                <a:ea typeface="Courier New"/>
                <a:cs typeface="Courier New"/>
                <a:sym typeface="Courier New"/>
              </a:rPr>
              <a:t>'to_team_id'</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DCDCAA"/>
                </a:solidFill>
                <a:highlight>
                  <a:srgbClr val="1F1F1F"/>
                </a:highlight>
                <a:latin typeface="Courier New"/>
                <a:ea typeface="Courier New"/>
                <a:cs typeface="Courier New"/>
                <a:sym typeface="Courier New"/>
              </a:rPr>
              <a:t>isin</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9CDCFE"/>
                </a:solidFill>
                <a:highlight>
                  <a:srgbClr val="1F1F1F"/>
                </a:highlight>
                <a:latin typeface="Courier New"/>
                <a:ea typeface="Courier New"/>
                <a:cs typeface="Courier New"/>
                <a:sym typeface="Courier New"/>
              </a:rPr>
              <a:t>valid_buyers</a:t>
            </a:r>
            <a:r>
              <a:rPr b="1" i="0" lang="en" sz="500" u="none" cap="none" strike="noStrike">
                <a:solidFill>
                  <a:srgbClr val="CCCCCC"/>
                </a:solidFill>
                <a:highlight>
                  <a:srgbClr val="1F1F1F"/>
                </a:highlight>
                <a:latin typeface="Courier New"/>
                <a:ea typeface="Courier New"/>
                <a:cs typeface="Courier New"/>
                <a:sym typeface="Courier New"/>
              </a:rPr>
              <a:t>)]</a:t>
            </a:r>
            <a:endParaRPr b="1" i="0" sz="500" u="none" cap="none" strike="noStrike">
              <a:solidFill>
                <a:srgbClr val="6A9955"/>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t/>
            </a:r>
            <a:endParaRPr b="1" i="0" sz="500" u="none" cap="none" strike="noStrike">
              <a:solidFill>
                <a:srgbClr val="6A9955"/>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6A9955"/>
                </a:solidFill>
                <a:highlight>
                  <a:srgbClr val="1F1F1F"/>
                </a:highlight>
                <a:latin typeface="Courier New"/>
                <a:ea typeface="Courier New"/>
                <a:cs typeface="Courier New"/>
                <a:sym typeface="Courier New"/>
              </a:rPr>
              <a:t># Plot</a:t>
            </a:r>
            <a:endParaRPr b="1" i="0" sz="500" u="none" cap="none" strike="noStrike">
              <a:solidFill>
                <a:srgbClr val="6A9955"/>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9CDCFE"/>
                </a:solidFill>
                <a:highlight>
                  <a:srgbClr val="1F1F1F"/>
                </a:highlight>
                <a:latin typeface="Courier New"/>
                <a:ea typeface="Courier New"/>
                <a:cs typeface="Courier New"/>
                <a:sym typeface="Courier New"/>
              </a:rPr>
              <a:t>league_colors</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E9178"/>
                </a:solidFill>
                <a:highlight>
                  <a:srgbClr val="1F1F1F"/>
                </a:highlight>
                <a:latin typeface="Courier New"/>
                <a:ea typeface="Courier New"/>
                <a:cs typeface="Courier New"/>
                <a:sym typeface="Courier New"/>
              </a:rPr>
              <a:t>'ES1'</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E9178"/>
                </a:solidFill>
                <a:highlight>
                  <a:srgbClr val="1F1F1F"/>
                </a:highlight>
                <a:latin typeface="Courier New"/>
                <a:ea typeface="Courier New"/>
                <a:cs typeface="Courier New"/>
                <a:sym typeface="Courier New"/>
              </a:rPr>
              <a:t>'red'</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E9178"/>
                </a:solidFill>
                <a:highlight>
                  <a:srgbClr val="1F1F1F"/>
                </a:highlight>
                <a:latin typeface="Courier New"/>
                <a:ea typeface="Courier New"/>
                <a:cs typeface="Courier New"/>
                <a:sym typeface="Courier New"/>
              </a:rPr>
              <a:t>'GB1'</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E9178"/>
                </a:solidFill>
                <a:highlight>
                  <a:srgbClr val="1F1F1F"/>
                </a:highlight>
                <a:latin typeface="Courier New"/>
                <a:ea typeface="Courier New"/>
                <a:cs typeface="Courier New"/>
                <a:sym typeface="Courier New"/>
              </a:rPr>
              <a:t>'purple'</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E9178"/>
                </a:solidFill>
                <a:highlight>
                  <a:srgbClr val="1F1F1F"/>
                </a:highlight>
                <a:latin typeface="Courier New"/>
                <a:ea typeface="Courier New"/>
                <a:cs typeface="Courier New"/>
                <a:sym typeface="Courier New"/>
              </a:rPr>
              <a:t>'FR1'</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E9178"/>
                </a:solidFill>
                <a:highlight>
                  <a:srgbClr val="1F1F1F"/>
                </a:highlight>
                <a:latin typeface="Courier New"/>
                <a:ea typeface="Courier New"/>
                <a:cs typeface="Courier New"/>
                <a:sym typeface="Courier New"/>
              </a:rPr>
              <a:t>'blue'</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E9178"/>
                </a:solidFill>
                <a:highlight>
                  <a:srgbClr val="1F1F1F"/>
                </a:highlight>
                <a:latin typeface="Courier New"/>
                <a:ea typeface="Courier New"/>
                <a:cs typeface="Courier New"/>
                <a:sym typeface="Courier New"/>
              </a:rPr>
              <a:t>'L1'</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E9178"/>
                </a:solidFill>
                <a:highlight>
                  <a:srgbClr val="1F1F1F"/>
                </a:highlight>
                <a:latin typeface="Courier New"/>
                <a:ea typeface="Courier New"/>
                <a:cs typeface="Courier New"/>
                <a:sym typeface="Courier New"/>
              </a:rPr>
              <a:t>'gold'</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E9178"/>
                </a:solidFill>
                <a:highlight>
                  <a:srgbClr val="1F1F1F"/>
                </a:highlight>
                <a:latin typeface="Courier New"/>
                <a:ea typeface="Courier New"/>
                <a:cs typeface="Courier New"/>
                <a:sym typeface="Courier New"/>
              </a:rPr>
              <a:t>'IT1'</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E9178"/>
                </a:solidFill>
                <a:highlight>
                  <a:srgbClr val="1F1F1F"/>
                </a:highlight>
                <a:latin typeface="Courier New"/>
                <a:ea typeface="Courier New"/>
                <a:cs typeface="Courier New"/>
                <a:sym typeface="Courier New"/>
              </a:rPr>
              <a:t>'green'</a:t>
            </a:r>
            <a:r>
              <a:rPr b="1" i="0" lang="en" sz="500" u="none" cap="none" strike="noStrike">
                <a:solidFill>
                  <a:srgbClr val="CCCCCC"/>
                </a:solidFill>
                <a:highlight>
                  <a:srgbClr val="1F1F1F"/>
                </a:highlight>
                <a:latin typeface="Courier New"/>
                <a:ea typeface="Courier New"/>
                <a:cs typeface="Courier New"/>
                <a:sym typeface="Courier New"/>
              </a:rPr>
              <a:t>}</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9CDCFE"/>
                </a:solidFill>
                <a:highlight>
                  <a:srgbClr val="1F1F1F"/>
                </a:highlight>
                <a:latin typeface="Courier New"/>
                <a:ea typeface="Courier New"/>
                <a:cs typeface="Courier New"/>
                <a:sym typeface="Courier New"/>
              </a:rPr>
              <a:t>fig</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axes</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4EC9B0"/>
                </a:solidFill>
                <a:highlight>
                  <a:srgbClr val="1F1F1F"/>
                </a:highlight>
                <a:latin typeface="Courier New"/>
                <a:ea typeface="Courier New"/>
                <a:cs typeface="Courier New"/>
                <a:sym typeface="Courier New"/>
              </a:rPr>
              <a:t>plt</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DCDCAA"/>
                </a:solidFill>
                <a:highlight>
                  <a:srgbClr val="1F1F1F"/>
                </a:highlight>
                <a:latin typeface="Courier New"/>
                <a:ea typeface="Courier New"/>
                <a:cs typeface="Courier New"/>
                <a:sym typeface="Courier New"/>
              </a:rPr>
              <a:t>subplots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B5CEA8"/>
                </a:solidFill>
                <a:highlight>
                  <a:srgbClr val="1F1F1F"/>
                </a:highlight>
                <a:latin typeface="Courier New"/>
                <a:ea typeface="Courier New"/>
                <a:cs typeface="Courier New"/>
                <a:sym typeface="Courier New"/>
              </a:rPr>
              <a:t>2</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B5CEA8"/>
                </a:solidFill>
                <a:highlight>
                  <a:srgbClr val="1F1F1F"/>
                </a:highlight>
                <a:latin typeface="Courier New"/>
                <a:ea typeface="Courier New"/>
                <a:cs typeface="Courier New"/>
                <a:sym typeface="Courier New"/>
              </a:rPr>
              <a:t>1</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figsize</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B5CEA8"/>
                </a:solidFill>
                <a:highlight>
                  <a:srgbClr val="1F1F1F"/>
                </a:highlight>
                <a:latin typeface="Courier New"/>
                <a:ea typeface="Courier New"/>
                <a:cs typeface="Courier New"/>
                <a:sym typeface="Courier New"/>
              </a:rPr>
              <a:t>10</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B5CEA8"/>
                </a:solidFill>
                <a:highlight>
                  <a:srgbClr val="1F1F1F"/>
                </a:highlight>
                <a:latin typeface="Courier New"/>
                <a:ea typeface="Courier New"/>
                <a:cs typeface="Courier New"/>
                <a:sym typeface="Courier New"/>
              </a:rPr>
              <a:t>14</a:t>
            </a:r>
            <a:r>
              <a:rPr b="1" i="0" lang="en" sz="500" u="none" cap="none" strike="noStrike">
                <a:solidFill>
                  <a:srgbClr val="CCCCCC"/>
                </a:solidFill>
                <a:highlight>
                  <a:srgbClr val="1F1F1F"/>
                </a:highlight>
                <a:latin typeface="Courier New"/>
                <a:ea typeface="Courier New"/>
                <a:cs typeface="Courier New"/>
                <a:sym typeface="Courier New"/>
              </a:rPr>
              <a:t>))</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9CDCFE"/>
                </a:solidFill>
                <a:highlight>
                  <a:srgbClr val="1F1F1F"/>
                </a:highlight>
                <a:latin typeface="Courier New"/>
                <a:ea typeface="Courier New"/>
                <a:cs typeface="Courier New"/>
                <a:sym typeface="Courier New"/>
              </a:rPr>
              <a:t>axes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B5CEA8"/>
                </a:solidFill>
                <a:highlight>
                  <a:srgbClr val="1F1F1F"/>
                </a:highlight>
                <a:latin typeface="Courier New"/>
                <a:ea typeface="Courier New"/>
                <a:cs typeface="Courier New"/>
                <a:sym typeface="Courier New"/>
              </a:rPr>
              <a:t>0</a:t>
            </a:r>
            <a:r>
              <a:rPr b="1" i="0" lang="en" sz="500" u="none" cap="none" strike="noStrike">
                <a:solidFill>
                  <a:srgbClr val="CCCCCC"/>
                </a:solidFill>
                <a:highlight>
                  <a:srgbClr val="1F1F1F"/>
                </a:highlight>
                <a:latin typeface="Courier New"/>
                <a:ea typeface="Courier New"/>
                <a:cs typeface="Courier New"/>
                <a:sym typeface="Courier New"/>
              </a:rPr>
              <a:t>].barh(</a:t>
            </a:r>
            <a:r>
              <a:rPr b="1" i="0" lang="en" sz="500" u="none" cap="none" strike="noStrike">
                <a:solidFill>
                  <a:srgbClr val="9CDCFE"/>
                </a:solidFill>
                <a:highlight>
                  <a:srgbClr val="1F1F1F"/>
                </a:highlight>
                <a:latin typeface="Courier New"/>
                <a:ea typeface="Courier New"/>
                <a:cs typeface="Courier New"/>
                <a:sym typeface="Courier New"/>
              </a:rPr>
              <a:t>top_buyers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CE9178"/>
                </a:solidFill>
                <a:highlight>
                  <a:srgbClr val="1F1F1F"/>
                </a:highlight>
                <a:latin typeface="Courier New"/>
                <a:ea typeface="Courier New"/>
                <a:cs typeface="Courier New"/>
                <a:sym typeface="Courier New"/>
              </a:rPr>
              <a:t>'to_team_name'</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top_buyers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CE9178"/>
                </a:solidFill>
                <a:highlight>
                  <a:srgbClr val="1F1F1F"/>
                </a:highlight>
                <a:latin typeface="Courier New"/>
                <a:ea typeface="Courier New"/>
                <a:cs typeface="Courier New"/>
                <a:sym typeface="Courier New"/>
              </a:rPr>
              <a:t>'avg_buy_discount_pct'</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9CDCFE"/>
                </a:solidFill>
                <a:highlight>
                  <a:srgbClr val="1F1F1F"/>
                </a:highlight>
                <a:latin typeface="Courier New"/>
                <a:ea typeface="Courier New"/>
                <a:cs typeface="Courier New"/>
                <a:sym typeface="Courier New"/>
              </a:rPr>
              <a:t>color</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9CDCFE"/>
                </a:solidFill>
                <a:highlight>
                  <a:srgbClr val="1F1F1F"/>
                </a:highlight>
                <a:latin typeface="Courier New"/>
                <a:ea typeface="Courier New"/>
                <a:cs typeface="Courier New"/>
                <a:sym typeface="Courier New"/>
              </a:rPr>
              <a:t>league_colors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DCDCAA"/>
                </a:solidFill>
                <a:highlight>
                  <a:srgbClr val="1F1F1F"/>
                </a:highlight>
                <a:latin typeface="Courier New"/>
                <a:ea typeface="Courier New"/>
                <a:cs typeface="Courier New"/>
                <a:sym typeface="Courier New"/>
              </a:rPr>
              <a:t>get</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9CDCFE"/>
                </a:solidFill>
                <a:highlight>
                  <a:srgbClr val="1F1F1F"/>
                </a:highlight>
                <a:latin typeface="Courier New"/>
                <a:ea typeface="Courier New"/>
                <a:cs typeface="Courier New"/>
                <a:sym typeface="Courier New"/>
              </a:rPr>
              <a:t>l</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E9178"/>
                </a:solidFill>
                <a:highlight>
                  <a:srgbClr val="1F1F1F"/>
                </a:highlight>
                <a:latin typeface="Courier New"/>
                <a:ea typeface="Courier New"/>
                <a:cs typeface="Courier New"/>
                <a:sym typeface="Courier New"/>
              </a:rPr>
              <a:t>'gray'</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586C0"/>
                </a:solidFill>
                <a:highlight>
                  <a:srgbClr val="1F1F1F"/>
                </a:highlight>
                <a:latin typeface="Courier New"/>
                <a:ea typeface="Courier New"/>
                <a:cs typeface="Courier New"/>
                <a:sym typeface="Courier New"/>
              </a:rPr>
              <a:t>for</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l</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586C0"/>
                </a:solidFill>
                <a:highlight>
                  <a:srgbClr val="1F1F1F"/>
                </a:highlight>
                <a:latin typeface="Courier New"/>
                <a:ea typeface="Courier New"/>
                <a:cs typeface="Courier New"/>
                <a:sym typeface="Courier New"/>
              </a:rPr>
              <a:t>in</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top_buyers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CE9178"/>
                </a:solidFill>
                <a:highlight>
                  <a:srgbClr val="1F1F1F"/>
                </a:highlight>
                <a:latin typeface="Courier New"/>
                <a:ea typeface="Courier New"/>
                <a:cs typeface="Courier New"/>
                <a:sym typeface="Courier New"/>
              </a:rPr>
              <a:t>'buy_league'</a:t>
            </a:r>
            <a:r>
              <a:rPr b="1" i="0" lang="en" sz="500" u="none" cap="none" strike="noStrike">
                <a:solidFill>
                  <a:srgbClr val="CCCCCC"/>
                </a:solidFill>
                <a:highlight>
                  <a:srgbClr val="1F1F1F"/>
                </a:highlight>
                <a:latin typeface="Courier New"/>
                <a:ea typeface="Courier New"/>
                <a:cs typeface="Courier New"/>
                <a:sym typeface="Courier New"/>
              </a:rPr>
              <a:t>]])</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9CDCFE"/>
                </a:solidFill>
                <a:highlight>
                  <a:srgbClr val="1F1F1F"/>
                </a:highlight>
                <a:latin typeface="Courier New"/>
                <a:ea typeface="Courier New"/>
                <a:cs typeface="Courier New"/>
                <a:sym typeface="Courier New"/>
              </a:rPr>
              <a:t>axes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B5CEA8"/>
                </a:solidFill>
                <a:highlight>
                  <a:srgbClr val="1F1F1F"/>
                </a:highlight>
                <a:latin typeface="Courier New"/>
                <a:ea typeface="Courier New"/>
                <a:cs typeface="Courier New"/>
                <a:sym typeface="Courier New"/>
              </a:rPr>
              <a:t>0</a:t>
            </a:r>
            <a:r>
              <a:rPr b="1" i="0" lang="en" sz="500" u="none" cap="none" strike="noStrike">
                <a:solidFill>
                  <a:srgbClr val="CCCCCC"/>
                </a:solidFill>
                <a:highlight>
                  <a:srgbClr val="1F1F1F"/>
                </a:highlight>
                <a:latin typeface="Courier New"/>
                <a:ea typeface="Courier New"/>
                <a:cs typeface="Courier New"/>
                <a:sym typeface="Courier New"/>
              </a:rPr>
              <a:t>].set_title(</a:t>
            </a:r>
            <a:r>
              <a:rPr b="1" i="0" lang="en" sz="500" u="none" cap="none" strike="noStrike">
                <a:solidFill>
                  <a:srgbClr val="CE9178"/>
                </a:solidFill>
                <a:highlight>
                  <a:srgbClr val="1F1F1F"/>
                </a:highlight>
                <a:latin typeface="Courier New"/>
                <a:ea typeface="Courier New"/>
                <a:cs typeface="Courier New"/>
                <a:sym typeface="Courier New"/>
              </a:rPr>
              <a:t>"Top 15 Clubs: Buying Below Market Value (%)"</a:t>
            </a:r>
            <a:r>
              <a:rPr b="1" i="0" lang="en" sz="500" u="none" cap="none" strike="noStrike">
                <a:solidFill>
                  <a:srgbClr val="CCCCCC"/>
                </a:solidFill>
                <a:highlight>
                  <a:srgbClr val="1F1F1F"/>
                </a:highlight>
                <a:latin typeface="Courier New"/>
                <a:ea typeface="Courier New"/>
                <a:cs typeface="Courier New"/>
                <a:sym typeface="Courier New"/>
              </a:rPr>
              <a:t>)</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9CDCFE"/>
                </a:solidFill>
                <a:highlight>
                  <a:srgbClr val="1F1F1F"/>
                </a:highlight>
                <a:latin typeface="Courier New"/>
                <a:ea typeface="Courier New"/>
                <a:cs typeface="Courier New"/>
                <a:sym typeface="Courier New"/>
              </a:rPr>
              <a:t>axes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B5CEA8"/>
                </a:solidFill>
                <a:highlight>
                  <a:srgbClr val="1F1F1F"/>
                </a:highlight>
                <a:latin typeface="Courier New"/>
                <a:ea typeface="Courier New"/>
                <a:cs typeface="Courier New"/>
                <a:sym typeface="Courier New"/>
              </a:rPr>
              <a:t>0</a:t>
            </a:r>
            <a:r>
              <a:rPr b="1" i="0" lang="en" sz="500" u="none" cap="none" strike="noStrike">
                <a:solidFill>
                  <a:srgbClr val="CCCCCC"/>
                </a:solidFill>
                <a:highlight>
                  <a:srgbClr val="1F1F1F"/>
                </a:highlight>
                <a:latin typeface="Courier New"/>
                <a:ea typeface="Courier New"/>
                <a:cs typeface="Courier New"/>
                <a:sym typeface="Courier New"/>
              </a:rPr>
              <a:t>].set_xlabel(</a:t>
            </a:r>
            <a:r>
              <a:rPr b="1" i="0" lang="en" sz="500" u="none" cap="none" strike="noStrike">
                <a:solidFill>
                  <a:srgbClr val="CE9178"/>
                </a:solidFill>
                <a:highlight>
                  <a:srgbClr val="1F1F1F"/>
                </a:highlight>
                <a:latin typeface="Courier New"/>
                <a:ea typeface="Courier New"/>
                <a:cs typeface="Courier New"/>
                <a:sym typeface="Courier New"/>
              </a:rPr>
              <a:t>"</a:t>
            </a:r>
            <a:r>
              <a:rPr b="1" i="0" lang="en" sz="500" u="none" cap="none" strike="noStrike">
                <a:solidFill>
                  <a:srgbClr val="569CD6"/>
                </a:solidFill>
                <a:highlight>
                  <a:srgbClr val="1F1F1F"/>
                </a:highlight>
                <a:latin typeface="Courier New"/>
                <a:ea typeface="Courier New"/>
                <a:cs typeface="Courier New"/>
                <a:sym typeface="Courier New"/>
              </a:rPr>
              <a:t>% b</a:t>
            </a:r>
            <a:r>
              <a:rPr b="1" i="0" lang="en" sz="500" u="none" cap="none" strike="noStrike">
                <a:solidFill>
                  <a:srgbClr val="CE9178"/>
                </a:solidFill>
                <a:highlight>
                  <a:srgbClr val="1F1F1F"/>
                </a:highlight>
                <a:latin typeface="Courier New"/>
                <a:ea typeface="Courier New"/>
                <a:cs typeface="Courier New"/>
                <a:sym typeface="Courier New"/>
              </a:rPr>
              <a:t>elow market value"</a:t>
            </a:r>
            <a:r>
              <a:rPr b="1" i="0" lang="en" sz="500" u="none" cap="none" strike="noStrike">
                <a:solidFill>
                  <a:srgbClr val="CCCCCC"/>
                </a:solidFill>
                <a:highlight>
                  <a:srgbClr val="1F1F1F"/>
                </a:highlight>
                <a:latin typeface="Courier New"/>
                <a:ea typeface="Courier New"/>
                <a:cs typeface="Courier New"/>
                <a:sym typeface="Courier New"/>
              </a:rPr>
              <a:t>)</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9CDCFE"/>
                </a:solidFill>
                <a:highlight>
                  <a:srgbClr val="1F1F1F"/>
                </a:highlight>
                <a:latin typeface="Courier New"/>
                <a:ea typeface="Courier New"/>
                <a:cs typeface="Courier New"/>
                <a:sym typeface="Courier New"/>
              </a:rPr>
              <a:t>axes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B5CEA8"/>
                </a:solidFill>
                <a:highlight>
                  <a:srgbClr val="1F1F1F"/>
                </a:highlight>
                <a:latin typeface="Courier New"/>
                <a:ea typeface="Courier New"/>
                <a:cs typeface="Courier New"/>
                <a:sym typeface="Courier New"/>
              </a:rPr>
              <a:t>1</a:t>
            </a:r>
            <a:r>
              <a:rPr b="1" i="0" lang="en" sz="500" u="none" cap="none" strike="noStrike">
                <a:solidFill>
                  <a:srgbClr val="CCCCCC"/>
                </a:solidFill>
                <a:highlight>
                  <a:srgbClr val="1F1F1F"/>
                </a:highlight>
                <a:latin typeface="Courier New"/>
                <a:ea typeface="Courier New"/>
                <a:cs typeface="Courier New"/>
                <a:sym typeface="Courier New"/>
              </a:rPr>
              <a:t>].barh(</a:t>
            </a:r>
            <a:r>
              <a:rPr b="1" i="0" lang="en" sz="500" u="none" cap="none" strike="noStrike">
                <a:solidFill>
                  <a:srgbClr val="9CDCFE"/>
                </a:solidFill>
                <a:highlight>
                  <a:srgbClr val="1F1F1F"/>
                </a:highlight>
                <a:latin typeface="Courier New"/>
                <a:ea typeface="Courier New"/>
                <a:cs typeface="Courier New"/>
                <a:sym typeface="Courier New"/>
              </a:rPr>
              <a:t>sell_eff</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CE9178"/>
                </a:solidFill>
                <a:highlight>
                  <a:srgbClr val="1F1F1F"/>
                </a:highlight>
                <a:latin typeface="Courier New"/>
                <a:ea typeface="Courier New"/>
                <a:cs typeface="Courier New"/>
                <a:sym typeface="Courier New"/>
              </a:rPr>
              <a:t>'from_team_name'</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sell_eff</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CE9178"/>
                </a:solidFill>
                <a:highlight>
                  <a:srgbClr val="1F1F1F"/>
                </a:highlight>
                <a:latin typeface="Courier New"/>
                <a:ea typeface="Courier New"/>
                <a:cs typeface="Courier New"/>
                <a:sym typeface="Courier New"/>
              </a:rPr>
              <a:t>'avg_sell_premium_pct'</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color</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9CDCFE"/>
                </a:solidFill>
                <a:highlight>
                  <a:srgbClr val="1F1F1F"/>
                </a:highlight>
                <a:latin typeface="Courier New"/>
                <a:ea typeface="Courier New"/>
                <a:cs typeface="Courier New"/>
                <a:sym typeface="Courier New"/>
              </a:rPr>
              <a:t>league_colors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DCDCAA"/>
                </a:solidFill>
                <a:highlight>
                  <a:srgbClr val="1F1F1F"/>
                </a:highlight>
                <a:latin typeface="Courier New"/>
                <a:ea typeface="Courier New"/>
                <a:cs typeface="Courier New"/>
                <a:sym typeface="Courier New"/>
              </a:rPr>
              <a:t>get</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9CDCFE"/>
                </a:solidFill>
                <a:highlight>
                  <a:srgbClr val="1F1F1F"/>
                </a:highlight>
                <a:latin typeface="Courier New"/>
                <a:ea typeface="Courier New"/>
                <a:cs typeface="Courier New"/>
                <a:sym typeface="Courier New"/>
              </a:rPr>
              <a:t>l</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E9178"/>
                </a:solidFill>
                <a:highlight>
                  <a:srgbClr val="1F1F1F"/>
                </a:highlight>
                <a:latin typeface="Courier New"/>
                <a:ea typeface="Courier New"/>
                <a:cs typeface="Courier New"/>
                <a:sym typeface="Courier New"/>
              </a:rPr>
              <a:t>'gray'</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586C0"/>
                </a:solidFill>
                <a:highlight>
                  <a:srgbClr val="1F1F1F"/>
                </a:highlight>
                <a:latin typeface="Courier New"/>
                <a:ea typeface="Courier New"/>
                <a:cs typeface="Courier New"/>
                <a:sym typeface="Courier New"/>
              </a:rPr>
              <a:t>for</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l</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586C0"/>
                </a:solidFill>
                <a:highlight>
                  <a:srgbClr val="1F1F1F"/>
                </a:highlight>
                <a:latin typeface="Courier New"/>
                <a:ea typeface="Courier New"/>
                <a:cs typeface="Courier New"/>
                <a:sym typeface="Courier New"/>
              </a:rPr>
              <a:t>in</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sell_eff</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CE9178"/>
                </a:solidFill>
                <a:highlight>
                  <a:srgbClr val="1F1F1F"/>
                </a:highlight>
                <a:latin typeface="Courier New"/>
                <a:ea typeface="Courier New"/>
                <a:cs typeface="Courier New"/>
                <a:sym typeface="Courier New"/>
              </a:rPr>
              <a:t>'sell_league'</a:t>
            </a:r>
            <a:r>
              <a:rPr b="1" i="0" lang="en" sz="500" u="none" cap="none" strike="noStrike">
                <a:solidFill>
                  <a:srgbClr val="CCCCCC"/>
                </a:solidFill>
                <a:highlight>
                  <a:srgbClr val="1F1F1F"/>
                </a:highlight>
                <a:latin typeface="Courier New"/>
                <a:ea typeface="Courier New"/>
                <a:cs typeface="Courier New"/>
                <a:sym typeface="Courier New"/>
              </a:rPr>
              <a:t>]])</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9CDCFE"/>
                </a:solidFill>
                <a:highlight>
                  <a:srgbClr val="1F1F1F"/>
                </a:highlight>
                <a:latin typeface="Courier New"/>
                <a:ea typeface="Courier New"/>
                <a:cs typeface="Courier New"/>
                <a:sym typeface="Courier New"/>
              </a:rPr>
              <a:t>axes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B5CEA8"/>
                </a:solidFill>
                <a:highlight>
                  <a:srgbClr val="1F1F1F"/>
                </a:highlight>
                <a:latin typeface="Courier New"/>
                <a:ea typeface="Courier New"/>
                <a:cs typeface="Courier New"/>
                <a:sym typeface="Courier New"/>
              </a:rPr>
              <a:t>1</a:t>
            </a:r>
            <a:r>
              <a:rPr b="1" i="0" lang="en" sz="500" u="none" cap="none" strike="noStrike">
                <a:solidFill>
                  <a:srgbClr val="CCCCCC"/>
                </a:solidFill>
                <a:highlight>
                  <a:srgbClr val="1F1F1F"/>
                </a:highlight>
                <a:latin typeface="Courier New"/>
                <a:ea typeface="Courier New"/>
                <a:cs typeface="Courier New"/>
                <a:sym typeface="Courier New"/>
              </a:rPr>
              <a:t>].set_title(</a:t>
            </a:r>
            <a:r>
              <a:rPr b="1" i="0" lang="en" sz="500" u="none" cap="none" strike="noStrike">
                <a:solidFill>
                  <a:srgbClr val="CE9178"/>
                </a:solidFill>
                <a:highlight>
                  <a:srgbClr val="1F1F1F"/>
                </a:highlight>
                <a:latin typeface="Courier New"/>
                <a:ea typeface="Courier New"/>
                <a:cs typeface="Courier New"/>
                <a:sym typeface="Courier New"/>
              </a:rPr>
              <a:t>"Top 15 Clubs: Selling Above Market Value (%)"</a:t>
            </a:r>
            <a:r>
              <a:rPr b="1" i="0" lang="en" sz="500" u="none" cap="none" strike="noStrike">
                <a:solidFill>
                  <a:srgbClr val="CCCCCC"/>
                </a:solidFill>
                <a:highlight>
                  <a:srgbClr val="1F1F1F"/>
                </a:highlight>
                <a:latin typeface="Courier New"/>
                <a:ea typeface="Courier New"/>
                <a:cs typeface="Courier New"/>
                <a:sym typeface="Courier New"/>
              </a:rPr>
              <a:t>)</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9CDCFE"/>
                </a:solidFill>
                <a:highlight>
                  <a:srgbClr val="1F1F1F"/>
                </a:highlight>
                <a:latin typeface="Courier New"/>
                <a:ea typeface="Courier New"/>
                <a:cs typeface="Courier New"/>
                <a:sym typeface="Courier New"/>
              </a:rPr>
              <a:t>axes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B5CEA8"/>
                </a:solidFill>
                <a:highlight>
                  <a:srgbClr val="1F1F1F"/>
                </a:highlight>
                <a:latin typeface="Courier New"/>
                <a:ea typeface="Courier New"/>
                <a:cs typeface="Courier New"/>
                <a:sym typeface="Courier New"/>
              </a:rPr>
              <a:t>1</a:t>
            </a:r>
            <a:r>
              <a:rPr b="1" i="0" lang="en" sz="500" u="none" cap="none" strike="noStrike">
                <a:solidFill>
                  <a:srgbClr val="CCCCCC"/>
                </a:solidFill>
                <a:highlight>
                  <a:srgbClr val="1F1F1F"/>
                </a:highlight>
                <a:latin typeface="Courier New"/>
                <a:ea typeface="Courier New"/>
                <a:cs typeface="Courier New"/>
                <a:sym typeface="Courier New"/>
              </a:rPr>
              <a:t>].set_xlabel(</a:t>
            </a:r>
            <a:r>
              <a:rPr b="1" i="0" lang="en" sz="500" u="none" cap="none" strike="noStrike">
                <a:solidFill>
                  <a:srgbClr val="CE9178"/>
                </a:solidFill>
                <a:highlight>
                  <a:srgbClr val="1F1F1F"/>
                </a:highlight>
                <a:latin typeface="Courier New"/>
                <a:ea typeface="Courier New"/>
                <a:cs typeface="Courier New"/>
                <a:sym typeface="Courier New"/>
              </a:rPr>
              <a:t>"</a:t>
            </a:r>
            <a:r>
              <a:rPr b="1" i="0" lang="en" sz="500" u="none" cap="none" strike="noStrike">
                <a:solidFill>
                  <a:srgbClr val="569CD6"/>
                </a:solidFill>
                <a:highlight>
                  <a:srgbClr val="1F1F1F"/>
                </a:highlight>
                <a:latin typeface="Courier New"/>
                <a:ea typeface="Courier New"/>
                <a:cs typeface="Courier New"/>
                <a:sym typeface="Courier New"/>
              </a:rPr>
              <a:t>% a</a:t>
            </a:r>
            <a:r>
              <a:rPr b="1" i="0" lang="en" sz="500" u="none" cap="none" strike="noStrike">
                <a:solidFill>
                  <a:srgbClr val="CE9178"/>
                </a:solidFill>
                <a:highlight>
                  <a:srgbClr val="1F1F1F"/>
                </a:highlight>
                <a:latin typeface="Courier New"/>
                <a:ea typeface="Courier New"/>
                <a:cs typeface="Courier New"/>
                <a:sym typeface="Courier New"/>
              </a:rPr>
              <a:t>bove market value"</a:t>
            </a:r>
            <a:r>
              <a:rPr b="1" i="0" lang="en" sz="500" u="none" cap="none" strike="noStrike">
                <a:solidFill>
                  <a:srgbClr val="CCCCCC"/>
                </a:solidFill>
                <a:highlight>
                  <a:srgbClr val="1F1F1F"/>
                </a:highlight>
                <a:latin typeface="Courier New"/>
                <a:ea typeface="Courier New"/>
                <a:cs typeface="Courier New"/>
                <a:sym typeface="Courier New"/>
              </a:rPr>
              <a:t>)</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9CDCFE"/>
                </a:solidFill>
                <a:highlight>
                  <a:srgbClr val="1F1F1F"/>
                </a:highlight>
                <a:latin typeface="Courier New"/>
                <a:ea typeface="Courier New"/>
                <a:cs typeface="Courier New"/>
                <a:sym typeface="Courier New"/>
              </a:rPr>
              <a:t>legend_elements</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4EC9B0"/>
                </a:solidFill>
                <a:highlight>
                  <a:srgbClr val="1F1F1F"/>
                </a:highlight>
                <a:latin typeface="Courier New"/>
                <a:ea typeface="Courier New"/>
                <a:cs typeface="Courier New"/>
                <a:sym typeface="Courier New"/>
              </a:rPr>
              <a:t>Patch</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9CDCFE"/>
                </a:solidFill>
                <a:highlight>
                  <a:srgbClr val="1F1F1F"/>
                </a:highlight>
                <a:latin typeface="Courier New"/>
                <a:ea typeface="Courier New"/>
                <a:cs typeface="Courier New"/>
                <a:sym typeface="Courier New"/>
              </a:rPr>
              <a:t>facecolor</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9CDCFE"/>
                </a:solidFill>
                <a:highlight>
                  <a:srgbClr val="1F1F1F"/>
                </a:highlight>
                <a:latin typeface="Courier New"/>
                <a:ea typeface="Courier New"/>
                <a:cs typeface="Courier New"/>
                <a:sym typeface="Courier New"/>
              </a:rPr>
              <a:t>c</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label</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9CDCFE"/>
                </a:solidFill>
                <a:highlight>
                  <a:srgbClr val="1F1F1F"/>
                </a:highlight>
                <a:latin typeface="Courier New"/>
                <a:ea typeface="Courier New"/>
                <a:cs typeface="Courier New"/>
                <a:sym typeface="Courier New"/>
              </a:rPr>
              <a:t>l</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586C0"/>
                </a:solidFill>
                <a:highlight>
                  <a:srgbClr val="1F1F1F"/>
                </a:highlight>
                <a:latin typeface="Courier New"/>
                <a:ea typeface="Courier New"/>
                <a:cs typeface="Courier New"/>
                <a:sym typeface="Courier New"/>
              </a:rPr>
              <a:t>for</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l</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c</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C586C0"/>
                </a:solidFill>
                <a:highlight>
                  <a:srgbClr val="1F1F1F"/>
                </a:highlight>
                <a:latin typeface="Courier New"/>
                <a:ea typeface="Courier New"/>
                <a:cs typeface="Courier New"/>
                <a:sym typeface="Courier New"/>
              </a:rPr>
              <a:t>in</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league_colors</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DCDCAA"/>
                </a:solidFill>
                <a:highlight>
                  <a:srgbClr val="1F1F1F"/>
                </a:highlight>
                <a:latin typeface="Courier New"/>
                <a:ea typeface="Courier New"/>
                <a:cs typeface="Courier New"/>
                <a:sym typeface="Courier New"/>
              </a:rPr>
              <a:t>items</a:t>
            </a:r>
            <a:r>
              <a:rPr b="1" i="0" lang="en" sz="500" u="none" cap="none" strike="noStrike">
                <a:solidFill>
                  <a:srgbClr val="CCCCCC"/>
                </a:solidFill>
                <a:highlight>
                  <a:srgbClr val="1F1F1F"/>
                </a:highlight>
                <a:latin typeface="Courier New"/>
                <a:ea typeface="Courier New"/>
                <a:cs typeface="Courier New"/>
                <a:sym typeface="Courier New"/>
              </a:rPr>
              <a:t>()]</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9CDCFE"/>
                </a:solidFill>
                <a:highlight>
                  <a:srgbClr val="1F1F1F"/>
                </a:highlight>
                <a:latin typeface="Courier New"/>
                <a:ea typeface="Courier New"/>
                <a:cs typeface="Courier New"/>
                <a:sym typeface="Courier New"/>
              </a:rPr>
              <a:t>fig</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DCDCAA"/>
                </a:solidFill>
                <a:highlight>
                  <a:srgbClr val="1F1F1F"/>
                </a:highlight>
                <a:latin typeface="Courier New"/>
                <a:ea typeface="Courier New"/>
                <a:cs typeface="Courier New"/>
                <a:sym typeface="Courier New"/>
              </a:rPr>
              <a:t>legend</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9CDCFE"/>
                </a:solidFill>
                <a:highlight>
                  <a:srgbClr val="1F1F1F"/>
                </a:highlight>
                <a:latin typeface="Courier New"/>
                <a:ea typeface="Courier New"/>
                <a:cs typeface="Courier New"/>
                <a:sym typeface="Courier New"/>
              </a:rPr>
              <a:t>handles</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9CDCFE"/>
                </a:solidFill>
                <a:highlight>
                  <a:srgbClr val="1F1F1F"/>
                </a:highlight>
                <a:latin typeface="Courier New"/>
                <a:ea typeface="Courier New"/>
                <a:cs typeface="Courier New"/>
                <a:sym typeface="Courier New"/>
              </a:rPr>
              <a:t>legend_elements</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title</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CE9178"/>
                </a:solidFill>
                <a:highlight>
                  <a:srgbClr val="1F1F1F"/>
                </a:highlight>
                <a:latin typeface="Courier New"/>
                <a:ea typeface="Courier New"/>
                <a:cs typeface="Courier New"/>
                <a:sym typeface="Courier New"/>
              </a:rPr>
              <a:t>'League'</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loc</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CE9178"/>
                </a:solidFill>
                <a:highlight>
                  <a:srgbClr val="1F1F1F"/>
                </a:highlight>
                <a:latin typeface="Courier New"/>
                <a:ea typeface="Courier New"/>
                <a:cs typeface="Courier New"/>
                <a:sym typeface="Courier New"/>
              </a:rPr>
              <a:t>'lower center'</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9CDCFE"/>
                </a:solidFill>
                <a:highlight>
                  <a:srgbClr val="1F1F1F"/>
                </a:highlight>
                <a:latin typeface="Courier New"/>
                <a:ea typeface="Courier New"/>
                <a:cs typeface="Courier New"/>
                <a:sym typeface="Courier New"/>
              </a:rPr>
              <a:t>ncol</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B5CEA8"/>
                </a:solidFill>
                <a:highlight>
                  <a:srgbClr val="1F1F1F"/>
                </a:highlight>
                <a:latin typeface="Courier New"/>
                <a:ea typeface="Courier New"/>
                <a:cs typeface="Courier New"/>
                <a:sym typeface="Courier New"/>
              </a:rPr>
              <a:t>5</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bbox_to_anchor</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B5CEA8"/>
                </a:solidFill>
                <a:highlight>
                  <a:srgbClr val="1F1F1F"/>
                </a:highlight>
                <a:latin typeface="Courier New"/>
                <a:ea typeface="Courier New"/>
                <a:cs typeface="Courier New"/>
                <a:sym typeface="Courier New"/>
              </a:rPr>
              <a:t>0.5</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B5CEA8"/>
                </a:solidFill>
                <a:highlight>
                  <a:srgbClr val="1F1F1F"/>
                </a:highlight>
                <a:latin typeface="Courier New"/>
                <a:ea typeface="Courier New"/>
                <a:cs typeface="Courier New"/>
                <a:sym typeface="Courier New"/>
              </a:rPr>
              <a:t>0.05</a:t>
            </a:r>
            <a:r>
              <a:rPr b="1" i="0" lang="en" sz="500" u="none" cap="none" strike="noStrike">
                <a:solidFill>
                  <a:srgbClr val="CCCCCC"/>
                </a:solidFill>
                <a:highlight>
                  <a:srgbClr val="1F1F1F"/>
                </a:highlight>
                <a:latin typeface="Courier New"/>
                <a:ea typeface="Courier New"/>
                <a:cs typeface="Courier New"/>
                <a:sym typeface="Courier New"/>
              </a:rPr>
              <a:t>))</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4EC9B0"/>
                </a:solidFill>
                <a:highlight>
                  <a:srgbClr val="1F1F1F"/>
                </a:highlight>
                <a:latin typeface="Courier New"/>
                <a:ea typeface="Courier New"/>
                <a:cs typeface="Courier New"/>
                <a:sym typeface="Courier New"/>
              </a:rPr>
              <a:t>plt</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DCDCAA"/>
                </a:solidFill>
                <a:highlight>
                  <a:srgbClr val="1F1F1F"/>
                </a:highlight>
                <a:latin typeface="Courier New"/>
                <a:ea typeface="Courier New"/>
                <a:cs typeface="Courier New"/>
                <a:sym typeface="Courier New"/>
              </a:rPr>
              <a:t>suptitle</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CE9178"/>
                </a:solidFill>
                <a:highlight>
                  <a:srgbClr val="1F1F1F"/>
                </a:highlight>
                <a:latin typeface="Courier New"/>
                <a:ea typeface="Courier New"/>
                <a:cs typeface="Courier New"/>
                <a:sym typeface="Courier New"/>
              </a:rPr>
              <a:t>"Q3: Scouting Efficiency — Big 5 Leagues Only"</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fontsize</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B5CEA8"/>
                </a:solidFill>
                <a:highlight>
                  <a:srgbClr val="1F1F1F"/>
                </a:highlight>
                <a:latin typeface="Courier New"/>
                <a:ea typeface="Courier New"/>
                <a:cs typeface="Courier New"/>
                <a:sym typeface="Courier New"/>
              </a:rPr>
              <a:t>14</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fontweight</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CE9178"/>
                </a:solidFill>
                <a:highlight>
                  <a:srgbClr val="1F1F1F"/>
                </a:highlight>
                <a:latin typeface="Courier New"/>
                <a:ea typeface="Courier New"/>
                <a:cs typeface="Courier New"/>
                <a:sym typeface="Courier New"/>
              </a:rPr>
              <a:t>'bold'</a:t>
            </a:r>
            <a:r>
              <a:rPr b="1" i="0" lang="en" sz="500" u="none" cap="none" strike="noStrike">
                <a:solidFill>
                  <a:srgbClr val="CCCCCC"/>
                </a:solidFill>
                <a:highlight>
                  <a:srgbClr val="1F1F1F"/>
                </a:highlight>
                <a:latin typeface="Courier New"/>
                <a:ea typeface="Courier New"/>
                <a:cs typeface="Courier New"/>
                <a:sym typeface="Courier New"/>
              </a:rPr>
              <a:t>)</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4EC9B0"/>
                </a:solidFill>
                <a:highlight>
                  <a:srgbClr val="1F1F1F"/>
                </a:highlight>
                <a:latin typeface="Courier New"/>
                <a:ea typeface="Courier New"/>
                <a:cs typeface="Courier New"/>
                <a:sym typeface="Courier New"/>
              </a:rPr>
              <a:t>plt</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DCDCAA"/>
                </a:solidFill>
                <a:highlight>
                  <a:srgbClr val="1F1F1F"/>
                </a:highlight>
                <a:latin typeface="Courier New"/>
                <a:ea typeface="Courier New"/>
                <a:cs typeface="Courier New"/>
                <a:sym typeface="Courier New"/>
              </a:rPr>
              <a:t>tight_layout</a:t>
            </a:r>
            <a:r>
              <a:rPr b="1" i="0" lang="en" sz="500" u="none" cap="none" strike="noStrike">
                <a:solidFill>
                  <a:srgbClr val="CCCCCC"/>
                </a:solidFill>
                <a:highlight>
                  <a:srgbClr val="1F1F1F"/>
                </a:highlight>
                <a:latin typeface="Courier New"/>
                <a:ea typeface="Courier New"/>
                <a:cs typeface="Courier New"/>
                <a:sym typeface="Courier New"/>
              </a:rPr>
              <a:t>()</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00"/>
              <a:buFont typeface="Arial"/>
              <a:buNone/>
            </a:pPr>
            <a:r>
              <a:rPr b="1" i="0" lang="en" sz="500" u="none" cap="none" strike="noStrike">
                <a:solidFill>
                  <a:srgbClr val="4EC9B0"/>
                </a:solidFill>
                <a:highlight>
                  <a:srgbClr val="1F1F1F"/>
                </a:highlight>
                <a:latin typeface="Courier New"/>
                <a:ea typeface="Courier New"/>
                <a:cs typeface="Courier New"/>
                <a:sym typeface="Courier New"/>
              </a:rPr>
              <a:t>plt</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DCDCAA"/>
                </a:solidFill>
                <a:highlight>
                  <a:srgbClr val="1F1F1F"/>
                </a:highlight>
                <a:latin typeface="Courier New"/>
                <a:ea typeface="Courier New"/>
                <a:cs typeface="Courier New"/>
                <a:sym typeface="Courier New"/>
              </a:rPr>
              <a:t>savefig</a:t>
            </a:r>
            <a:r>
              <a:rPr b="1" i="0" lang="en" sz="500" u="none" cap="none" strike="noStrike">
                <a:solidFill>
                  <a:srgbClr val="CCCCCC"/>
                </a:solidFill>
                <a:highlight>
                  <a:srgbClr val="1F1F1F"/>
                </a:highlight>
                <a:latin typeface="Courier New"/>
                <a:ea typeface="Courier New"/>
                <a:cs typeface="Courier New"/>
                <a:sym typeface="Courier New"/>
              </a:rPr>
              <a:t>(</a:t>
            </a:r>
            <a:r>
              <a:rPr b="1" i="0" lang="en" sz="500" u="none" cap="none" strike="noStrike">
                <a:solidFill>
                  <a:srgbClr val="CE9178"/>
                </a:solidFill>
                <a:highlight>
                  <a:srgbClr val="1F1F1F"/>
                </a:highlight>
                <a:latin typeface="Courier New"/>
                <a:ea typeface="Courier New"/>
                <a:cs typeface="Courier New"/>
                <a:sym typeface="Courier New"/>
              </a:rPr>
              <a:t>"q3_scouting_efficiency.png"</a:t>
            </a:r>
            <a:r>
              <a:rPr b="1" i="0" lang="en" sz="500" u="none" cap="none" strike="noStrike">
                <a:solidFill>
                  <a:srgbClr val="CCCCCC"/>
                </a:solidFill>
                <a:highlight>
                  <a:srgbClr val="1F1F1F"/>
                </a:highlight>
                <a:latin typeface="Courier New"/>
                <a:ea typeface="Courier New"/>
                <a:cs typeface="Courier New"/>
                <a:sym typeface="Courier New"/>
              </a:rPr>
              <a:t>, </a:t>
            </a:r>
            <a:r>
              <a:rPr b="1" i="0" lang="en" sz="500" u="none" cap="none" strike="noStrike">
                <a:solidFill>
                  <a:srgbClr val="9CDCFE"/>
                </a:solidFill>
                <a:highlight>
                  <a:srgbClr val="1F1F1F"/>
                </a:highlight>
                <a:latin typeface="Courier New"/>
                <a:ea typeface="Courier New"/>
                <a:cs typeface="Courier New"/>
                <a:sym typeface="Courier New"/>
              </a:rPr>
              <a:t>bbox_inches</a:t>
            </a:r>
            <a:r>
              <a:rPr b="1" i="0" lang="en" sz="500" u="none" cap="none" strike="noStrike">
                <a:solidFill>
                  <a:srgbClr val="D4D4D4"/>
                </a:solidFill>
                <a:highlight>
                  <a:srgbClr val="1F1F1F"/>
                </a:highlight>
                <a:latin typeface="Courier New"/>
                <a:ea typeface="Courier New"/>
                <a:cs typeface="Courier New"/>
                <a:sym typeface="Courier New"/>
              </a:rPr>
              <a:t>=</a:t>
            </a:r>
            <a:r>
              <a:rPr b="1" i="0" lang="en" sz="500" u="none" cap="none" strike="noStrike">
                <a:solidFill>
                  <a:srgbClr val="CE9178"/>
                </a:solidFill>
                <a:highlight>
                  <a:srgbClr val="1F1F1F"/>
                </a:highlight>
                <a:latin typeface="Courier New"/>
                <a:ea typeface="Courier New"/>
                <a:cs typeface="Courier New"/>
                <a:sym typeface="Courier New"/>
              </a:rPr>
              <a:t>'tight'</a:t>
            </a:r>
            <a:r>
              <a:rPr b="1" i="0" lang="en" sz="500" u="none" cap="none" strike="noStrike">
                <a:solidFill>
                  <a:srgbClr val="CCCCCC"/>
                </a:solidFill>
                <a:highlight>
                  <a:srgbClr val="1F1F1F"/>
                </a:highlight>
                <a:latin typeface="Courier New"/>
                <a:ea typeface="Courier New"/>
                <a:cs typeface="Courier New"/>
                <a:sym typeface="Courier New"/>
              </a:rPr>
              <a:t>)</a:t>
            </a:r>
            <a:endParaRPr b="1" i="0" sz="5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chemeClr val="dk2"/>
              </a:solidFill>
              <a:latin typeface="Nunito"/>
              <a:ea typeface="Nunito"/>
              <a:cs typeface="Nunito"/>
              <a:sym typeface="Nunito"/>
            </a:endParaRPr>
          </a:p>
        </p:txBody>
      </p:sp>
      <p:pic>
        <p:nvPicPr>
          <p:cNvPr id="409" name="Google Shape;409;p16"/>
          <p:cNvPicPr preferRelativeResize="0"/>
          <p:nvPr/>
        </p:nvPicPr>
        <p:blipFill rotWithShape="1">
          <a:blip r:embed="rId3">
            <a:alphaModFix/>
          </a:blip>
          <a:srcRect b="0" l="0" r="0" t="0"/>
          <a:stretch/>
        </p:blipFill>
        <p:spPr>
          <a:xfrm>
            <a:off x="5586825" y="243888"/>
            <a:ext cx="3164600" cy="46557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7"/>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lang="en" sz="2100"/>
              <a:t>7. Does a high transfer fee actually translate into better performance (goals, assists, minutes played)?</a:t>
            </a:r>
            <a:endParaRPr sz="2100"/>
          </a:p>
        </p:txBody>
      </p:sp>
      <p:sp>
        <p:nvSpPr>
          <p:cNvPr id="415" name="Google Shape;415;p17"/>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chemeClr val="accent6"/>
                </a:solidFill>
                <a:latin typeface="Maven Pro"/>
                <a:ea typeface="Maven Pro"/>
                <a:cs typeface="Maven Pro"/>
                <a:sym typeface="Maven Pro"/>
              </a:rPr>
              <a:t>Transfer Market Dynamics 💱</a:t>
            </a:r>
            <a:endParaRPr b="1" i="0" sz="1766" u="none" cap="none" strike="noStrike">
              <a:solidFill>
                <a:schemeClr val="accent6"/>
              </a:solidFill>
              <a:latin typeface="Maven Pro"/>
              <a:ea typeface="Maven Pro"/>
              <a:cs typeface="Maven Pro"/>
              <a:sym typeface="Maven Pro"/>
            </a:endParaRPr>
          </a:p>
        </p:txBody>
      </p:sp>
      <p:sp>
        <p:nvSpPr>
          <p:cNvPr id="416" name="Google Shape;416;p17"/>
          <p:cNvSpPr txBox="1"/>
          <p:nvPr/>
        </p:nvSpPr>
        <p:spPr>
          <a:xfrm>
            <a:off x="499400" y="1631725"/>
            <a:ext cx="3372900" cy="3300900"/>
          </a:xfrm>
          <a:prstGeom prst="rect">
            <a:avLst/>
          </a:prstGeom>
          <a:noFill/>
          <a:ln>
            <a:noFill/>
          </a:ln>
        </p:spPr>
        <p:txBody>
          <a:bodyPr anchorCtr="0" anchor="t" bIns="91425" lIns="91425" spcFirstLastPara="1" rIns="91425" wrap="square" tIns="91425">
            <a:noAutofit/>
          </a:bodyPr>
          <a:lstStyle/>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WITH</a:t>
            </a:r>
            <a:r>
              <a:rPr b="1" i="0" lang="en" sz="650" u="none" cap="none" strike="noStrike">
                <a:solidFill>
                  <a:srgbClr val="CCCCCC"/>
                </a:solidFill>
                <a:highlight>
                  <a:srgbClr val="1F1F1F"/>
                </a:highlight>
                <a:latin typeface="Courier New"/>
                <a:ea typeface="Courier New"/>
                <a:cs typeface="Courier New"/>
                <a:sym typeface="Courier New"/>
              </a:rPr>
              <a:t> player_perf </a:t>
            </a:r>
            <a:r>
              <a:rPr b="1" i="0" lang="en" sz="650" u="none" cap="none" strike="noStrike">
                <a:solidFill>
                  <a:srgbClr val="569CD6"/>
                </a:solidFill>
                <a:highlight>
                  <a:srgbClr val="1F1F1F"/>
                </a:highlight>
                <a:latin typeface="Courier New"/>
                <a:ea typeface="Courier New"/>
                <a:cs typeface="Courier New"/>
                <a:sym typeface="Courier New"/>
              </a:rPr>
              <a:t>AS</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569CD6"/>
                </a:solidFill>
                <a:highlight>
                  <a:srgbClr val="1F1F1F"/>
                </a:highlight>
                <a:latin typeface="Courier New"/>
                <a:ea typeface="Courier New"/>
                <a:cs typeface="Courier New"/>
                <a:sym typeface="Courier New"/>
              </a:rPr>
              <a:t>SELECT</a:t>
            </a:r>
            <a:r>
              <a:rPr b="1" i="0" lang="en" sz="650" u="none" cap="none" strike="noStrike">
                <a:solidFill>
                  <a:srgbClr val="CCCCCC"/>
                </a:solidFill>
                <a:highlight>
                  <a:srgbClr val="1F1F1F"/>
                </a:highlight>
                <a:latin typeface="Courier New"/>
                <a:ea typeface="Courier New"/>
                <a:cs typeface="Courier New"/>
                <a:sym typeface="Courier New"/>
              </a:rPr>
              <a:t> player_id, </a:t>
            </a:r>
            <a:r>
              <a:rPr b="1" i="0" lang="en" sz="650" u="none" cap="none" strike="noStrike">
                <a:solidFill>
                  <a:srgbClr val="DCDCAA"/>
                </a:solidFill>
                <a:highlight>
                  <a:srgbClr val="1F1F1F"/>
                </a:highlight>
                <a:latin typeface="Courier New"/>
                <a:ea typeface="Courier New"/>
                <a:cs typeface="Courier New"/>
                <a:sym typeface="Courier New"/>
              </a:rPr>
              <a:t>SUM</a:t>
            </a:r>
            <a:r>
              <a:rPr b="1" i="0" lang="en" sz="650" u="none" cap="none" strike="noStrike">
                <a:solidFill>
                  <a:srgbClr val="CCCCCC"/>
                </a:solidFill>
                <a:highlight>
                  <a:srgbClr val="1F1F1F"/>
                </a:highlight>
                <a:latin typeface="Courier New"/>
                <a:ea typeface="Courier New"/>
                <a:cs typeface="Courier New"/>
                <a:sym typeface="Courier New"/>
              </a:rPr>
              <a:t>(goals) </a:t>
            </a:r>
            <a:r>
              <a:rPr b="1" i="0" lang="en" sz="650" u="none" cap="none" strike="noStrike">
                <a:solidFill>
                  <a:srgbClr val="569CD6"/>
                </a:solidFill>
                <a:highlight>
                  <a:srgbClr val="1F1F1F"/>
                </a:highlight>
                <a:latin typeface="Courier New"/>
                <a:ea typeface="Courier New"/>
                <a:cs typeface="Courier New"/>
                <a:sym typeface="Courier New"/>
              </a:rPr>
              <a:t>AS</a:t>
            </a:r>
            <a:r>
              <a:rPr b="1" i="0" lang="en" sz="650" u="none" cap="none" strike="noStrike">
                <a:solidFill>
                  <a:srgbClr val="CCCCCC"/>
                </a:solidFill>
                <a:highlight>
                  <a:srgbClr val="1F1F1F"/>
                </a:highlight>
                <a:latin typeface="Courier New"/>
                <a:ea typeface="Courier New"/>
                <a:cs typeface="Courier New"/>
                <a:sym typeface="Courier New"/>
              </a:rPr>
              <a:t> total_goals, </a:t>
            </a:r>
            <a:r>
              <a:rPr b="1" i="0" lang="en" sz="650" u="none" cap="none" strike="noStrike">
                <a:solidFill>
                  <a:srgbClr val="DCDCAA"/>
                </a:solidFill>
                <a:highlight>
                  <a:srgbClr val="1F1F1F"/>
                </a:highlight>
                <a:latin typeface="Courier New"/>
                <a:ea typeface="Courier New"/>
                <a:cs typeface="Courier New"/>
                <a:sym typeface="Courier New"/>
              </a:rPr>
              <a:t>SUM</a:t>
            </a:r>
            <a:r>
              <a:rPr b="1" i="0" lang="en" sz="650" u="none" cap="none" strike="noStrike">
                <a:solidFill>
                  <a:srgbClr val="CCCCCC"/>
                </a:solidFill>
                <a:highlight>
                  <a:srgbClr val="1F1F1F"/>
                </a:highlight>
                <a:latin typeface="Courier New"/>
                <a:ea typeface="Courier New"/>
                <a:cs typeface="Courier New"/>
                <a:sym typeface="Courier New"/>
              </a:rPr>
              <a:t>(assists) </a:t>
            </a:r>
            <a:r>
              <a:rPr b="1" i="0" lang="en" sz="650" u="none" cap="none" strike="noStrike">
                <a:solidFill>
                  <a:srgbClr val="569CD6"/>
                </a:solidFill>
                <a:highlight>
                  <a:srgbClr val="1F1F1F"/>
                </a:highlight>
                <a:latin typeface="Courier New"/>
                <a:ea typeface="Courier New"/>
                <a:cs typeface="Courier New"/>
                <a:sym typeface="Courier New"/>
              </a:rPr>
              <a:t>AS</a:t>
            </a:r>
            <a:r>
              <a:rPr b="1" i="0" lang="en" sz="650" u="none" cap="none" strike="noStrike">
                <a:solidFill>
                  <a:srgbClr val="CCCCCC"/>
                </a:solidFill>
                <a:highlight>
                  <a:srgbClr val="1F1F1F"/>
                </a:highlight>
                <a:latin typeface="Courier New"/>
                <a:ea typeface="Courier New"/>
                <a:cs typeface="Courier New"/>
                <a:sym typeface="Courier New"/>
              </a:rPr>
              <a:t> total_assists, </a:t>
            </a:r>
            <a:r>
              <a:rPr b="1" i="0" lang="en" sz="650" u="none" cap="none" strike="noStrike">
                <a:solidFill>
                  <a:srgbClr val="DCDCAA"/>
                </a:solidFill>
                <a:highlight>
                  <a:srgbClr val="1F1F1F"/>
                </a:highlight>
                <a:latin typeface="Courier New"/>
                <a:ea typeface="Courier New"/>
                <a:cs typeface="Courier New"/>
                <a:sym typeface="Courier New"/>
              </a:rPr>
              <a:t>SUM</a:t>
            </a:r>
            <a:r>
              <a:rPr b="1" i="0" lang="en" sz="650" u="none" cap="none" strike="noStrike">
                <a:solidFill>
                  <a:srgbClr val="CCCCCC"/>
                </a:solidFill>
                <a:highlight>
                  <a:srgbClr val="1F1F1F"/>
                </a:highlight>
                <a:latin typeface="Courier New"/>
                <a:ea typeface="Courier New"/>
                <a:cs typeface="Courier New"/>
                <a:sym typeface="Courier New"/>
              </a:rPr>
              <a:t>(minutes_played) </a:t>
            </a:r>
            <a:r>
              <a:rPr b="1" i="0" lang="en" sz="650" u="none" cap="none" strike="noStrike">
                <a:solidFill>
                  <a:srgbClr val="569CD6"/>
                </a:solidFill>
                <a:highlight>
                  <a:srgbClr val="1F1F1F"/>
                </a:highlight>
                <a:latin typeface="Courier New"/>
                <a:ea typeface="Courier New"/>
                <a:cs typeface="Courier New"/>
                <a:sym typeface="Courier New"/>
              </a:rPr>
              <a:t>AS</a:t>
            </a:r>
            <a:r>
              <a:rPr b="1" i="0" lang="en" sz="650" u="none" cap="none" strike="noStrike">
                <a:solidFill>
                  <a:srgbClr val="CCCCCC"/>
                </a:solidFill>
                <a:highlight>
                  <a:srgbClr val="1F1F1F"/>
                </a:highlight>
                <a:latin typeface="Courier New"/>
                <a:ea typeface="Courier New"/>
                <a:cs typeface="Courier New"/>
                <a:sym typeface="Courier New"/>
              </a:rPr>
              <a:t> total_minutes </a:t>
            </a:r>
            <a:r>
              <a:rPr b="1" i="0" lang="en" sz="650" u="none" cap="none" strike="noStrike">
                <a:solidFill>
                  <a:srgbClr val="569CD6"/>
                </a:solidFill>
                <a:highlight>
                  <a:srgbClr val="1F1F1F"/>
                </a:highlight>
                <a:latin typeface="Courier New"/>
                <a:ea typeface="Courier New"/>
                <a:cs typeface="Courier New"/>
                <a:sym typeface="Courier New"/>
              </a:rPr>
              <a:t>FROM</a:t>
            </a:r>
            <a:r>
              <a:rPr b="1" i="0" lang="en" sz="650" u="none" cap="none" strike="noStrike">
                <a:solidFill>
                  <a:srgbClr val="CCCCCC"/>
                </a:solidFill>
                <a:highlight>
                  <a:srgbClr val="1F1F1F"/>
                </a:highlight>
                <a:latin typeface="Courier New"/>
                <a:ea typeface="Courier New"/>
                <a:cs typeface="Courier New"/>
                <a:sym typeface="Courier New"/>
              </a:rPr>
              <a:t> player_performances </a:t>
            </a:r>
            <a:r>
              <a:rPr b="1" i="0" lang="en" sz="650" u="none" cap="none" strike="noStrike">
                <a:solidFill>
                  <a:srgbClr val="569CD6"/>
                </a:solidFill>
                <a:highlight>
                  <a:srgbClr val="1F1F1F"/>
                </a:highlight>
                <a:latin typeface="Courier New"/>
                <a:ea typeface="Courier New"/>
                <a:cs typeface="Courier New"/>
                <a:sym typeface="Courier New"/>
              </a:rPr>
              <a:t>GROUP BY</a:t>
            </a:r>
            <a:r>
              <a:rPr b="1" i="0" lang="en" sz="650" u="none" cap="none" strike="noStrike">
                <a:solidFill>
                  <a:srgbClr val="CCCCCC"/>
                </a:solidFill>
                <a:highlight>
                  <a:srgbClr val="1F1F1F"/>
                </a:highlight>
                <a:latin typeface="Courier New"/>
                <a:ea typeface="Courier New"/>
                <a:cs typeface="Courier New"/>
                <a:sym typeface="Courier New"/>
              </a:rPr>
              <a:t> player_id),transfer_quartiles </a:t>
            </a:r>
            <a:r>
              <a:rPr b="1" i="0" lang="en" sz="650" u="none" cap="none" strike="noStrike">
                <a:solidFill>
                  <a:srgbClr val="569CD6"/>
                </a:solidFill>
                <a:highlight>
                  <a:srgbClr val="1F1F1F"/>
                </a:highlight>
                <a:latin typeface="Courier New"/>
                <a:ea typeface="Courier New"/>
                <a:cs typeface="Courier New"/>
                <a:sym typeface="Courier New"/>
              </a:rPr>
              <a:t>AS</a:t>
            </a:r>
            <a:r>
              <a:rPr b="1" i="0" lang="en" sz="650" u="none" cap="none" strike="noStrike">
                <a:solidFill>
                  <a:srgbClr val="CCCCCC"/>
                </a:solidFill>
                <a:highlight>
                  <a:srgbClr val="1F1F1F"/>
                </a:highlight>
                <a:latin typeface="Courier New"/>
                <a:ea typeface="Courier New"/>
                <a:cs typeface="Courier New"/>
                <a:sym typeface="Courier New"/>
              </a:rPr>
              <a:t> (</a:t>
            </a:r>
            <a:endParaRPr b="1" i="0" sz="6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SELECT</a:t>
            </a:r>
            <a:r>
              <a:rPr b="1" i="0" lang="en" sz="650" u="none" cap="none" strike="noStrike">
                <a:solidFill>
                  <a:srgbClr val="CCCCCC"/>
                </a:solidFill>
                <a:highlight>
                  <a:srgbClr val="1F1F1F"/>
                </a:highlight>
                <a:latin typeface="Courier New"/>
                <a:ea typeface="Courier New"/>
                <a:cs typeface="Courier New"/>
                <a:sym typeface="Courier New"/>
              </a:rPr>
              <a:t> t.player_id, t.transfer_fee, </a:t>
            </a:r>
            <a:r>
              <a:rPr b="1" i="0" lang="en" sz="650" u="none" cap="none" strike="noStrike">
                <a:solidFill>
                  <a:srgbClr val="DCDCAA"/>
                </a:solidFill>
                <a:highlight>
                  <a:srgbClr val="1F1F1F"/>
                </a:highlight>
                <a:latin typeface="Courier New"/>
                <a:ea typeface="Courier New"/>
                <a:cs typeface="Courier New"/>
                <a:sym typeface="Courier New"/>
              </a:rPr>
              <a:t>NTILE</a:t>
            </a:r>
            <a:r>
              <a:rPr b="1" i="0" lang="en" sz="650" u="none" cap="none" strike="noStrike">
                <a:solidFill>
                  <a:srgbClr val="CCCCCC"/>
                </a:solidFill>
                <a:highlight>
                  <a:srgbClr val="1F1F1F"/>
                </a:highlight>
                <a:latin typeface="Courier New"/>
                <a:ea typeface="Courier New"/>
                <a:cs typeface="Courier New"/>
                <a:sym typeface="Courier New"/>
              </a:rPr>
              <a:t>(</a:t>
            </a:r>
            <a:r>
              <a:rPr b="1" i="0" lang="en" sz="650" u="none" cap="none" strike="noStrike">
                <a:solidFill>
                  <a:srgbClr val="B5CEA8"/>
                </a:solidFill>
                <a:highlight>
                  <a:srgbClr val="1F1F1F"/>
                </a:highlight>
                <a:latin typeface="Courier New"/>
                <a:ea typeface="Courier New"/>
                <a:cs typeface="Courier New"/>
                <a:sym typeface="Courier New"/>
              </a:rPr>
              <a:t>4</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569CD6"/>
                </a:solidFill>
                <a:highlight>
                  <a:srgbClr val="1F1F1F"/>
                </a:highlight>
                <a:latin typeface="Courier New"/>
                <a:ea typeface="Courier New"/>
                <a:cs typeface="Courier New"/>
                <a:sym typeface="Courier New"/>
              </a:rPr>
              <a:t>OVER</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569CD6"/>
                </a:solidFill>
                <a:highlight>
                  <a:srgbClr val="1F1F1F"/>
                </a:highlight>
                <a:latin typeface="Courier New"/>
                <a:ea typeface="Courier New"/>
                <a:cs typeface="Courier New"/>
                <a:sym typeface="Courier New"/>
              </a:rPr>
              <a:t>ORDER BY</a:t>
            </a:r>
            <a:r>
              <a:rPr b="1" i="0" lang="en" sz="650" u="none" cap="none" strike="noStrike">
                <a:solidFill>
                  <a:srgbClr val="CCCCCC"/>
                </a:solidFill>
                <a:highlight>
                  <a:srgbClr val="1F1F1F"/>
                </a:highlight>
                <a:latin typeface="Courier New"/>
                <a:ea typeface="Courier New"/>
                <a:cs typeface="Courier New"/>
                <a:sym typeface="Courier New"/>
              </a:rPr>
              <a:t> t.transfer_fee) </a:t>
            </a:r>
            <a:r>
              <a:rPr b="1" i="0" lang="en" sz="650" u="none" cap="none" strike="noStrike">
                <a:solidFill>
                  <a:srgbClr val="569CD6"/>
                </a:solidFill>
                <a:highlight>
                  <a:srgbClr val="1F1F1F"/>
                </a:highlight>
                <a:latin typeface="Courier New"/>
                <a:ea typeface="Courier New"/>
                <a:cs typeface="Courier New"/>
                <a:sym typeface="Courier New"/>
              </a:rPr>
              <a:t>AS</a:t>
            </a:r>
            <a:r>
              <a:rPr b="1" i="0" lang="en" sz="650" u="none" cap="none" strike="noStrike">
                <a:solidFill>
                  <a:srgbClr val="CCCCCC"/>
                </a:solidFill>
                <a:highlight>
                  <a:srgbClr val="1F1F1F"/>
                </a:highlight>
                <a:latin typeface="Courier New"/>
                <a:ea typeface="Courier New"/>
                <a:cs typeface="Courier New"/>
                <a:sym typeface="Courier New"/>
              </a:rPr>
              <a:t> fee_quartile </a:t>
            </a:r>
            <a:r>
              <a:rPr b="1" i="0" lang="en" sz="650" u="none" cap="none" strike="noStrike">
                <a:solidFill>
                  <a:srgbClr val="569CD6"/>
                </a:solidFill>
                <a:highlight>
                  <a:srgbClr val="1F1F1F"/>
                </a:highlight>
                <a:latin typeface="Courier New"/>
                <a:ea typeface="Courier New"/>
                <a:cs typeface="Courier New"/>
                <a:sym typeface="Courier New"/>
              </a:rPr>
              <a:t>FROM</a:t>
            </a:r>
            <a:r>
              <a:rPr b="1" i="0" lang="en" sz="650" u="none" cap="none" strike="noStrike">
                <a:solidFill>
                  <a:srgbClr val="CCCCCC"/>
                </a:solidFill>
                <a:highlight>
                  <a:srgbClr val="1F1F1F"/>
                </a:highlight>
                <a:latin typeface="Courier New"/>
                <a:ea typeface="Courier New"/>
                <a:cs typeface="Courier New"/>
                <a:sym typeface="Courier New"/>
              </a:rPr>
              <a:t> transfer_history t </a:t>
            </a:r>
            <a:r>
              <a:rPr b="1" i="0" lang="en" sz="650" u="none" cap="none" strike="noStrike">
                <a:solidFill>
                  <a:srgbClr val="569CD6"/>
                </a:solidFill>
                <a:highlight>
                  <a:srgbClr val="1F1F1F"/>
                </a:highlight>
                <a:latin typeface="Courier New"/>
                <a:ea typeface="Courier New"/>
                <a:cs typeface="Courier New"/>
                <a:sym typeface="Courier New"/>
              </a:rPr>
              <a:t>INNER JOIN</a:t>
            </a:r>
            <a:r>
              <a:rPr b="1" i="0" lang="en" sz="650" u="none" cap="none" strike="noStrike">
                <a:solidFill>
                  <a:srgbClr val="CCCCCC"/>
                </a:solidFill>
                <a:highlight>
                  <a:srgbClr val="1F1F1F"/>
                </a:highlight>
                <a:latin typeface="Courier New"/>
                <a:ea typeface="Courier New"/>
                <a:cs typeface="Courier New"/>
                <a:sym typeface="Courier New"/>
              </a:rPr>
              <a:t> team_details d </a:t>
            </a:r>
            <a:r>
              <a:rPr b="1" i="0" lang="en" sz="650" u="none" cap="none" strike="noStrike">
                <a:solidFill>
                  <a:srgbClr val="569CD6"/>
                </a:solidFill>
                <a:highlight>
                  <a:srgbClr val="1F1F1F"/>
                </a:highlight>
                <a:latin typeface="Courier New"/>
                <a:ea typeface="Courier New"/>
                <a:cs typeface="Courier New"/>
                <a:sym typeface="Courier New"/>
              </a:rPr>
              <a:t>ON</a:t>
            </a:r>
            <a:r>
              <a:rPr b="1" i="0" lang="en" sz="650" u="none" cap="none" strike="noStrike">
                <a:solidFill>
                  <a:srgbClr val="CCCCCC"/>
                </a:solidFill>
                <a:highlight>
                  <a:srgbClr val="1F1F1F"/>
                </a:highlight>
                <a:latin typeface="Courier New"/>
                <a:ea typeface="Courier New"/>
                <a:cs typeface="Courier New"/>
                <a:sym typeface="Courier New"/>
              </a:rPr>
              <a:t> t.to_team_id </a:t>
            </a:r>
            <a:r>
              <a:rPr b="1" i="0" lang="en" sz="650" u="none" cap="none" strike="noStrike">
                <a:solidFill>
                  <a:srgbClr val="D4D4D4"/>
                </a:solidFill>
                <a:highlight>
                  <a:srgbClr val="1F1F1F"/>
                </a:highlight>
                <a:latin typeface="Courier New"/>
                <a:ea typeface="Courier New"/>
                <a:cs typeface="Courier New"/>
                <a:sym typeface="Courier New"/>
              </a:rPr>
              <a:t>=</a:t>
            </a:r>
            <a:r>
              <a:rPr b="1" i="0" lang="en" sz="650" u="none" cap="none" strike="noStrike">
                <a:solidFill>
                  <a:srgbClr val="CCCCCC"/>
                </a:solidFill>
                <a:highlight>
                  <a:srgbClr val="1F1F1F"/>
                </a:highlight>
                <a:latin typeface="Courier New"/>
                <a:ea typeface="Courier New"/>
                <a:cs typeface="Courier New"/>
                <a:sym typeface="Courier New"/>
              </a:rPr>
              <a:t> d.club_id</a:t>
            </a:r>
            <a:endParaRPr b="1" i="0" sz="6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WHERE</a:t>
            </a:r>
            <a:r>
              <a:rPr b="1" i="0" lang="en" sz="650" u="none" cap="none" strike="noStrike">
                <a:solidFill>
                  <a:srgbClr val="CCCCCC"/>
                </a:solidFill>
                <a:highlight>
                  <a:srgbClr val="1F1F1F"/>
                </a:highlight>
                <a:latin typeface="Courier New"/>
                <a:ea typeface="Courier New"/>
                <a:cs typeface="Courier New"/>
                <a:sym typeface="Courier New"/>
              </a:rPr>
              <a:t> d.competition_id </a:t>
            </a:r>
            <a:r>
              <a:rPr b="1" i="0" lang="en" sz="650" u="none" cap="none" strike="noStrike">
                <a:solidFill>
                  <a:srgbClr val="569CD6"/>
                </a:solidFill>
                <a:highlight>
                  <a:srgbClr val="1F1F1F"/>
                </a:highlight>
                <a:latin typeface="Courier New"/>
                <a:ea typeface="Courier New"/>
                <a:cs typeface="Courier New"/>
                <a:sym typeface="Courier New"/>
              </a:rPr>
              <a:t>IN</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CE9178"/>
                </a:solidFill>
                <a:highlight>
                  <a:srgbClr val="1F1F1F"/>
                </a:highlight>
                <a:latin typeface="Courier New"/>
                <a:ea typeface="Courier New"/>
                <a:cs typeface="Courier New"/>
                <a:sym typeface="Courier New"/>
              </a:rPr>
              <a:t>'ES1'</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CE9178"/>
                </a:solidFill>
                <a:highlight>
                  <a:srgbClr val="1F1F1F"/>
                </a:highlight>
                <a:latin typeface="Courier New"/>
                <a:ea typeface="Courier New"/>
                <a:cs typeface="Courier New"/>
                <a:sym typeface="Courier New"/>
              </a:rPr>
              <a:t>'GB1'</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CE9178"/>
                </a:solidFill>
                <a:highlight>
                  <a:srgbClr val="1F1F1F"/>
                </a:highlight>
                <a:latin typeface="Courier New"/>
                <a:ea typeface="Courier New"/>
                <a:cs typeface="Courier New"/>
                <a:sym typeface="Courier New"/>
              </a:rPr>
              <a:t>'FR1'</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CE9178"/>
                </a:solidFill>
                <a:highlight>
                  <a:srgbClr val="1F1F1F"/>
                </a:highlight>
                <a:latin typeface="Courier New"/>
                <a:ea typeface="Courier New"/>
                <a:cs typeface="Courier New"/>
                <a:sym typeface="Courier New"/>
              </a:rPr>
              <a:t>'L1'</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CE9178"/>
                </a:solidFill>
                <a:highlight>
                  <a:srgbClr val="1F1F1F"/>
                </a:highlight>
                <a:latin typeface="Courier New"/>
                <a:ea typeface="Courier New"/>
                <a:cs typeface="Courier New"/>
                <a:sym typeface="Courier New"/>
              </a:rPr>
              <a:t>'IT1'</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569CD6"/>
                </a:solidFill>
                <a:highlight>
                  <a:srgbClr val="1F1F1F"/>
                </a:highlight>
                <a:latin typeface="Courier New"/>
                <a:ea typeface="Courier New"/>
                <a:cs typeface="Courier New"/>
                <a:sym typeface="Courier New"/>
              </a:rPr>
              <a:t>AND</a:t>
            </a:r>
            <a:r>
              <a:rPr b="1" i="0" lang="en" sz="650" u="none" cap="none" strike="noStrike">
                <a:solidFill>
                  <a:srgbClr val="CCCCCC"/>
                </a:solidFill>
                <a:highlight>
                  <a:srgbClr val="1F1F1F"/>
                </a:highlight>
                <a:latin typeface="Courier New"/>
                <a:ea typeface="Courier New"/>
                <a:cs typeface="Courier New"/>
                <a:sym typeface="Courier New"/>
              </a:rPr>
              <a:t> t.transfer_fee </a:t>
            </a:r>
            <a:r>
              <a:rPr b="1" i="0" lang="en" sz="650" u="none" cap="none" strike="noStrike">
                <a:solidFill>
                  <a:srgbClr val="D4D4D4"/>
                </a:solidFill>
                <a:highlight>
                  <a:srgbClr val="1F1F1F"/>
                </a:highlight>
                <a:latin typeface="Courier New"/>
                <a:ea typeface="Courier New"/>
                <a:cs typeface="Courier New"/>
                <a:sym typeface="Courier New"/>
              </a:rPr>
              <a:t>&gt;</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B5CEA8"/>
                </a:solidFill>
                <a:highlight>
                  <a:srgbClr val="1F1F1F"/>
                </a:highlight>
                <a:latin typeface="Courier New"/>
                <a:ea typeface="Courier New"/>
                <a:cs typeface="Courier New"/>
                <a:sym typeface="Courier New"/>
              </a:rPr>
              <a:t>0</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569CD6"/>
                </a:solidFill>
                <a:highlight>
                  <a:srgbClr val="1F1F1F"/>
                </a:highlight>
                <a:latin typeface="Courier New"/>
                <a:ea typeface="Courier New"/>
                <a:cs typeface="Courier New"/>
                <a:sym typeface="Courier New"/>
              </a:rPr>
              <a:t>AND</a:t>
            </a:r>
            <a:r>
              <a:rPr b="1" i="0" lang="en" sz="650" u="none" cap="none" strike="noStrike">
                <a:solidFill>
                  <a:srgbClr val="CCCCCC"/>
                </a:solidFill>
                <a:highlight>
                  <a:srgbClr val="1F1F1F"/>
                </a:highlight>
                <a:latin typeface="Courier New"/>
                <a:ea typeface="Courier New"/>
                <a:cs typeface="Courier New"/>
                <a:sym typeface="Courier New"/>
              </a:rPr>
              <a:t> t.value_at_transfer </a:t>
            </a:r>
            <a:r>
              <a:rPr b="1" i="0" lang="en" sz="650" u="none" cap="none" strike="noStrike">
                <a:solidFill>
                  <a:srgbClr val="D4D4D4"/>
                </a:solidFill>
                <a:highlight>
                  <a:srgbClr val="1F1F1F"/>
                </a:highlight>
                <a:latin typeface="Courier New"/>
                <a:ea typeface="Courier New"/>
                <a:cs typeface="Courier New"/>
                <a:sym typeface="Courier New"/>
              </a:rPr>
              <a:t>&gt;</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B5CEA8"/>
                </a:solidFill>
                <a:highlight>
                  <a:srgbClr val="1F1F1F"/>
                </a:highlight>
                <a:latin typeface="Courier New"/>
                <a:ea typeface="Courier New"/>
                <a:cs typeface="Courier New"/>
                <a:sym typeface="Courier New"/>
              </a:rPr>
              <a:t>0</a:t>
            </a:r>
            <a:r>
              <a:rPr b="1" i="0" lang="en" sz="650" u="none" cap="none" strike="noStrike">
                <a:solidFill>
                  <a:srgbClr val="CCCCCC"/>
                </a:solidFill>
                <a:highlight>
                  <a:srgbClr val="1F1F1F"/>
                </a:highlight>
                <a:latin typeface="Courier New"/>
                <a:ea typeface="Courier New"/>
                <a:cs typeface="Courier New"/>
                <a:sym typeface="Courier New"/>
              </a:rPr>
              <a:t>)</a:t>
            </a:r>
            <a:endParaRPr b="1" i="0" sz="6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SELECT</a:t>
            </a:r>
            <a:r>
              <a:rPr b="1" i="0" lang="en" sz="650" u="none" cap="none" strike="noStrike">
                <a:solidFill>
                  <a:srgbClr val="CCCCCC"/>
                </a:solidFill>
                <a:highlight>
                  <a:srgbClr val="1F1F1F"/>
                </a:highlight>
                <a:latin typeface="Courier New"/>
                <a:ea typeface="Courier New"/>
                <a:cs typeface="Courier New"/>
                <a:sym typeface="Courier New"/>
              </a:rPr>
              <a:t> tq.fee_quartile, </a:t>
            </a:r>
            <a:r>
              <a:rPr b="1" i="0" lang="en" sz="650" u="none" cap="none" strike="noStrike">
                <a:solidFill>
                  <a:srgbClr val="DCDCAA"/>
                </a:solidFill>
                <a:highlight>
                  <a:srgbClr val="1F1F1F"/>
                </a:highlight>
                <a:latin typeface="Courier New"/>
                <a:ea typeface="Courier New"/>
                <a:cs typeface="Courier New"/>
                <a:sym typeface="Courier New"/>
              </a:rPr>
              <a:t>COUNT</a:t>
            </a:r>
            <a:r>
              <a:rPr b="1" i="0" lang="en" sz="650" u="none" cap="none" strike="noStrike">
                <a:solidFill>
                  <a:srgbClr val="CCCCCC"/>
                </a:solidFill>
                <a:highlight>
                  <a:srgbClr val="1F1F1F"/>
                </a:highlight>
                <a:latin typeface="Courier New"/>
                <a:ea typeface="Courier New"/>
                <a:cs typeface="Courier New"/>
                <a:sym typeface="Courier New"/>
              </a:rPr>
              <a:t>(tq.player_id) </a:t>
            </a:r>
            <a:r>
              <a:rPr b="1" i="0" lang="en" sz="650" u="none" cap="none" strike="noStrike">
                <a:solidFill>
                  <a:srgbClr val="569CD6"/>
                </a:solidFill>
                <a:highlight>
                  <a:srgbClr val="1F1F1F"/>
                </a:highlight>
                <a:latin typeface="Courier New"/>
                <a:ea typeface="Courier New"/>
                <a:cs typeface="Courier New"/>
                <a:sym typeface="Courier New"/>
              </a:rPr>
              <a:t>AS</a:t>
            </a:r>
            <a:r>
              <a:rPr b="1" i="0" lang="en" sz="650" u="none" cap="none" strike="noStrike">
                <a:solidFill>
                  <a:srgbClr val="CCCCCC"/>
                </a:solidFill>
                <a:highlight>
                  <a:srgbClr val="1F1F1F"/>
                </a:highlight>
                <a:latin typeface="Courier New"/>
                <a:ea typeface="Courier New"/>
                <a:cs typeface="Courier New"/>
                <a:sym typeface="Courier New"/>
              </a:rPr>
              <a:t> player_count, </a:t>
            </a:r>
            <a:r>
              <a:rPr b="1" i="0" lang="en" sz="650" u="none" cap="none" strike="noStrike">
                <a:solidFill>
                  <a:srgbClr val="DCDCAA"/>
                </a:solidFill>
                <a:highlight>
                  <a:srgbClr val="1F1F1F"/>
                </a:highlight>
                <a:latin typeface="Courier New"/>
                <a:ea typeface="Courier New"/>
                <a:cs typeface="Courier New"/>
                <a:sym typeface="Courier New"/>
              </a:rPr>
              <a:t>ROUND</a:t>
            </a:r>
            <a:r>
              <a:rPr b="1" i="0" lang="en" sz="650" u="none" cap="none" strike="noStrike">
                <a:solidFill>
                  <a:srgbClr val="CCCCCC"/>
                </a:solidFill>
                <a:highlight>
                  <a:srgbClr val="1F1F1F"/>
                </a:highlight>
                <a:latin typeface="Courier New"/>
                <a:ea typeface="Courier New"/>
                <a:cs typeface="Courier New"/>
                <a:sym typeface="Courier New"/>
              </a:rPr>
              <a:t>(</a:t>
            </a:r>
            <a:r>
              <a:rPr b="1" i="0" lang="en" sz="650" u="none" cap="none" strike="noStrike">
                <a:solidFill>
                  <a:srgbClr val="DCDCAA"/>
                </a:solidFill>
                <a:highlight>
                  <a:srgbClr val="1F1F1F"/>
                </a:highlight>
                <a:latin typeface="Courier New"/>
                <a:ea typeface="Courier New"/>
                <a:cs typeface="Courier New"/>
                <a:sym typeface="Courier New"/>
              </a:rPr>
              <a:t>AVG</a:t>
            </a:r>
            <a:r>
              <a:rPr b="1" i="0" lang="en" sz="650" u="none" cap="none" strike="noStrike">
                <a:solidFill>
                  <a:srgbClr val="CCCCCC"/>
                </a:solidFill>
                <a:highlight>
                  <a:srgbClr val="1F1F1F"/>
                </a:highlight>
                <a:latin typeface="Courier New"/>
                <a:ea typeface="Courier New"/>
                <a:cs typeface="Courier New"/>
                <a:sym typeface="Courier New"/>
              </a:rPr>
              <a:t>(pp.total_goals), </a:t>
            </a:r>
            <a:r>
              <a:rPr b="1" i="0" lang="en" sz="650" u="none" cap="none" strike="noStrike">
                <a:solidFill>
                  <a:srgbClr val="B5CEA8"/>
                </a:solidFill>
                <a:highlight>
                  <a:srgbClr val="1F1F1F"/>
                </a:highlight>
                <a:latin typeface="Courier New"/>
                <a:ea typeface="Courier New"/>
                <a:cs typeface="Courier New"/>
                <a:sym typeface="Courier New"/>
              </a:rPr>
              <a:t>2</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569CD6"/>
                </a:solidFill>
                <a:highlight>
                  <a:srgbClr val="1F1F1F"/>
                </a:highlight>
                <a:latin typeface="Courier New"/>
                <a:ea typeface="Courier New"/>
                <a:cs typeface="Courier New"/>
                <a:sym typeface="Courier New"/>
              </a:rPr>
              <a:t>AS</a:t>
            </a:r>
            <a:r>
              <a:rPr b="1" i="0" lang="en" sz="650" u="none" cap="none" strike="noStrike">
                <a:solidFill>
                  <a:srgbClr val="CCCCCC"/>
                </a:solidFill>
                <a:highlight>
                  <a:srgbClr val="1F1F1F"/>
                </a:highlight>
                <a:latin typeface="Courier New"/>
                <a:ea typeface="Courier New"/>
                <a:cs typeface="Courier New"/>
                <a:sym typeface="Courier New"/>
              </a:rPr>
              <a:t> avg_goals, </a:t>
            </a:r>
            <a:r>
              <a:rPr b="1" i="0" lang="en" sz="650" u="none" cap="none" strike="noStrike">
                <a:solidFill>
                  <a:srgbClr val="DCDCAA"/>
                </a:solidFill>
                <a:highlight>
                  <a:srgbClr val="1F1F1F"/>
                </a:highlight>
                <a:latin typeface="Courier New"/>
                <a:ea typeface="Courier New"/>
                <a:cs typeface="Courier New"/>
                <a:sym typeface="Courier New"/>
              </a:rPr>
              <a:t>ROUND</a:t>
            </a:r>
            <a:r>
              <a:rPr b="1" i="0" lang="en" sz="650" u="none" cap="none" strike="noStrike">
                <a:solidFill>
                  <a:srgbClr val="CCCCCC"/>
                </a:solidFill>
                <a:highlight>
                  <a:srgbClr val="1F1F1F"/>
                </a:highlight>
                <a:latin typeface="Courier New"/>
                <a:ea typeface="Courier New"/>
                <a:cs typeface="Courier New"/>
                <a:sym typeface="Courier New"/>
              </a:rPr>
              <a:t>(</a:t>
            </a:r>
            <a:r>
              <a:rPr b="1" i="0" lang="en" sz="650" u="none" cap="none" strike="noStrike">
                <a:solidFill>
                  <a:srgbClr val="DCDCAA"/>
                </a:solidFill>
                <a:highlight>
                  <a:srgbClr val="1F1F1F"/>
                </a:highlight>
                <a:latin typeface="Courier New"/>
                <a:ea typeface="Courier New"/>
                <a:cs typeface="Courier New"/>
                <a:sym typeface="Courier New"/>
              </a:rPr>
              <a:t>AVG</a:t>
            </a:r>
            <a:r>
              <a:rPr b="1" i="0" lang="en" sz="650" u="none" cap="none" strike="noStrike">
                <a:solidFill>
                  <a:srgbClr val="CCCCCC"/>
                </a:solidFill>
                <a:highlight>
                  <a:srgbClr val="1F1F1F"/>
                </a:highlight>
                <a:latin typeface="Courier New"/>
                <a:ea typeface="Courier New"/>
                <a:cs typeface="Courier New"/>
                <a:sym typeface="Courier New"/>
              </a:rPr>
              <a:t>(pp.total_assists), </a:t>
            </a:r>
            <a:r>
              <a:rPr b="1" i="0" lang="en" sz="650" u="none" cap="none" strike="noStrike">
                <a:solidFill>
                  <a:srgbClr val="B5CEA8"/>
                </a:solidFill>
                <a:highlight>
                  <a:srgbClr val="1F1F1F"/>
                </a:highlight>
                <a:latin typeface="Courier New"/>
                <a:ea typeface="Courier New"/>
                <a:cs typeface="Courier New"/>
                <a:sym typeface="Courier New"/>
              </a:rPr>
              <a:t>2</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569CD6"/>
                </a:solidFill>
                <a:highlight>
                  <a:srgbClr val="1F1F1F"/>
                </a:highlight>
                <a:latin typeface="Courier New"/>
                <a:ea typeface="Courier New"/>
                <a:cs typeface="Courier New"/>
                <a:sym typeface="Courier New"/>
              </a:rPr>
              <a:t>AS</a:t>
            </a:r>
            <a:r>
              <a:rPr b="1" i="0" lang="en" sz="650" u="none" cap="none" strike="noStrike">
                <a:solidFill>
                  <a:srgbClr val="CCCCCC"/>
                </a:solidFill>
                <a:highlight>
                  <a:srgbClr val="1F1F1F"/>
                </a:highlight>
                <a:latin typeface="Courier New"/>
                <a:ea typeface="Courier New"/>
                <a:cs typeface="Courier New"/>
                <a:sym typeface="Courier New"/>
              </a:rPr>
              <a:t> avg_assists, </a:t>
            </a:r>
            <a:r>
              <a:rPr b="1" i="0" lang="en" sz="650" u="none" cap="none" strike="noStrike">
                <a:solidFill>
                  <a:srgbClr val="DCDCAA"/>
                </a:solidFill>
                <a:highlight>
                  <a:srgbClr val="1F1F1F"/>
                </a:highlight>
                <a:latin typeface="Courier New"/>
                <a:ea typeface="Courier New"/>
                <a:cs typeface="Courier New"/>
                <a:sym typeface="Courier New"/>
              </a:rPr>
              <a:t>ROUND</a:t>
            </a:r>
            <a:r>
              <a:rPr b="1" i="0" lang="en" sz="650" u="none" cap="none" strike="noStrike">
                <a:solidFill>
                  <a:srgbClr val="CCCCCC"/>
                </a:solidFill>
                <a:highlight>
                  <a:srgbClr val="1F1F1F"/>
                </a:highlight>
                <a:latin typeface="Courier New"/>
                <a:ea typeface="Courier New"/>
                <a:cs typeface="Courier New"/>
                <a:sym typeface="Courier New"/>
              </a:rPr>
              <a:t>(</a:t>
            </a:r>
            <a:r>
              <a:rPr b="1" i="0" lang="en" sz="650" u="none" cap="none" strike="noStrike">
                <a:solidFill>
                  <a:srgbClr val="DCDCAA"/>
                </a:solidFill>
                <a:highlight>
                  <a:srgbClr val="1F1F1F"/>
                </a:highlight>
                <a:latin typeface="Courier New"/>
                <a:ea typeface="Courier New"/>
                <a:cs typeface="Courier New"/>
                <a:sym typeface="Courier New"/>
              </a:rPr>
              <a:t>AVG</a:t>
            </a:r>
            <a:r>
              <a:rPr b="1" i="0" lang="en" sz="650" u="none" cap="none" strike="noStrike">
                <a:solidFill>
                  <a:srgbClr val="CCCCCC"/>
                </a:solidFill>
                <a:highlight>
                  <a:srgbClr val="1F1F1F"/>
                </a:highlight>
                <a:latin typeface="Courier New"/>
                <a:ea typeface="Courier New"/>
                <a:cs typeface="Courier New"/>
                <a:sym typeface="Courier New"/>
              </a:rPr>
              <a:t>(pp.total_minutes), </a:t>
            </a:r>
            <a:r>
              <a:rPr b="1" i="0" lang="en" sz="650" u="none" cap="none" strike="noStrike">
                <a:solidFill>
                  <a:srgbClr val="B5CEA8"/>
                </a:solidFill>
                <a:highlight>
                  <a:srgbClr val="1F1F1F"/>
                </a:highlight>
                <a:latin typeface="Courier New"/>
                <a:ea typeface="Courier New"/>
                <a:cs typeface="Courier New"/>
                <a:sym typeface="Courier New"/>
              </a:rPr>
              <a:t>2</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569CD6"/>
                </a:solidFill>
                <a:highlight>
                  <a:srgbClr val="1F1F1F"/>
                </a:highlight>
                <a:latin typeface="Courier New"/>
                <a:ea typeface="Courier New"/>
                <a:cs typeface="Courier New"/>
                <a:sym typeface="Courier New"/>
              </a:rPr>
              <a:t>AS</a:t>
            </a:r>
            <a:r>
              <a:rPr b="1" i="0" lang="en" sz="650" u="none" cap="none" strike="noStrike">
                <a:solidFill>
                  <a:srgbClr val="CCCCCC"/>
                </a:solidFill>
                <a:highlight>
                  <a:srgbClr val="1F1F1F"/>
                </a:highlight>
                <a:latin typeface="Courier New"/>
                <a:ea typeface="Courier New"/>
                <a:cs typeface="Courier New"/>
                <a:sym typeface="Courier New"/>
              </a:rPr>
              <a:t> avg_minutes</a:t>
            </a:r>
            <a:endParaRPr b="1" i="0" sz="6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FROM</a:t>
            </a:r>
            <a:r>
              <a:rPr b="1" i="0" lang="en" sz="650" u="none" cap="none" strike="noStrike">
                <a:solidFill>
                  <a:srgbClr val="CCCCCC"/>
                </a:solidFill>
                <a:highlight>
                  <a:srgbClr val="1F1F1F"/>
                </a:highlight>
                <a:latin typeface="Courier New"/>
                <a:ea typeface="Courier New"/>
                <a:cs typeface="Courier New"/>
                <a:sym typeface="Courier New"/>
              </a:rPr>
              <a:t> transfer_quartiles tq</a:t>
            </a:r>
            <a:endParaRPr b="1" i="0" sz="6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INNER JOIN</a:t>
            </a:r>
            <a:r>
              <a:rPr b="1" i="0" lang="en" sz="650" u="none" cap="none" strike="noStrike">
                <a:solidFill>
                  <a:srgbClr val="CCCCCC"/>
                </a:solidFill>
                <a:highlight>
                  <a:srgbClr val="1F1F1F"/>
                </a:highlight>
                <a:latin typeface="Courier New"/>
                <a:ea typeface="Courier New"/>
                <a:cs typeface="Courier New"/>
                <a:sym typeface="Courier New"/>
              </a:rPr>
              <a:t> player_perf pp </a:t>
            </a:r>
            <a:r>
              <a:rPr b="1" i="0" lang="en" sz="650" u="none" cap="none" strike="noStrike">
                <a:solidFill>
                  <a:srgbClr val="569CD6"/>
                </a:solidFill>
                <a:highlight>
                  <a:srgbClr val="1F1F1F"/>
                </a:highlight>
                <a:latin typeface="Courier New"/>
                <a:ea typeface="Courier New"/>
                <a:cs typeface="Courier New"/>
                <a:sym typeface="Courier New"/>
              </a:rPr>
              <a:t>ON</a:t>
            </a:r>
            <a:r>
              <a:rPr b="1" i="0" lang="en" sz="650" u="none" cap="none" strike="noStrike">
                <a:solidFill>
                  <a:srgbClr val="CCCCCC"/>
                </a:solidFill>
                <a:highlight>
                  <a:srgbClr val="1F1F1F"/>
                </a:highlight>
                <a:latin typeface="Courier New"/>
                <a:ea typeface="Courier New"/>
                <a:cs typeface="Courier New"/>
                <a:sym typeface="Courier New"/>
              </a:rPr>
              <a:t> tq.player_id  </a:t>
            </a:r>
            <a:r>
              <a:rPr b="1" i="0" lang="en" sz="650" u="none" cap="none" strike="noStrike">
                <a:solidFill>
                  <a:srgbClr val="D4D4D4"/>
                </a:solidFill>
                <a:highlight>
                  <a:srgbClr val="1F1F1F"/>
                </a:highlight>
                <a:latin typeface="Courier New"/>
                <a:ea typeface="Courier New"/>
                <a:cs typeface="Courier New"/>
                <a:sym typeface="Courier New"/>
              </a:rPr>
              <a:t>=</a:t>
            </a:r>
            <a:r>
              <a:rPr b="1" i="0" lang="en" sz="650" u="none" cap="none" strike="noStrike">
                <a:solidFill>
                  <a:srgbClr val="CCCCCC"/>
                </a:solidFill>
                <a:highlight>
                  <a:srgbClr val="1F1F1F"/>
                </a:highlight>
                <a:latin typeface="Courier New"/>
                <a:ea typeface="Courier New"/>
                <a:cs typeface="Courier New"/>
                <a:sym typeface="Courier New"/>
              </a:rPr>
              <a:t> pp.player_id</a:t>
            </a:r>
            <a:endParaRPr b="1" i="0" sz="6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INNER JOIN</a:t>
            </a:r>
            <a:r>
              <a:rPr b="1" i="0" lang="en" sz="650" u="none" cap="none" strike="noStrike">
                <a:solidFill>
                  <a:srgbClr val="CCCCCC"/>
                </a:solidFill>
                <a:highlight>
                  <a:srgbClr val="1F1F1F"/>
                </a:highlight>
                <a:latin typeface="Courier New"/>
                <a:ea typeface="Courier New"/>
                <a:cs typeface="Courier New"/>
                <a:sym typeface="Courier New"/>
              </a:rPr>
              <a:t> player_profiles prof </a:t>
            </a:r>
            <a:r>
              <a:rPr b="1" i="0" lang="en" sz="650" u="none" cap="none" strike="noStrike">
                <a:solidFill>
                  <a:srgbClr val="569CD6"/>
                </a:solidFill>
                <a:highlight>
                  <a:srgbClr val="1F1F1F"/>
                </a:highlight>
                <a:latin typeface="Courier New"/>
                <a:ea typeface="Courier New"/>
                <a:cs typeface="Courier New"/>
                <a:sym typeface="Courier New"/>
              </a:rPr>
              <a:t>ON</a:t>
            </a:r>
            <a:r>
              <a:rPr b="1" i="0" lang="en" sz="650" u="none" cap="none" strike="noStrike">
                <a:solidFill>
                  <a:srgbClr val="CCCCCC"/>
                </a:solidFill>
                <a:highlight>
                  <a:srgbClr val="1F1F1F"/>
                </a:highlight>
                <a:latin typeface="Courier New"/>
                <a:ea typeface="Courier New"/>
                <a:cs typeface="Courier New"/>
                <a:sym typeface="Courier New"/>
              </a:rPr>
              <a:t> tq.player_id  </a:t>
            </a:r>
            <a:r>
              <a:rPr b="1" i="0" lang="en" sz="650" u="none" cap="none" strike="noStrike">
                <a:solidFill>
                  <a:srgbClr val="D4D4D4"/>
                </a:solidFill>
                <a:highlight>
                  <a:srgbClr val="1F1F1F"/>
                </a:highlight>
                <a:latin typeface="Courier New"/>
                <a:ea typeface="Courier New"/>
                <a:cs typeface="Courier New"/>
                <a:sym typeface="Courier New"/>
              </a:rPr>
              <a:t>=</a:t>
            </a:r>
            <a:r>
              <a:rPr b="1" i="0" lang="en" sz="650" u="none" cap="none" strike="noStrike">
                <a:solidFill>
                  <a:srgbClr val="CCCCCC"/>
                </a:solidFill>
                <a:highlight>
                  <a:srgbClr val="1F1F1F"/>
                </a:highlight>
                <a:latin typeface="Courier New"/>
                <a:ea typeface="Courier New"/>
                <a:cs typeface="Courier New"/>
                <a:sym typeface="Courier New"/>
              </a:rPr>
              <a:t> prof.player_id</a:t>
            </a:r>
            <a:endParaRPr b="1" i="0" sz="6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WHERE</a:t>
            </a:r>
            <a:r>
              <a:rPr b="1" i="0" lang="en" sz="650" u="none" cap="none" strike="noStrike">
                <a:solidFill>
                  <a:srgbClr val="CCCCCC"/>
                </a:solidFill>
                <a:highlight>
                  <a:srgbClr val="1F1F1F"/>
                </a:highlight>
                <a:latin typeface="Courier New"/>
                <a:ea typeface="Courier New"/>
                <a:cs typeface="Courier New"/>
                <a:sym typeface="Courier New"/>
              </a:rPr>
              <a:t> prof.main_position </a:t>
            </a:r>
            <a:r>
              <a:rPr b="1" i="0" lang="en" sz="650" u="none" cap="none" strike="noStrike">
                <a:solidFill>
                  <a:srgbClr val="D4D4D4"/>
                </a:solidFill>
                <a:highlight>
                  <a:srgbClr val="1F1F1F"/>
                </a:highlight>
                <a:latin typeface="Courier New"/>
                <a:ea typeface="Courier New"/>
                <a:cs typeface="Courier New"/>
                <a:sym typeface="Courier New"/>
              </a:rPr>
              <a:t>!=</a:t>
            </a:r>
            <a:r>
              <a:rPr b="1" i="0" lang="en" sz="650" u="none" cap="none" strike="noStrike">
                <a:solidFill>
                  <a:srgbClr val="CCCCCC"/>
                </a:solidFill>
                <a:highlight>
                  <a:srgbClr val="1F1F1F"/>
                </a:highlight>
                <a:latin typeface="Courier New"/>
                <a:ea typeface="Courier New"/>
                <a:cs typeface="Courier New"/>
                <a:sym typeface="Courier New"/>
              </a:rPr>
              <a:t> </a:t>
            </a:r>
            <a:r>
              <a:rPr b="1" i="0" lang="en" sz="650" u="none" cap="none" strike="noStrike">
                <a:solidFill>
                  <a:srgbClr val="CE9178"/>
                </a:solidFill>
                <a:highlight>
                  <a:srgbClr val="1F1F1F"/>
                </a:highlight>
                <a:latin typeface="Courier New"/>
                <a:ea typeface="Courier New"/>
                <a:cs typeface="Courier New"/>
                <a:sym typeface="Courier New"/>
              </a:rPr>
              <a:t>'Goalkeeper'</a:t>
            </a:r>
            <a:endParaRPr b="1" i="0" sz="650" u="none" cap="none" strike="noStrike">
              <a:solidFill>
                <a:srgbClr val="CE917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GROUP BY</a:t>
            </a:r>
            <a:r>
              <a:rPr b="1" i="0" lang="en" sz="650" u="none" cap="none" strike="noStrike">
                <a:solidFill>
                  <a:srgbClr val="CCCCCC"/>
                </a:solidFill>
                <a:highlight>
                  <a:srgbClr val="1F1F1F"/>
                </a:highlight>
                <a:latin typeface="Courier New"/>
                <a:ea typeface="Courier New"/>
                <a:cs typeface="Courier New"/>
                <a:sym typeface="Courier New"/>
              </a:rPr>
              <a:t> tq.fee_quartile</a:t>
            </a:r>
            <a:endParaRPr b="1" i="0" sz="6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50"/>
              <a:buFont typeface="Arial"/>
              <a:buNone/>
            </a:pPr>
            <a:r>
              <a:rPr b="1" i="0" lang="en" sz="650" u="none" cap="none" strike="noStrike">
                <a:solidFill>
                  <a:srgbClr val="569CD6"/>
                </a:solidFill>
                <a:highlight>
                  <a:srgbClr val="1F1F1F"/>
                </a:highlight>
                <a:latin typeface="Courier New"/>
                <a:ea typeface="Courier New"/>
                <a:cs typeface="Courier New"/>
                <a:sym typeface="Courier New"/>
              </a:rPr>
              <a:t>ORDER BY</a:t>
            </a:r>
            <a:r>
              <a:rPr b="1" i="0" lang="en" sz="650" u="none" cap="none" strike="noStrike">
                <a:solidFill>
                  <a:srgbClr val="CCCCCC"/>
                </a:solidFill>
                <a:highlight>
                  <a:srgbClr val="1F1F1F"/>
                </a:highlight>
                <a:latin typeface="Courier New"/>
                <a:ea typeface="Courier New"/>
                <a:cs typeface="Courier New"/>
                <a:sym typeface="Courier New"/>
              </a:rPr>
              <a:t> tq.fee_quartile;</a:t>
            </a:r>
            <a:endParaRPr b="1" i="0" sz="6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300"/>
              <a:buFont typeface="Arial"/>
              <a:buNone/>
            </a:pPr>
            <a:r>
              <a:t/>
            </a:r>
            <a:endParaRPr b="1" i="0" sz="30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300"/>
              <a:buFont typeface="Arial"/>
              <a:buNone/>
            </a:pPr>
            <a:r>
              <a:t/>
            </a:r>
            <a:endParaRPr b="1" i="0" sz="300" u="none" cap="none" strike="noStrike">
              <a:solidFill>
                <a:schemeClr val="dk2"/>
              </a:solidFill>
              <a:latin typeface="Nunito"/>
              <a:ea typeface="Nunito"/>
              <a:cs typeface="Nunito"/>
              <a:sym typeface="Nunito"/>
            </a:endParaRPr>
          </a:p>
        </p:txBody>
      </p:sp>
      <p:pic>
        <p:nvPicPr>
          <p:cNvPr id="417" name="Google Shape;417;p17"/>
          <p:cNvPicPr preferRelativeResize="0"/>
          <p:nvPr/>
        </p:nvPicPr>
        <p:blipFill rotWithShape="1">
          <a:blip r:embed="rId3">
            <a:alphaModFix/>
          </a:blip>
          <a:srcRect b="0" l="0" r="0" t="0"/>
          <a:stretch/>
        </p:blipFill>
        <p:spPr>
          <a:xfrm>
            <a:off x="4274375" y="2151050"/>
            <a:ext cx="4399800" cy="15076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18"/>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lang="en" sz="2100"/>
              <a:t>7. Does a high transfer fee actually translate into better performance (goals, assists, minutes played)?</a:t>
            </a:r>
            <a:endParaRPr sz="2100"/>
          </a:p>
        </p:txBody>
      </p:sp>
      <p:sp>
        <p:nvSpPr>
          <p:cNvPr id="423" name="Google Shape;423;p18"/>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chemeClr val="accent6"/>
                </a:solidFill>
                <a:latin typeface="Maven Pro"/>
                <a:ea typeface="Maven Pro"/>
                <a:cs typeface="Maven Pro"/>
                <a:sym typeface="Maven Pro"/>
              </a:rPr>
              <a:t>Transfer Market Dynamics 💱</a:t>
            </a:r>
            <a:endParaRPr b="1" i="0" sz="1766" u="none" cap="none" strike="noStrike">
              <a:solidFill>
                <a:schemeClr val="accent6"/>
              </a:solidFill>
              <a:latin typeface="Maven Pro"/>
              <a:ea typeface="Maven Pro"/>
              <a:cs typeface="Maven Pro"/>
              <a:sym typeface="Maven Pro"/>
            </a:endParaRPr>
          </a:p>
        </p:txBody>
      </p:sp>
      <p:pic>
        <p:nvPicPr>
          <p:cNvPr id="424" name="Google Shape;424;p18"/>
          <p:cNvPicPr preferRelativeResize="0"/>
          <p:nvPr/>
        </p:nvPicPr>
        <p:blipFill rotWithShape="1">
          <a:blip r:embed="rId3">
            <a:alphaModFix/>
          </a:blip>
          <a:srcRect b="0" l="0" r="0" t="0"/>
          <a:stretch/>
        </p:blipFill>
        <p:spPr>
          <a:xfrm>
            <a:off x="152400" y="1750275"/>
            <a:ext cx="8839203" cy="293848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19"/>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lang="en" sz="2100"/>
              <a:t>8. Which nationalities command a premium market value?</a:t>
            </a:r>
            <a:endParaRPr sz="2100"/>
          </a:p>
        </p:txBody>
      </p:sp>
      <p:sp>
        <p:nvSpPr>
          <p:cNvPr id="430" name="Google Shape;430;p19"/>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rgbClr val="6AA84F"/>
                </a:solidFill>
                <a:latin typeface="Maven Pro"/>
                <a:ea typeface="Maven Pro"/>
                <a:cs typeface="Maven Pro"/>
                <a:sym typeface="Maven Pro"/>
              </a:rPr>
              <a:t>League &amp; Geography Economics 🌍</a:t>
            </a:r>
            <a:endParaRPr b="1" i="0" sz="1766" u="none" cap="none" strike="noStrike">
              <a:solidFill>
                <a:srgbClr val="6AA84F"/>
              </a:solidFill>
              <a:latin typeface="Maven Pro"/>
              <a:ea typeface="Maven Pro"/>
              <a:cs typeface="Maven Pro"/>
              <a:sym typeface="Maven Pro"/>
            </a:endParaRPr>
          </a:p>
        </p:txBody>
      </p:sp>
      <p:sp>
        <p:nvSpPr>
          <p:cNvPr id="431" name="Google Shape;431;p19"/>
          <p:cNvSpPr txBox="1"/>
          <p:nvPr/>
        </p:nvSpPr>
        <p:spPr>
          <a:xfrm>
            <a:off x="499400" y="1631725"/>
            <a:ext cx="3372900" cy="3300900"/>
          </a:xfrm>
          <a:prstGeom prst="rect">
            <a:avLst/>
          </a:prstGeom>
          <a:noFill/>
          <a:ln>
            <a:noFill/>
          </a:ln>
        </p:spPr>
        <p:txBody>
          <a:bodyPr anchorCtr="0" anchor="t" bIns="91425" lIns="91425" spcFirstLastPara="1" rIns="91425" wrap="square" tIns="91425">
            <a:noAutofit/>
          </a:bodyPr>
          <a:lstStyle/>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569CD6"/>
                </a:solidFill>
                <a:highlight>
                  <a:srgbClr val="1F1F1F"/>
                </a:highlight>
                <a:latin typeface="Courier New"/>
                <a:ea typeface="Courier New"/>
                <a:cs typeface="Courier New"/>
                <a:sym typeface="Courier New"/>
              </a:rPr>
              <a:t>WITH</a:t>
            </a:r>
            <a:r>
              <a:rPr b="1" i="0" lang="en" sz="600" u="none" cap="none" strike="noStrike">
                <a:solidFill>
                  <a:srgbClr val="CCCCCC"/>
                </a:solidFill>
                <a:highlight>
                  <a:srgbClr val="1F1F1F"/>
                </a:highlight>
                <a:latin typeface="Courier New"/>
                <a:ea typeface="Courier New"/>
                <a:cs typeface="Courier New"/>
                <a:sym typeface="Courier New"/>
              </a:rPr>
              <a:t> top_countries </a:t>
            </a:r>
            <a:r>
              <a:rPr b="1" i="0" lang="en" sz="600" u="none" cap="none" strike="noStrike">
                <a:solidFill>
                  <a:srgbClr val="569CD6"/>
                </a:solidFill>
                <a:highlight>
                  <a:srgbClr val="1F1F1F"/>
                </a:highlight>
                <a:latin typeface="Courier New"/>
                <a:ea typeface="Courier New"/>
                <a:cs typeface="Courier New"/>
                <a:sym typeface="Courier New"/>
              </a:rPr>
              <a:t>AS</a:t>
            </a: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569CD6"/>
                </a:solidFill>
                <a:highlight>
                  <a:srgbClr val="1F1F1F"/>
                </a:highlight>
                <a:latin typeface="Courier New"/>
                <a:ea typeface="Courier New"/>
                <a:cs typeface="Courier New"/>
                <a:sym typeface="Courier New"/>
              </a:rPr>
              <a:t>SELECT</a:t>
            </a:r>
            <a:r>
              <a:rPr b="1" i="0" lang="en" sz="600" u="none" cap="none" strike="noStrike">
                <a:solidFill>
                  <a:srgbClr val="CCCCCC"/>
                </a:solidFill>
                <a:highlight>
                  <a:srgbClr val="1F1F1F"/>
                </a:highlight>
                <a:latin typeface="Courier New"/>
                <a:ea typeface="Courier New"/>
                <a:cs typeface="Courier New"/>
                <a:sym typeface="Courier New"/>
              </a:rPr>
              <a:t> country_of_birth</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569CD6"/>
                </a:solidFill>
                <a:highlight>
                  <a:srgbClr val="1F1F1F"/>
                </a:highlight>
                <a:latin typeface="Courier New"/>
                <a:ea typeface="Courier New"/>
                <a:cs typeface="Courier New"/>
                <a:sym typeface="Courier New"/>
              </a:rPr>
              <a:t>FROM</a:t>
            </a:r>
            <a:r>
              <a:rPr b="1" i="0" lang="en" sz="600" u="none" cap="none" strike="noStrike">
                <a:solidFill>
                  <a:srgbClr val="CCCCCC"/>
                </a:solidFill>
                <a:highlight>
                  <a:srgbClr val="1F1F1F"/>
                </a:highlight>
                <a:latin typeface="Courier New"/>
                <a:ea typeface="Courier New"/>
                <a:cs typeface="Courier New"/>
                <a:sym typeface="Courier New"/>
              </a:rPr>
              <a:t> player_profiles </a:t>
            </a:r>
            <a:r>
              <a:rPr b="1" i="0" lang="en" sz="600" u="none" cap="none" strike="noStrike">
                <a:solidFill>
                  <a:srgbClr val="569CD6"/>
                </a:solidFill>
                <a:highlight>
                  <a:srgbClr val="1F1F1F"/>
                </a:highlight>
                <a:latin typeface="Courier New"/>
                <a:ea typeface="Courier New"/>
                <a:cs typeface="Courier New"/>
                <a:sym typeface="Courier New"/>
              </a:rPr>
              <a:t>WHERE</a:t>
            </a:r>
            <a:r>
              <a:rPr b="1" i="0" lang="en" sz="600" u="none" cap="none" strike="noStrike">
                <a:solidFill>
                  <a:srgbClr val="CCCCCC"/>
                </a:solidFill>
                <a:highlight>
                  <a:srgbClr val="1F1F1F"/>
                </a:highlight>
                <a:latin typeface="Courier New"/>
                <a:ea typeface="Courier New"/>
                <a:cs typeface="Courier New"/>
                <a:sym typeface="Courier New"/>
              </a:rPr>
              <a:t> country_of_birth </a:t>
            </a:r>
            <a:r>
              <a:rPr b="1" i="0" lang="en" sz="600" u="none" cap="none" strike="noStrike">
                <a:solidFill>
                  <a:srgbClr val="569CD6"/>
                </a:solidFill>
                <a:highlight>
                  <a:srgbClr val="1F1F1F"/>
                </a:highlight>
                <a:latin typeface="Courier New"/>
                <a:ea typeface="Courier New"/>
                <a:cs typeface="Courier New"/>
                <a:sym typeface="Courier New"/>
              </a:rPr>
              <a:t>IS NOT NULL</a:t>
            </a:r>
            <a:endParaRPr b="1" i="0" sz="60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569CD6"/>
                </a:solidFill>
                <a:highlight>
                  <a:srgbClr val="1F1F1F"/>
                </a:highlight>
                <a:latin typeface="Courier New"/>
                <a:ea typeface="Courier New"/>
                <a:cs typeface="Courier New"/>
                <a:sym typeface="Courier New"/>
              </a:rPr>
              <a:t>GROUP BY</a:t>
            </a:r>
            <a:r>
              <a:rPr b="1" i="0" lang="en" sz="600" u="none" cap="none" strike="noStrike">
                <a:solidFill>
                  <a:srgbClr val="CCCCCC"/>
                </a:solidFill>
                <a:highlight>
                  <a:srgbClr val="1F1F1F"/>
                </a:highlight>
                <a:latin typeface="Courier New"/>
                <a:ea typeface="Courier New"/>
                <a:cs typeface="Courier New"/>
                <a:sym typeface="Courier New"/>
              </a:rPr>
              <a:t> country_of_birth</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569CD6"/>
                </a:solidFill>
                <a:highlight>
                  <a:srgbClr val="1F1F1F"/>
                </a:highlight>
                <a:latin typeface="Courier New"/>
                <a:ea typeface="Courier New"/>
                <a:cs typeface="Courier New"/>
                <a:sym typeface="Courier New"/>
              </a:rPr>
              <a:t>ORDER BY</a:t>
            </a: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DCDCAA"/>
                </a:solidFill>
                <a:highlight>
                  <a:srgbClr val="1F1F1F"/>
                </a:highlight>
                <a:latin typeface="Courier New"/>
                <a:ea typeface="Courier New"/>
                <a:cs typeface="Courier New"/>
                <a:sym typeface="Courier New"/>
              </a:rPr>
              <a:t>COUNT</a:t>
            </a:r>
            <a:r>
              <a:rPr b="1" i="0" lang="en" sz="600" u="none" cap="none" strike="noStrike">
                <a:solidFill>
                  <a:srgbClr val="CCCCCC"/>
                </a:solidFill>
                <a:highlight>
                  <a:srgbClr val="1F1F1F"/>
                </a:highlight>
                <a:latin typeface="Courier New"/>
                <a:ea typeface="Courier New"/>
                <a:cs typeface="Courier New"/>
                <a:sym typeface="Courier New"/>
              </a:rPr>
              <a:t>(</a:t>
            </a:r>
            <a:r>
              <a:rPr b="1" i="0" lang="en" sz="600" u="none" cap="none" strike="noStrike">
                <a:solidFill>
                  <a:srgbClr val="D4D4D4"/>
                </a:solidFill>
                <a:highlight>
                  <a:srgbClr val="1F1F1F"/>
                </a:highlight>
                <a:latin typeface="Courier New"/>
                <a:ea typeface="Courier New"/>
                <a:cs typeface="Courier New"/>
                <a:sym typeface="Courier New"/>
              </a:rPr>
              <a:t>*</a:t>
            </a: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569CD6"/>
                </a:solidFill>
                <a:highlight>
                  <a:srgbClr val="1F1F1F"/>
                </a:highlight>
                <a:latin typeface="Courier New"/>
                <a:ea typeface="Courier New"/>
                <a:cs typeface="Courier New"/>
                <a:sym typeface="Courier New"/>
              </a:rPr>
              <a:t>DESC</a:t>
            </a:r>
            <a:endParaRPr b="1" i="0" sz="60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569CD6"/>
                </a:solidFill>
                <a:highlight>
                  <a:srgbClr val="1F1F1F"/>
                </a:highlight>
                <a:latin typeface="Courier New"/>
                <a:ea typeface="Courier New"/>
                <a:cs typeface="Courier New"/>
                <a:sym typeface="Courier New"/>
              </a:rPr>
              <a:t>LIMIT</a:t>
            </a: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B5CEA8"/>
                </a:solidFill>
                <a:highlight>
                  <a:srgbClr val="1F1F1F"/>
                </a:highlight>
                <a:latin typeface="Courier New"/>
                <a:ea typeface="Courier New"/>
                <a:cs typeface="Courier New"/>
                <a:sym typeface="Courier New"/>
              </a:rPr>
              <a:t>20</a:t>
            </a:r>
            <a:r>
              <a:rPr b="1" i="0" lang="en" sz="600" u="none" cap="none" strike="noStrike">
                <a:solidFill>
                  <a:srgbClr val="CCCCCC"/>
                </a:solidFill>
                <a:highlight>
                  <a:srgbClr val="1F1F1F"/>
                </a:highlight>
                <a:latin typeface="Courier New"/>
                <a:ea typeface="Courier New"/>
                <a:cs typeface="Courier New"/>
                <a:sym typeface="Courier New"/>
              </a:rPr>
              <a:t>),</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CCCCCC"/>
                </a:solidFill>
                <a:highlight>
                  <a:srgbClr val="1F1F1F"/>
                </a:highlight>
                <a:latin typeface="Courier New"/>
                <a:ea typeface="Courier New"/>
                <a:cs typeface="Courier New"/>
                <a:sym typeface="Courier New"/>
              </a:rPr>
              <a:t>premiums </a:t>
            </a:r>
            <a:r>
              <a:rPr b="1" i="0" lang="en" sz="600" u="none" cap="none" strike="noStrike">
                <a:solidFill>
                  <a:srgbClr val="569CD6"/>
                </a:solidFill>
                <a:highlight>
                  <a:srgbClr val="1F1F1F"/>
                </a:highlight>
                <a:latin typeface="Courier New"/>
                <a:ea typeface="Courier New"/>
                <a:cs typeface="Courier New"/>
                <a:sym typeface="Courier New"/>
              </a:rPr>
              <a:t>AS</a:t>
            </a:r>
            <a:r>
              <a:rPr b="1" i="0" lang="en" sz="600" u="none" cap="none" strike="noStrike">
                <a:solidFill>
                  <a:srgbClr val="CCCCCC"/>
                </a:solidFill>
                <a:highlight>
                  <a:srgbClr val="1F1F1F"/>
                </a:highlight>
                <a:latin typeface="Courier New"/>
                <a:ea typeface="Courier New"/>
                <a:cs typeface="Courier New"/>
                <a:sym typeface="Courier New"/>
              </a:rPr>
              <a:t> (</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569CD6"/>
                </a:solidFill>
                <a:highlight>
                  <a:srgbClr val="1F1F1F"/>
                </a:highlight>
                <a:latin typeface="Courier New"/>
                <a:ea typeface="Courier New"/>
                <a:cs typeface="Courier New"/>
                <a:sym typeface="Courier New"/>
              </a:rPr>
              <a:t>SELECT</a:t>
            </a:r>
            <a:r>
              <a:rPr b="1" i="0" lang="en" sz="600" u="none" cap="none" strike="noStrike">
                <a:solidFill>
                  <a:srgbClr val="CCCCCC"/>
                </a:solidFill>
                <a:highlight>
                  <a:srgbClr val="1F1F1F"/>
                </a:highlight>
                <a:latin typeface="Courier New"/>
                <a:ea typeface="Courier New"/>
                <a:cs typeface="Courier New"/>
                <a:sym typeface="Courier New"/>
              </a:rPr>
              <a:t> prof.country_of_birth, t.transfer_fee </a:t>
            </a:r>
            <a:r>
              <a:rPr b="1" i="0" lang="en" sz="600" u="none" cap="none" strike="noStrike">
                <a:solidFill>
                  <a:srgbClr val="D4D4D4"/>
                </a:solidFill>
                <a:highlight>
                  <a:srgbClr val="1F1F1F"/>
                </a:highlight>
                <a:latin typeface="Courier New"/>
                <a:ea typeface="Courier New"/>
                <a:cs typeface="Courier New"/>
                <a:sym typeface="Courier New"/>
              </a:rPr>
              <a:t>*</a:t>
            </a: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B5CEA8"/>
                </a:solidFill>
                <a:highlight>
                  <a:srgbClr val="1F1F1F"/>
                </a:highlight>
                <a:latin typeface="Courier New"/>
                <a:ea typeface="Courier New"/>
                <a:cs typeface="Courier New"/>
                <a:sym typeface="Courier New"/>
              </a:rPr>
              <a:t>1</a:t>
            </a:r>
            <a:r>
              <a:rPr b="1" i="0" lang="en" sz="600" u="none" cap="none" strike="noStrike">
                <a:solidFill>
                  <a:srgbClr val="CCCCCC"/>
                </a:solidFill>
                <a:highlight>
                  <a:srgbClr val="1F1F1F"/>
                </a:highlight>
                <a:latin typeface="Courier New"/>
                <a:ea typeface="Courier New"/>
                <a:cs typeface="Courier New"/>
                <a:sym typeface="Courier New"/>
              </a:rPr>
              <a:t>.</a:t>
            </a:r>
            <a:r>
              <a:rPr b="1" i="0" lang="en" sz="600" u="none" cap="none" strike="noStrike">
                <a:solidFill>
                  <a:srgbClr val="B5CEA8"/>
                </a:solidFill>
                <a:highlight>
                  <a:srgbClr val="1F1F1F"/>
                </a:highlight>
                <a:latin typeface="Courier New"/>
                <a:ea typeface="Courier New"/>
                <a:cs typeface="Courier New"/>
                <a:sym typeface="Courier New"/>
              </a:rPr>
              <a:t>0</a:t>
            </a: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D4D4D4"/>
                </a:solidFill>
                <a:highlight>
                  <a:srgbClr val="1F1F1F"/>
                </a:highlight>
                <a:latin typeface="Courier New"/>
                <a:ea typeface="Courier New"/>
                <a:cs typeface="Courier New"/>
                <a:sym typeface="Courier New"/>
              </a:rPr>
              <a:t>/</a:t>
            </a:r>
            <a:r>
              <a:rPr b="1" i="0" lang="en" sz="600" u="none" cap="none" strike="noStrike">
                <a:solidFill>
                  <a:srgbClr val="CCCCCC"/>
                </a:solidFill>
                <a:highlight>
                  <a:srgbClr val="1F1F1F"/>
                </a:highlight>
                <a:latin typeface="Courier New"/>
                <a:ea typeface="Courier New"/>
                <a:cs typeface="Courier New"/>
                <a:sym typeface="Courier New"/>
              </a:rPr>
              <a:t> t.value_at_transfer </a:t>
            </a:r>
            <a:r>
              <a:rPr b="1" i="0" lang="en" sz="600" u="none" cap="none" strike="noStrike">
                <a:solidFill>
                  <a:srgbClr val="569CD6"/>
                </a:solidFill>
                <a:highlight>
                  <a:srgbClr val="1F1F1F"/>
                </a:highlight>
                <a:latin typeface="Courier New"/>
                <a:ea typeface="Courier New"/>
                <a:cs typeface="Courier New"/>
                <a:sym typeface="Courier New"/>
              </a:rPr>
              <a:t>AS</a:t>
            </a:r>
            <a:r>
              <a:rPr b="1" i="0" lang="en" sz="600" u="none" cap="none" strike="noStrike">
                <a:solidFill>
                  <a:srgbClr val="CCCCCC"/>
                </a:solidFill>
                <a:highlight>
                  <a:srgbClr val="1F1F1F"/>
                </a:highlight>
                <a:latin typeface="Courier New"/>
                <a:ea typeface="Courier New"/>
                <a:cs typeface="Courier New"/>
                <a:sym typeface="Courier New"/>
              </a:rPr>
              <a:t> fee_premium_ratio</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569CD6"/>
                </a:solidFill>
                <a:highlight>
                  <a:srgbClr val="1F1F1F"/>
                </a:highlight>
                <a:latin typeface="Courier New"/>
                <a:ea typeface="Courier New"/>
                <a:cs typeface="Courier New"/>
                <a:sym typeface="Courier New"/>
              </a:rPr>
              <a:t>FROM</a:t>
            </a:r>
            <a:r>
              <a:rPr b="1" i="0" lang="en" sz="600" u="none" cap="none" strike="noStrike">
                <a:solidFill>
                  <a:srgbClr val="CCCCCC"/>
                </a:solidFill>
                <a:highlight>
                  <a:srgbClr val="1F1F1F"/>
                </a:highlight>
                <a:latin typeface="Courier New"/>
                <a:ea typeface="Courier New"/>
                <a:cs typeface="Courier New"/>
                <a:sym typeface="Courier New"/>
              </a:rPr>
              <a:t> transfer_history t</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569CD6"/>
                </a:solidFill>
                <a:highlight>
                  <a:srgbClr val="1F1F1F"/>
                </a:highlight>
                <a:latin typeface="Courier New"/>
                <a:ea typeface="Courier New"/>
                <a:cs typeface="Courier New"/>
                <a:sym typeface="Courier New"/>
              </a:rPr>
              <a:t>INNER JOIN</a:t>
            </a:r>
            <a:r>
              <a:rPr b="1" i="0" lang="en" sz="600" u="none" cap="none" strike="noStrike">
                <a:solidFill>
                  <a:srgbClr val="CCCCCC"/>
                </a:solidFill>
                <a:highlight>
                  <a:srgbClr val="1F1F1F"/>
                </a:highlight>
                <a:latin typeface="Courier New"/>
                <a:ea typeface="Courier New"/>
                <a:cs typeface="Courier New"/>
                <a:sym typeface="Courier New"/>
              </a:rPr>
              <a:t> player_profiles prof </a:t>
            </a:r>
            <a:r>
              <a:rPr b="1" i="0" lang="en" sz="600" u="none" cap="none" strike="noStrike">
                <a:solidFill>
                  <a:srgbClr val="569CD6"/>
                </a:solidFill>
                <a:highlight>
                  <a:srgbClr val="1F1F1F"/>
                </a:highlight>
                <a:latin typeface="Courier New"/>
                <a:ea typeface="Courier New"/>
                <a:cs typeface="Courier New"/>
                <a:sym typeface="Courier New"/>
              </a:rPr>
              <a:t>ON</a:t>
            </a:r>
            <a:r>
              <a:rPr b="1" i="0" lang="en" sz="600" u="none" cap="none" strike="noStrike">
                <a:solidFill>
                  <a:srgbClr val="CCCCCC"/>
                </a:solidFill>
                <a:highlight>
                  <a:srgbClr val="1F1F1F"/>
                </a:highlight>
                <a:latin typeface="Courier New"/>
                <a:ea typeface="Courier New"/>
                <a:cs typeface="Courier New"/>
                <a:sym typeface="Courier New"/>
              </a:rPr>
              <a:t> t.player_id </a:t>
            </a:r>
            <a:r>
              <a:rPr b="1" i="0" lang="en" sz="600" u="none" cap="none" strike="noStrike">
                <a:solidFill>
                  <a:srgbClr val="D4D4D4"/>
                </a:solidFill>
                <a:highlight>
                  <a:srgbClr val="1F1F1F"/>
                </a:highlight>
                <a:latin typeface="Courier New"/>
                <a:ea typeface="Courier New"/>
                <a:cs typeface="Courier New"/>
                <a:sym typeface="Courier New"/>
              </a:rPr>
              <a:t>=</a:t>
            </a:r>
            <a:r>
              <a:rPr b="1" i="0" lang="en" sz="600" u="none" cap="none" strike="noStrike">
                <a:solidFill>
                  <a:srgbClr val="CCCCCC"/>
                </a:solidFill>
                <a:highlight>
                  <a:srgbClr val="1F1F1F"/>
                </a:highlight>
                <a:latin typeface="Courier New"/>
                <a:ea typeface="Courier New"/>
                <a:cs typeface="Courier New"/>
                <a:sym typeface="Courier New"/>
              </a:rPr>
              <a:t> prof.player_id</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569CD6"/>
                </a:solidFill>
                <a:highlight>
                  <a:srgbClr val="1F1F1F"/>
                </a:highlight>
                <a:latin typeface="Courier New"/>
                <a:ea typeface="Courier New"/>
                <a:cs typeface="Courier New"/>
                <a:sym typeface="Courier New"/>
              </a:rPr>
              <a:t>INNER JOIN</a:t>
            </a:r>
            <a:r>
              <a:rPr b="1" i="0" lang="en" sz="600" u="none" cap="none" strike="noStrike">
                <a:solidFill>
                  <a:srgbClr val="CCCCCC"/>
                </a:solidFill>
                <a:highlight>
                  <a:srgbClr val="1F1F1F"/>
                </a:highlight>
                <a:latin typeface="Courier New"/>
                <a:ea typeface="Courier New"/>
                <a:cs typeface="Courier New"/>
                <a:sym typeface="Courier New"/>
              </a:rPr>
              <a:t> top_countries tc </a:t>
            </a:r>
            <a:r>
              <a:rPr b="1" i="0" lang="en" sz="600" u="none" cap="none" strike="noStrike">
                <a:solidFill>
                  <a:srgbClr val="569CD6"/>
                </a:solidFill>
                <a:highlight>
                  <a:srgbClr val="1F1F1F"/>
                </a:highlight>
                <a:latin typeface="Courier New"/>
                <a:ea typeface="Courier New"/>
                <a:cs typeface="Courier New"/>
                <a:sym typeface="Courier New"/>
              </a:rPr>
              <a:t>ON</a:t>
            </a:r>
            <a:r>
              <a:rPr b="1" i="0" lang="en" sz="600" u="none" cap="none" strike="noStrike">
                <a:solidFill>
                  <a:srgbClr val="CCCCCC"/>
                </a:solidFill>
                <a:highlight>
                  <a:srgbClr val="1F1F1F"/>
                </a:highlight>
                <a:latin typeface="Courier New"/>
                <a:ea typeface="Courier New"/>
                <a:cs typeface="Courier New"/>
                <a:sym typeface="Courier New"/>
              </a:rPr>
              <a:t> prof.country_of_birth </a:t>
            </a:r>
            <a:r>
              <a:rPr b="1" i="0" lang="en" sz="600" u="none" cap="none" strike="noStrike">
                <a:solidFill>
                  <a:srgbClr val="D4D4D4"/>
                </a:solidFill>
                <a:highlight>
                  <a:srgbClr val="1F1F1F"/>
                </a:highlight>
                <a:latin typeface="Courier New"/>
                <a:ea typeface="Courier New"/>
                <a:cs typeface="Courier New"/>
                <a:sym typeface="Courier New"/>
              </a:rPr>
              <a:t>=</a:t>
            </a:r>
            <a:r>
              <a:rPr b="1" i="0" lang="en" sz="600" u="none" cap="none" strike="noStrike">
                <a:solidFill>
                  <a:srgbClr val="CCCCCC"/>
                </a:solidFill>
                <a:highlight>
                  <a:srgbClr val="1F1F1F"/>
                </a:highlight>
                <a:latin typeface="Courier New"/>
                <a:ea typeface="Courier New"/>
                <a:cs typeface="Courier New"/>
                <a:sym typeface="Courier New"/>
              </a:rPr>
              <a:t> tc.country_of_birth</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569CD6"/>
                </a:solidFill>
                <a:highlight>
                  <a:srgbClr val="1F1F1F"/>
                </a:highlight>
                <a:latin typeface="Courier New"/>
                <a:ea typeface="Courier New"/>
                <a:cs typeface="Courier New"/>
                <a:sym typeface="Courier New"/>
              </a:rPr>
              <a:t>WHERE</a:t>
            </a:r>
            <a:r>
              <a:rPr b="1" i="0" lang="en" sz="600" u="none" cap="none" strike="noStrike">
                <a:solidFill>
                  <a:srgbClr val="CCCCCC"/>
                </a:solidFill>
                <a:highlight>
                  <a:srgbClr val="1F1F1F"/>
                </a:highlight>
                <a:latin typeface="Courier New"/>
                <a:ea typeface="Courier New"/>
                <a:cs typeface="Courier New"/>
                <a:sym typeface="Courier New"/>
              </a:rPr>
              <a:t> t.transfer_fee </a:t>
            </a:r>
            <a:r>
              <a:rPr b="1" i="0" lang="en" sz="600" u="none" cap="none" strike="noStrike">
                <a:solidFill>
                  <a:srgbClr val="D4D4D4"/>
                </a:solidFill>
                <a:highlight>
                  <a:srgbClr val="1F1F1F"/>
                </a:highlight>
                <a:latin typeface="Courier New"/>
                <a:ea typeface="Courier New"/>
                <a:cs typeface="Courier New"/>
                <a:sym typeface="Courier New"/>
              </a:rPr>
              <a:t>&gt;</a:t>
            </a: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B5CEA8"/>
                </a:solidFill>
                <a:highlight>
                  <a:srgbClr val="1F1F1F"/>
                </a:highlight>
                <a:latin typeface="Courier New"/>
                <a:ea typeface="Courier New"/>
                <a:cs typeface="Courier New"/>
                <a:sym typeface="Courier New"/>
              </a:rPr>
              <a:t>0</a:t>
            </a:r>
            <a:endParaRPr b="1" i="0" sz="600" u="none" cap="none" strike="noStrike">
              <a:solidFill>
                <a:srgbClr val="B5CEA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569CD6"/>
                </a:solidFill>
                <a:highlight>
                  <a:srgbClr val="1F1F1F"/>
                </a:highlight>
                <a:latin typeface="Courier New"/>
                <a:ea typeface="Courier New"/>
                <a:cs typeface="Courier New"/>
                <a:sym typeface="Courier New"/>
              </a:rPr>
              <a:t>AND</a:t>
            </a:r>
            <a:r>
              <a:rPr b="1" i="0" lang="en" sz="600" u="none" cap="none" strike="noStrike">
                <a:solidFill>
                  <a:srgbClr val="CCCCCC"/>
                </a:solidFill>
                <a:highlight>
                  <a:srgbClr val="1F1F1F"/>
                </a:highlight>
                <a:latin typeface="Courier New"/>
                <a:ea typeface="Courier New"/>
                <a:cs typeface="Courier New"/>
                <a:sym typeface="Courier New"/>
              </a:rPr>
              <a:t> t.value_at_transfer </a:t>
            </a:r>
            <a:r>
              <a:rPr b="1" i="0" lang="en" sz="600" u="none" cap="none" strike="noStrike">
                <a:solidFill>
                  <a:srgbClr val="D4D4D4"/>
                </a:solidFill>
                <a:highlight>
                  <a:srgbClr val="1F1F1F"/>
                </a:highlight>
                <a:latin typeface="Courier New"/>
                <a:ea typeface="Courier New"/>
                <a:cs typeface="Courier New"/>
                <a:sym typeface="Courier New"/>
              </a:rPr>
              <a:t>&gt;</a:t>
            </a: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B5CEA8"/>
                </a:solidFill>
                <a:highlight>
                  <a:srgbClr val="1F1F1F"/>
                </a:highlight>
                <a:latin typeface="Courier New"/>
                <a:ea typeface="Courier New"/>
                <a:cs typeface="Courier New"/>
                <a:sym typeface="Courier New"/>
              </a:rPr>
              <a:t>0</a:t>
            </a:r>
            <a:endParaRPr b="1" i="0" sz="600" u="none" cap="none" strike="noStrike">
              <a:solidFill>
                <a:srgbClr val="B5CEA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569CD6"/>
                </a:solidFill>
                <a:highlight>
                  <a:srgbClr val="1F1F1F"/>
                </a:highlight>
                <a:latin typeface="Courier New"/>
                <a:ea typeface="Courier New"/>
                <a:cs typeface="Courier New"/>
                <a:sym typeface="Courier New"/>
              </a:rPr>
              <a:t>AND</a:t>
            </a:r>
            <a:r>
              <a:rPr b="1" i="0" lang="en" sz="600" u="none" cap="none" strike="noStrike">
                <a:solidFill>
                  <a:srgbClr val="CCCCCC"/>
                </a:solidFill>
                <a:highlight>
                  <a:srgbClr val="1F1F1F"/>
                </a:highlight>
                <a:latin typeface="Courier New"/>
                <a:ea typeface="Courier New"/>
                <a:cs typeface="Courier New"/>
                <a:sym typeface="Courier New"/>
              </a:rPr>
              <a:t> t.transfer_fee </a:t>
            </a:r>
            <a:r>
              <a:rPr b="1" i="0" lang="en" sz="600" u="none" cap="none" strike="noStrike">
                <a:solidFill>
                  <a:srgbClr val="569CD6"/>
                </a:solidFill>
                <a:highlight>
                  <a:srgbClr val="1F1F1F"/>
                </a:highlight>
                <a:latin typeface="Courier New"/>
                <a:ea typeface="Courier New"/>
                <a:cs typeface="Courier New"/>
                <a:sym typeface="Courier New"/>
              </a:rPr>
              <a:t>IS NOT NULL</a:t>
            </a:r>
            <a:endParaRPr b="1" i="0" sz="60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569CD6"/>
                </a:solidFill>
                <a:highlight>
                  <a:srgbClr val="1F1F1F"/>
                </a:highlight>
                <a:latin typeface="Courier New"/>
                <a:ea typeface="Courier New"/>
                <a:cs typeface="Courier New"/>
                <a:sym typeface="Courier New"/>
              </a:rPr>
              <a:t>AND</a:t>
            </a:r>
            <a:r>
              <a:rPr b="1" i="0" lang="en" sz="600" u="none" cap="none" strike="noStrike">
                <a:solidFill>
                  <a:srgbClr val="CCCCCC"/>
                </a:solidFill>
                <a:highlight>
                  <a:srgbClr val="1F1F1F"/>
                </a:highlight>
                <a:latin typeface="Courier New"/>
                <a:ea typeface="Courier New"/>
                <a:cs typeface="Courier New"/>
                <a:sym typeface="Courier New"/>
              </a:rPr>
              <a:t> t.value_at_transfer </a:t>
            </a:r>
            <a:r>
              <a:rPr b="1" i="0" lang="en" sz="600" u="none" cap="none" strike="noStrike">
                <a:solidFill>
                  <a:srgbClr val="569CD6"/>
                </a:solidFill>
                <a:highlight>
                  <a:srgbClr val="1F1F1F"/>
                </a:highlight>
                <a:latin typeface="Courier New"/>
                <a:ea typeface="Courier New"/>
                <a:cs typeface="Courier New"/>
                <a:sym typeface="Courier New"/>
              </a:rPr>
              <a:t>IS NOT NULL</a:t>
            </a:r>
            <a:r>
              <a:rPr b="1" i="0" lang="en" sz="600" u="none" cap="none" strike="noStrike">
                <a:solidFill>
                  <a:srgbClr val="CCCCCC"/>
                </a:solidFill>
                <a:highlight>
                  <a:srgbClr val="1F1F1F"/>
                </a:highlight>
                <a:latin typeface="Courier New"/>
                <a:ea typeface="Courier New"/>
                <a:cs typeface="Courier New"/>
                <a:sym typeface="Courier New"/>
              </a:rPr>
              <a:t>)</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569CD6"/>
                </a:solidFill>
                <a:highlight>
                  <a:srgbClr val="1F1F1F"/>
                </a:highlight>
                <a:latin typeface="Courier New"/>
                <a:ea typeface="Courier New"/>
                <a:cs typeface="Courier New"/>
                <a:sym typeface="Courier New"/>
              </a:rPr>
              <a:t>SELECT</a:t>
            </a:r>
            <a:endParaRPr b="1" i="0" sz="60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CCCCCC"/>
                </a:solidFill>
                <a:highlight>
                  <a:srgbClr val="1F1F1F"/>
                </a:highlight>
                <a:latin typeface="Courier New"/>
                <a:ea typeface="Courier New"/>
                <a:cs typeface="Courier New"/>
                <a:sym typeface="Courier New"/>
              </a:rPr>
              <a:t>    country_of_birth,</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DCDCAA"/>
                </a:solidFill>
                <a:highlight>
                  <a:srgbClr val="1F1F1F"/>
                </a:highlight>
                <a:latin typeface="Courier New"/>
                <a:ea typeface="Courier New"/>
                <a:cs typeface="Courier New"/>
                <a:sym typeface="Courier New"/>
              </a:rPr>
              <a:t>COUNT</a:t>
            </a:r>
            <a:r>
              <a:rPr b="1" i="0" lang="en" sz="600" u="none" cap="none" strike="noStrike">
                <a:solidFill>
                  <a:srgbClr val="CCCCCC"/>
                </a:solidFill>
                <a:highlight>
                  <a:srgbClr val="1F1F1F"/>
                </a:highlight>
                <a:latin typeface="Courier New"/>
                <a:ea typeface="Courier New"/>
                <a:cs typeface="Courier New"/>
                <a:sym typeface="Courier New"/>
              </a:rPr>
              <a:t>(</a:t>
            </a:r>
            <a:r>
              <a:rPr b="1" i="0" lang="en" sz="600" u="none" cap="none" strike="noStrike">
                <a:solidFill>
                  <a:srgbClr val="D4D4D4"/>
                </a:solidFill>
                <a:highlight>
                  <a:srgbClr val="1F1F1F"/>
                </a:highlight>
                <a:latin typeface="Courier New"/>
                <a:ea typeface="Courier New"/>
                <a:cs typeface="Courier New"/>
                <a:sym typeface="Courier New"/>
              </a:rPr>
              <a:t>*</a:t>
            </a: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569CD6"/>
                </a:solidFill>
                <a:highlight>
                  <a:srgbClr val="1F1F1F"/>
                </a:highlight>
                <a:latin typeface="Courier New"/>
                <a:ea typeface="Courier New"/>
                <a:cs typeface="Courier New"/>
                <a:sym typeface="Courier New"/>
              </a:rPr>
              <a:t>AS</a:t>
            </a:r>
            <a:r>
              <a:rPr b="1" i="0" lang="en" sz="600" u="none" cap="none" strike="noStrike">
                <a:solidFill>
                  <a:srgbClr val="CCCCCC"/>
                </a:solidFill>
                <a:highlight>
                  <a:srgbClr val="1F1F1F"/>
                </a:highlight>
                <a:latin typeface="Courier New"/>
                <a:ea typeface="Courier New"/>
                <a:cs typeface="Courier New"/>
                <a:sym typeface="Courier New"/>
              </a:rPr>
              <a:t> player_count,</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DCDCAA"/>
                </a:solidFill>
                <a:highlight>
                  <a:srgbClr val="1F1F1F"/>
                </a:highlight>
                <a:latin typeface="Courier New"/>
                <a:ea typeface="Courier New"/>
                <a:cs typeface="Courier New"/>
                <a:sym typeface="Courier New"/>
              </a:rPr>
              <a:t>ROUND</a:t>
            </a:r>
            <a:r>
              <a:rPr b="1" i="0" lang="en" sz="600" u="none" cap="none" strike="noStrike">
                <a:solidFill>
                  <a:srgbClr val="CCCCCC"/>
                </a:solidFill>
                <a:highlight>
                  <a:srgbClr val="1F1F1F"/>
                </a:highlight>
                <a:latin typeface="Courier New"/>
                <a:ea typeface="Courier New"/>
                <a:cs typeface="Courier New"/>
                <a:sym typeface="Courier New"/>
              </a:rPr>
              <a:t>(</a:t>
            </a:r>
            <a:r>
              <a:rPr b="1" i="0" lang="en" sz="600" u="none" cap="none" strike="noStrike">
                <a:solidFill>
                  <a:srgbClr val="DCDCAA"/>
                </a:solidFill>
                <a:highlight>
                  <a:srgbClr val="1F1F1F"/>
                </a:highlight>
                <a:latin typeface="Courier New"/>
                <a:ea typeface="Courier New"/>
                <a:cs typeface="Courier New"/>
                <a:sym typeface="Courier New"/>
              </a:rPr>
              <a:t>AVG</a:t>
            </a:r>
            <a:r>
              <a:rPr b="1" i="0" lang="en" sz="600" u="none" cap="none" strike="noStrike">
                <a:solidFill>
                  <a:srgbClr val="CCCCCC"/>
                </a:solidFill>
                <a:highlight>
                  <a:srgbClr val="1F1F1F"/>
                </a:highlight>
                <a:latin typeface="Courier New"/>
                <a:ea typeface="Courier New"/>
                <a:cs typeface="Courier New"/>
                <a:sym typeface="Courier New"/>
              </a:rPr>
              <a:t>(fee_premium_ratio), </a:t>
            </a:r>
            <a:r>
              <a:rPr b="1" i="0" lang="en" sz="600" u="none" cap="none" strike="noStrike">
                <a:solidFill>
                  <a:srgbClr val="B5CEA8"/>
                </a:solidFill>
                <a:highlight>
                  <a:srgbClr val="1F1F1F"/>
                </a:highlight>
                <a:latin typeface="Courier New"/>
                <a:ea typeface="Courier New"/>
                <a:cs typeface="Courier New"/>
                <a:sym typeface="Courier New"/>
              </a:rPr>
              <a:t>3</a:t>
            </a: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569CD6"/>
                </a:solidFill>
                <a:highlight>
                  <a:srgbClr val="1F1F1F"/>
                </a:highlight>
                <a:latin typeface="Courier New"/>
                <a:ea typeface="Courier New"/>
                <a:cs typeface="Courier New"/>
                <a:sym typeface="Courier New"/>
              </a:rPr>
              <a:t>AS</a:t>
            </a:r>
            <a:r>
              <a:rPr b="1" i="0" lang="en" sz="600" u="none" cap="none" strike="noStrike">
                <a:solidFill>
                  <a:srgbClr val="CCCCCC"/>
                </a:solidFill>
                <a:highlight>
                  <a:srgbClr val="1F1F1F"/>
                </a:highlight>
                <a:latin typeface="Courier New"/>
                <a:ea typeface="Courier New"/>
                <a:cs typeface="Courier New"/>
                <a:sym typeface="Courier New"/>
              </a:rPr>
              <a:t> avg_premium_ratio,</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DCDCAA"/>
                </a:solidFill>
                <a:highlight>
                  <a:srgbClr val="1F1F1F"/>
                </a:highlight>
                <a:latin typeface="Courier New"/>
                <a:ea typeface="Courier New"/>
                <a:cs typeface="Courier New"/>
                <a:sym typeface="Courier New"/>
              </a:rPr>
              <a:t>ROUND</a:t>
            </a:r>
            <a:r>
              <a:rPr b="1" i="0" lang="en" sz="600" u="none" cap="none" strike="noStrike">
                <a:solidFill>
                  <a:srgbClr val="CCCCCC"/>
                </a:solidFill>
                <a:highlight>
                  <a:srgbClr val="1F1F1F"/>
                </a:highlight>
                <a:latin typeface="Courier New"/>
                <a:ea typeface="Courier New"/>
                <a:cs typeface="Courier New"/>
                <a:sym typeface="Courier New"/>
              </a:rPr>
              <a:t>(</a:t>
            </a:r>
            <a:r>
              <a:rPr b="1" i="0" lang="en" sz="600" u="none" cap="none" strike="noStrike">
                <a:solidFill>
                  <a:srgbClr val="DCDCAA"/>
                </a:solidFill>
                <a:highlight>
                  <a:srgbClr val="1F1F1F"/>
                </a:highlight>
                <a:latin typeface="Courier New"/>
                <a:ea typeface="Courier New"/>
                <a:cs typeface="Courier New"/>
                <a:sym typeface="Courier New"/>
              </a:rPr>
              <a:t>MIN</a:t>
            </a:r>
            <a:r>
              <a:rPr b="1" i="0" lang="en" sz="600" u="none" cap="none" strike="noStrike">
                <a:solidFill>
                  <a:srgbClr val="CCCCCC"/>
                </a:solidFill>
                <a:highlight>
                  <a:srgbClr val="1F1F1F"/>
                </a:highlight>
                <a:latin typeface="Courier New"/>
                <a:ea typeface="Courier New"/>
                <a:cs typeface="Courier New"/>
                <a:sym typeface="Courier New"/>
              </a:rPr>
              <a:t>(fee_premium_ratio), </a:t>
            </a:r>
            <a:r>
              <a:rPr b="1" i="0" lang="en" sz="600" u="none" cap="none" strike="noStrike">
                <a:solidFill>
                  <a:srgbClr val="B5CEA8"/>
                </a:solidFill>
                <a:highlight>
                  <a:srgbClr val="1F1F1F"/>
                </a:highlight>
                <a:latin typeface="Courier New"/>
                <a:ea typeface="Courier New"/>
                <a:cs typeface="Courier New"/>
                <a:sym typeface="Courier New"/>
              </a:rPr>
              <a:t>3</a:t>
            </a: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569CD6"/>
                </a:solidFill>
                <a:highlight>
                  <a:srgbClr val="1F1F1F"/>
                </a:highlight>
                <a:latin typeface="Courier New"/>
                <a:ea typeface="Courier New"/>
                <a:cs typeface="Courier New"/>
                <a:sym typeface="Courier New"/>
              </a:rPr>
              <a:t>AS</a:t>
            </a:r>
            <a:r>
              <a:rPr b="1" i="0" lang="en" sz="600" u="none" cap="none" strike="noStrike">
                <a:solidFill>
                  <a:srgbClr val="CCCCCC"/>
                </a:solidFill>
                <a:highlight>
                  <a:srgbClr val="1F1F1F"/>
                </a:highlight>
                <a:latin typeface="Courier New"/>
                <a:ea typeface="Courier New"/>
                <a:cs typeface="Courier New"/>
                <a:sym typeface="Courier New"/>
              </a:rPr>
              <a:t> min_ratio,</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DCDCAA"/>
                </a:solidFill>
                <a:highlight>
                  <a:srgbClr val="1F1F1F"/>
                </a:highlight>
                <a:latin typeface="Courier New"/>
                <a:ea typeface="Courier New"/>
                <a:cs typeface="Courier New"/>
                <a:sym typeface="Courier New"/>
              </a:rPr>
              <a:t>ROUND</a:t>
            </a:r>
            <a:r>
              <a:rPr b="1" i="0" lang="en" sz="600" u="none" cap="none" strike="noStrike">
                <a:solidFill>
                  <a:srgbClr val="CCCCCC"/>
                </a:solidFill>
                <a:highlight>
                  <a:srgbClr val="1F1F1F"/>
                </a:highlight>
                <a:latin typeface="Courier New"/>
                <a:ea typeface="Courier New"/>
                <a:cs typeface="Courier New"/>
                <a:sym typeface="Courier New"/>
              </a:rPr>
              <a:t>(</a:t>
            </a:r>
            <a:r>
              <a:rPr b="1" i="0" lang="en" sz="600" u="none" cap="none" strike="noStrike">
                <a:solidFill>
                  <a:srgbClr val="DCDCAA"/>
                </a:solidFill>
                <a:highlight>
                  <a:srgbClr val="1F1F1F"/>
                </a:highlight>
                <a:latin typeface="Courier New"/>
                <a:ea typeface="Courier New"/>
                <a:cs typeface="Courier New"/>
                <a:sym typeface="Courier New"/>
              </a:rPr>
              <a:t>MAX</a:t>
            </a:r>
            <a:r>
              <a:rPr b="1" i="0" lang="en" sz="600" u="none" cap="none" strike="noStrike">
                <a:solidFill>
                  <a:srgbClr val="CCCCCC"/>
                </a:solidFill>
                <a:highlight>
                  <a:srgbClr val="1F1F1F"/>
                </a:highlight>
                <a:latin typeface="Courier New"/>
                <a:ea typeface="Courier New"/>
                <a:cs typeface="Courier New"/>
                <a:sym typeface="Courier New"/>
              </a:rPr>
              <a:t>(fee_premium_ratio), </a:t>
            </a:r>
            <a:r>
              <a:rPr b="1" i="0" lang="en" sz="600" u="none" cap="none" strike="noStrike">
                <a:solidFill>
                  <a:srgbClr val="B5CEA8"/>
                </a:solidFill>
                <a:highlight>
                  <a:srgbClr val="1F1F1F"/>
                </a:highlight>
                <a:latin typeface="Courier New"/>
                <a:ea typeface="Courier New"/>
                <a:cs typeface="Courier New"/>
                <a:sym typeface="Courier New"/>
              </a:rPr>
              <a:t>3</a:t>
            </a:r>
            <a:r>
              <a:rPr b="1" i="0" lang="en" sz="600" u="none" cap="none" strike="noStrike">
                <a:solidFill>
                  <a:srgbClr val="CCCCCC"/>
                </a:solidFill>
                <a:highlight>
                  <a:srgbClr val="1F1F1F"/>
                </a:highlight>
                <a:latin typeface="Courier New"/>
                <a:ea typeface="Courier New"/>
                <a:cs typeface="Courier New"/>
                <a:sym typeface="Courier New"/>
              </a:rPr>
              <a:t>) </a:t>
            </a:r>
            <a:r>
              <a:rPr b="1" i="0" lang="en" sz="600" u="none" cap="none" strike="noStrike">
                <a:solidFill>
                  <a:srgbClr val="569CD6"/>
                </a:solidFill>
                <a:highlight>
                  <a:srgbClr val="1F1F1F"/>
                </a:highlight>
                <a:latin typeface="Courier New"/>
                <a:ea typeface="Courier New"/>
                <a:cs typeface="Courier New"/>
                <a:sym typeface="Courier New"/>
              </a:rPr>
              <a:t>AS</a:t>
            </a:r>
            <a:r>
              <a:rPr b="1" i="0" lang="en" sz="600" u="none" cap="none" strike="noStrike">
                <a:solidFill>
                  <a:srgbClr val="CCCCCC"/>
                </a:solidFill>
                <a:highlight>
                  <a:srgbClr val="1F1F1F"/>
                </a:highlight>
                <a:latin typeface="Courier New"/>
                <a:ea typeface="Courier New"/>
                <a:cs typeface="Courier New"/>
                <a:sym typeface="Courier New"/>
              </a:rPr>
              <a:t> max_ratio</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569CD6"/>
                </a:solidFill>
                <a:highlight>
                  <a:srgbClr val="1F1F1F"/>
                </a:highlight>
                <a:latin typeface="Courier New"/>
                <a:ea typeface="Courier New"/>
                <a:cs typeface="Courier New"/>
                <a:sym typeface="Courier New"/>
              </a:rPr>
              <a:t>FROM</a:t>
            </a:r>
            <a:r>
              <a:rPr b="1" i="0" lang="en" sz="600" u="none" cap="none" strike="noStrike">
                <a:solidFill>
                  <a:srgbClr val="CCCCCC"/>
                </a:solidFill>
                <a:highlight>
                  <a:srgbClr val="1F1F1F"/>
                </a:highlight>
                <a:latin typeface="Courier New"/>
                <a:ea typeface="Courier New"/>
                <a:cs typeface="Courier New"/>
                <a:sym typeface="Courier New"/>
              </a:rPr>
              <a:t> premiums</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569CD6"/>
                </a:solidFill>
                <a:highlight>
                  <a:srgbClr val="1F1F1F"/>
                </a:highlight>
                <a:latin typeface="Courier New"/>
                <a:ea typeface="Courier New"/>
                <a:cs typeface="Courier New"/>
                <a:sym typeface="Courier New"/>
              </a:rPr>
              <a:t>GROUP BY</a:t>
            </a:r>
            <a:r>
              <a:rPr b="1" i="0" lang="en" sz="600" u="none" cap="none" strike="noStrike">
                <a:solidFill>
                  <a:srgbClr val="CCCCCC"/>
                </a:solidFill>
                <a:highlight>
                  <a:srgbClr val="1F1F1F"/>
                </a:highlight>
                <a:latin typeface="Courier New"/>
                <a:ea typeface="Courier New"/>
                <a:cs typeface="Courier New"/>
                <a:sym typeface="Courier New"/>
              </a:rPr>
              <a:t> country_of_birth</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rPr b="1" i="0" lang="en" sz="600" u="none" cap="none" strike="noStrike">
                <a:solidFill>
                  <a:srgbClr val="569CD6"/>
                </a:solidFill>
                <a:highlight>
                  <a:srgbClr val="1F1F1F"/>
                </a:highlight>
                <a:latin typeface="Courier New"/>
                <a:ea typeface="Courier New"/>
                <a:cs typeface="Courier New"/>
                <a:sym typeface="Courier New"/>
              </a:rPr>
              <a:t>ORDER BY</a:t>
            </a:r>
            <a:r>
              <a:rPr b="1" i="0" lang="en" sz="600" u="none" cap="none" strike="noStrike">
                <a:solidFill>
                  <a:srgbClr val="CCCCCC"/>
                </a:solidFill>
                <a:highlight>
                  <a:srgbClr val="1F1F1F"/>
                </a:highlight>
                <a:latin typeface="Courier New"/>
                <a:ea typeface="Courier New"/>
                <a:cs typeface="Courier New"/>
                <a:sym typeface="Courier New"/>
              </a:rPr>
              <a:t> avg_premium_ratio </a:t>
            </a:r>
            <a:r>
              <a:rPr b="1" i="0" lang="en" sz="600" u="none" cap="none" strike="noStrike">
                <a:solidFill>
                  <a:srgbClr val="569CD6"/>
                </a:solidFill>
                <a:highlight>
                  <a:srgbClr val="1F1F1F"/>
                </a:highlight>
                <a:latin typeface="Courier New"/>
                <a:ea typeface="Courier New"/>
                <a:cs typeface="Courier New"/>
                <a:sym typeface="Courier New"/>
              </a:rPr>
              <a:t>DESC</a:t>
            </a:r>
            <a:r>
              <a:rPr b="1" i="0" lang="en" sz="600" u="none" cap="none" strike="noStrike">
                <a:solidFill>
                  <a:srgbClr val="CCCCCC"/>
                </a:solidFill>
                <a:highlight>
                  <a:srgbClr val="1F1F1F"/>
                </a:highlight>
                <a:latin typeface="Courier New"/>
                <a:ea typeface="Courier New"/>
                <a:cs typeface="Courier New"/>
                <a:sym typeface="Courier New"/>
              </a:rPr>
              <a:t>;</a:t>
            </a:r>
            <a:endParaRPr b="1" i="0" sz="6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t/>
            </a:r>
            <a:endParaRPr b="1" i="0" sz="60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600"/>
              <a:buFont typeface="Arial"/>
              <a:buNone/>
            </a:pPr>
            <a:r>
              <a:t/>
            </a:r>
            <a:endParaRPr b="1" i="0" sz="60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2"/>
              </a:solidFill>
              <a:latin typeface="Nunito"/>
              <a:ea typeface="Nunito"/>
              <a:cs typeface="Nunito"/>
              <a:sym typeface="Nunito"/>
            </a:endParaRPr>
          </a:p>
        </p:txBody>
      </p:sp>
      <p:pic>
        <p:nvPicPr>
          <p:cNvPr id="432" name="Google Shape;432;p19"/>
          <p:cNvPicPr preferRelativeResize="0"/>
          <p:nvPr/>
        </p:nvPicPr>
        <p:blipFill rotWithShape="1">
          <a:blip r:embed="rId3">
            <a:alphaModFix/>
          </a:blip>
          <a:srcRect b="0" l="0" r="0" t="0"/>
          <a:stretch/>
        </p:blipFill>
        <p:spPr>
          <a:xfrm>
            <a:off x="5162200" y="1244375"/>
            <a:ext cx="3094401" cy="36882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0"/>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lang="en" sz="2100"/>
              <a:t>8. Which nationalities command a premium market value?</a:t>
            </a:r>
            <a:endParaRPr sz="2100"/>
          </a:p>
        </p:txBody>
      </p:sp>
      <p:sp>
        <p:nvSpPr>
          <p:cNvPr id="438" name="Google Shape;438;p20"/>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rgbClr val="6AA84F"/>
                </a:solidFill>
                <a:latin typeface="Maven Pro"/>
                <a:ea typeface="Maven Pro"/>
                <a:cs typeface="Maven Pro"/>
                <a:sym typeface="Maven Pro"/>
              </a:rPr>
              <a:t>League &amp; Geography Economics 🌍</a:t>
            </a:r>
            <a:endParaRPr b="1" i="0" sz="1766" u="none" cap="none" strike="noStrike">
              <a:solidFill>
                <a:srgbClr val="6AA84F"/>
              </a:solidFill>
              <a:latin typeface="Maven Pro"/>
              <a:ea typeface="Maven Pro"/>
              <a:cs typeface="Maven Pro"/>
              <a:sym typeface="Maven Pro"/>
            </a:endParaRPr>
          </a:p>
        </p:txBody>
      </p:sp>
      <p:pic>
        <p:nvPicPr>
          <p:cNvPr id="439" name="Google Shape;439;p20"/>
          <p:cNvPicPr preferRelativeResize="0"/>
          <p:nvPr/>
        </p:nvPicPr>
        <p:blipFill rotWithShape="1">
          <a:blip r:embed="rId3">
            <a:alphaModFix/>
          </a:blip>
          <a:srcRect b="0" l="0" r="0" t="0"/>
          <a:stretch/>
        </p:blipFill>
        <p:spPr>
          <a:xfrm>
            <a:off x="2135225" y="1597875"/>
            <a:ext cx="4873544" cy="32408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21"/>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lang="en" sz="2100"/>
              <a:t>9. How does a player's market value evolve after moving to a bigger or smaller league?</a:t>
            </a:r>
            <a:endParaRPr sz="2100"/>
          </a:p>
        </p:txBody>
      </p:sp>
      <p:sp>
        <p:nvSpPr>
          <p:cNvPr id="445" name="Google Shape;445;p21"/>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rgbClr val="DE935F"/>
                </a:solidFill>
                <a:latin typeface="Maven Pro"/>
                <a:ea typeface="Maven Pro"/>
                <a:cs typeface="Maven Pro"/>
                <a:sym typeface="Maven Pro"/>
              </a:rPr>
              <a:t>Career &amp; Value Trajectories</a:t>
            </a:r>
            <a:r>
              <a:rPr b="1" i="0" lang="en" sz="1766" u="none" cap="none" strike="noStrike">
                <a:solidFill>
                  <a:srgbClr val="6AA84F"/>
                </a:solidFill>
                <a:latin typeface="Maven Pro"/>
                <a:ea typeface="Maven Pro"/>
                <a:cs typeface="Maven Pro"/>
                <a:sym typeface="Maven Pro"/>
              </a:rPr>
              <a:t> 🔀</a:t>
            </a:r>
            <a:endParaRPr b="1" i="0" sz="1766" u="none" cap="none" strike="noStrike">
              <a:solidFill>
                <a:srgbClr val="6AA84F"/>
              </a:solidFill>
              <a:latin typeface="Maven Pro"/>
              <a:ea typeface="Maven Pro"/>
              <a:cs typeface="Maven Pro"/>
              <a:sym typeface="Maven Pro"/>
            </a:endParaRPr>
          </a:p>
        </p:txBody>
      </p:sp>
      <p:sp>
        <p:nvSpPr>
          <p:cNvPr id="446" name="Google Shape;446;p21"/>
          <p:cNvSpPr txBox="1"/>
          <p:nvPr/>
        </p:nvSpPr>
        <p:spPr>
          <a:xfrm>
            <a:off x="499400" y="1631725"/>
            <a:ext cx="3372900" cy="3300900"/>
          </a:xfrm>
          <a:prstGeom prst="rect">
            <a:avLst/>
          </a:prstGeom>
          <a:noFill/>
          <a:ln>
            <a:noFill/>
          </a:ln>
        </p:spPr>
        <p:txBody>
          <a:bodyPr anchorCtr="0" anchor="t" bIns="91425" lIns="91425" spcFirstLastPara="1" rIns="91425" wrap="square" tIns="91425">
            <a:noAutofit/>
          </a:bodyPr>
          <a:lstStyle/>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569CD6"/>
                </a:solidFill>
                <a:highlight>
                  <a:srgbClr val="1F1F1F"/>
                </a:highlight>
                <a:latin typeface="Courier New"/>
                <a:ea typeface="Courier New"/>
                <a:cs typeface="Courier New"/>
                <a:sym typeface="Courier New"/>
              </a:rPr>
              <a:t>WITH</a:t>
            </a:r>
            <a:r>
              <a:rPr b="1" i="0" lang="en" sz="550" u="none" cap="none" strike="noStrike">
                <a:solidFill>
                  <a:srgbClr val="CCCCCC"/>
                </a:solidFill>
                <a:highlight>
                  <a:srgbClr val="1F1F1F"/>
                </a:highlight>
                <a:latin typeface="Courier New"/>
                <a:ea typeface="Courier New"/>
                <a:cs typeface="Courier New"/>
                <a:sym typeface="Courier New"/>
              </a:rPr>
              <a:t> transfer_leagues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SELECT</a:t>
            </a:r>
            <a:r>
              <a:rPr b="1" i="0" lang="en" sz="550" u="none" cap="none" strike="noStrike">
                <a:solidFill>
                  <a:srgbClr val="CCCCCC"/>
                </a:solidFill>
                <a:highlight>
                  <a:srgbClr val="1F1F1F"/>
                </a:highlight>
                <a:latin typeface="Courier New"/>
                <a:ea typeface="Courier New"/>
                <a:cs typeface="Courier New"/>
                <a:sym typeface="Courier New"/>
              </a:rPr>
              <a:t> t.player_id, t.transfer_date, t.value_at_transfer, t.from_team_id, t.to_team_id, d_from.competition_id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from_league, d_to.competition_id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to_league</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FROM</a:t>
            </a:r>
            <a:r>
              <a:rPr b="1" i="0" lang="en" sz="550" u="none" cap="none" strike="noStrike">
                <a:solidFill>
                  <a:srgbClr val="CCCCCC"/>
                </a:solidFill>
                <a:highlight>
                  <a:srgbClr val="1F1F1F"/>
                </a:highlight>
                <a:latin typeface="Courier New"/>
                <a:ea typeface="Courier New"/>
                <a:cs typeface="Courier New"/>
                <a:sym typeface="Courier New"/>
              </a:rPr>
              <a:t> transfer_history t</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LEFT JOIN</a:t>
            </a:r>
            <a:r>
              <a:rPr b="1" i="0" lang="en" sz="550" u="none" cap="none" strike="noStrike">
                <a:solidFill>
                  <a:srgbClr val="CCCCCC"/>
                </a:solidFill>
                <a:highlight>
                  <a:srgbClr val="1F1F1F"/>
                </a:highlight>
                <a:latin typeface="Courier New"/>
                <a:ea typeface="Courier New"/>
                <a:cs typeface="Courier New"/>
                <a:sym typeface="Courier New"/>
              </a:rPr>
              <a:t> team_details d_from </a:t>
            </a:r>
            <a:r>
              <a:rPr b="1" i="0" lang="en" sz="550" u="none" cap="none" strike="noStrike">
                <a:solidFill>
                  <a:srgbClr val="569CD6"/>
                </a:solidFill>
                <a:highlight>
                  <a:srgbClr val="1F1F1F"/>
                </a:highlight>
                <a:latin typeface="Courier New"/>
                <a:ea typeface="Courier New"/>
                <a:cs typeface="Courier New"/>
                <a:sym typeface="Courier New"/>
              </a:rPr>
              <a:t>ON</a:t>
            </a:r>
            <a:r>
              <a:rPr b="1" i="0" lang="en" sz="550" u="none" cap="none" strike="noStrike">
                <a:solidFill>
                  <a:srgbClr val="CCCCCC"/>
                </a:solidFill>
                <a:highlight>
                  <a:srgbClr val="1F1F1F"/>
                </a:highlight>
                <a:latin typeface="Courier New"/>
                <a:ea typeface="Courier New"/>
                <a:cs typeface="Courier New"/>
                <a:sym typeface="Courier New"/>
              </a:rPr>
              <a:t> t.from_team_id </a:t>
            </a:r>
            <a:r>
              <a:rPr b="1" i="0" lang="en" sz="550" u="none" cap="none" strike="noStrike">
                <a:solidFill>
                  <a:srgbClr val="D4D4D4"/>
                </a:solidFill>
                <a:highlight>
                  <a:srgbClr val="1F1F1F"/>
                </a:highlight>
                <a:latin typeface="Courier New"/>
                <a:ea typeface="Courier New"/>
                <a:cs typeface="Courier New"/>
                <a:sym typeface="Courier New"/>
              </a:rPr>
              <a:t>=</a:t>
            </a:r>
            <a:r>
              <a:rPr b="1" i="0" lang="en" sz="550" u="none" cap="none" strike="noStrike">
                <a:solidFill>
                  <a:srgbClr val="CCCCCC"/>
                </a:solidFill>
                <a:highlight>
                  <a:srgbClr val="1F1F1F"/>
                </a:highlight>
                <a:latin typeface="Courier New"/>
                <a:ea typeface="Courier New"/>
                <a:cs typeface="Courier New"/>
                <a:sym typeface="Courier New"/>
              </a:rPr>
              <a:t> d_from.club_id</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LEFT JOIN</a:t>
            </a:r>
            <a:r>
              <a:rPr b="1" i="0" lang="en" sz="550" u="none" cap="none" strike="noStrike">
                <a:solidFill>
                  <a:srgbClr val="CCCCCC"/>
                </a:solidFill>
                <a:highlight>
                  <a:srgbClr val="1F1F1F"/>
                </a:highlight>
                <a:latin typeface="Courier New"/>
                <a:ea typeface="Courier New"/>
                <a:cs typeface="Courier New"/>
                <a:sym typeface="Courier New"/>
              </a:rPr>
              <a:t> team_details d_to   </a:t>
            </a:r>
            <a:r>
              <a:rPr b="1" i="0" lang="en" sz="550" u="none" cap="none" strike="noStrike">
                <a:solidFill>
                  <a:srgbClr val="569CD6"/>
                </a:solidFill>
                <a:highlight>
                  <a:srgbClr val="1F1F1F"/>
                </a:highlight>
                <a:latin typeface="Courier New"/>
                <a:ea typeface="Courier New"/>
                <a:cs typeface="Courier New"/>
                <a:sym typeface="Courier New"/>
              </a:rPr>
              <a:t>ON</a:t>
            </a:r>
            <a:r>
              <a:rPr b="1" i="0" lang="en" sz="550" u="none" cap="none" strike="noStrike">
                <a:solidFill>
                  <a:srgbClr val="CCCCCC"/>
                </a:solidFill>
                <a:highlight>
                  <a:srgbClr val="1F1F1F"/>
                </a:highlight>
                <a:latin typeface="Courier New"/>
                <a:ea typeface="Courier New"/>
                <a:cs typeface="Courier New"/>
                <a:sym typeface="Courier New"/>
              </a:rPr>
              <a:t> t.to_team_id   </a:t>
            </a:r>
            <a:r>
              <a:rPr b="1" i="0" lang="en" sz="550" u="none" cap="none" strike="noStrike">
                <a:solidFill>
                  <a:srgbClr val="D4D4D4"/>
                </a:solidFill>
                <a:highlight>
                  <a:srgbClr val="1F1F1F"/>
                </a:highlight>
                <a:latin typeface="Courier New"/>
                <a:ea typeface="Courier New"/>
                <a:cs typeface="Courier New"/>
                <a:sym typeface="Courier New"/>
              </a:rPr>
              <a:t>=</a:t>
            </a:r>
            <a:r>
              <a:rPr b="1" i="0" lang="en" sz="550" u="none" cap="none" strike="noStrike">
                <a:solidFill>
                  <a:srgbClr val="CCCCCC"/>
                </a:solidFill>
                <a:highlight>
                  <a:srgbClr val="1F1F1F"/>
                </a:highlight>
                <a:latin typeface="Courier New"/>
                <a:ea typeface="Courier New"/>
                <a:cs typeface="Courier New"/>
                <a:sym typeface="Courier New"/>
              </a:rPr>
              <a:t> d_to.club_id</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WHERE</a:t>
            </a:r>
            <a:r>
              <a:rPr b="1" i="0" lang="en" sz="550" u="none" cap="none" strike="noStrike">
                <a:solidFill>
                  <a:srgbClr val="CCCCCC"/>
                </a:solidFill>
                <a:highlight>
                  <a:srgbClr val="1F1F1F"/>
                </a:highlight>
                <a:latin typeface="Courier New"/>
                <a:ea typeface="Courier New"/>
                <a:cs typeface="Courier New"/>
                <a:sym typeface="Courier New"/>
              </a:rPr>
              <a:t> t.value_at_transfer </a:t>
            </a:r>
            <a:r>
              <a:rPr b="1" i="0" lang="en" sz="550" u="none" cap="none" strike="noStrike">
                <a:solidFill>
                  <a:srgbClr val="D4D4D4"/>
                </a:solidFill>
                <a:highlight>
                  <a:srgbClr val="1F1F1F"/>
                </a:highlight>
                <a:latin typeface="Courier New"/>
                <a:ea typeface="Courier New"/>
                <a:cs typeface="Courier New"/>
                <a:sym typeface="Courier New"/>
              </a:rPr>
              <a:t>&gt;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B5CEA8"/>
                </a:solidFill>
                <a:highlight>
                  <a:srgbClr val="1F1F1F"/>
                </a:highlight>
                <a:latin typeface="Courier New"/>
                <a:ea typeface="Courier New"/>
                <a:cs typeface="Courier New"/>
                <a:sym typeface="Courier New"/>
              </a:rPr>
              <a:t>0</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AND</a:t>
            </a:r>
            <a:r>
              <a:rPr b="1" i="0" lang="en" sz="550" u="none" cap="none" strike="noStrike">
                <a:solidFill>
                  <a:srgbClr val="CCCCCC"/>
                </a:solidFill>
                <a:highlight>
                  <a:srgbClr val="1F1F1F"/>
                </a:highlight>
                <a:latin typeface="Courier New"/>
                <a:ea typeface="Courier New"/>
                <a:cs typeface="Courier New"/>
                <a:sym typeface="Courier New"/>
              </a:rPr>
              <a:t> t.value_at_transfer </a:t>
            </a:r>
            <a:r>
              <a:rPr b="1" i="0" lang="en" sz="550" u="none" cap="none" strike="noStrike">
                <a:solidFill>
                  <a:srgbClr val="569CD6"/>
                </a:solidFill>
                <a:highlight>
                  <a:srgbClr val="1F1F1F"/>
                </a:highlight>
                <a:latin typeface="Courier New"/>
                <a:ea typeface="Courier New"/>
                <a:cs typeface="Courier New"/>
                <a:sym typeface="Courier New"/>
              </a:rPr>
              <a:t>IS NOT NULL</a:t>
            </a:r>
            <a:r>
              <a:rPr b="1" i="0" lang="en" sz="550" u="none" cap="none" strike="noStrike">
                <a:solidFill>
                  <a:srgbClr val="CCCCCC"/>
                </a:solidFill>
                <a:highlight>
                  <a:srgbClr val="1F1F1F"/>
                </a:highlight>
                <a:latin typeface="Courier New"/>
                <a:ea typeface="Courier New"/>
                <a:cs typeface="Courier New"/>
                <a:sym typeface="Courier New"/>
              </a:rPr>
              <a:t>),</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classified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SELECT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D4D4D4"/>
                </a:solidFill>
                <a:highlight>
                  <a:srgbClr val="1F1F1F"/>
                </a:highlight>
                <a:latin typeface="Courier New"/>
                <a:ea typeface="Courier New"/>
                <a:cs typeface="Courier New"/>
                <a:sym typeface="Courier New"/>
              </a:rPr>
              <a:t>*</a:t>
            </a:r>
            <a:r>
              <a:rPr b="1" i="0" lang="en" sz="550" u="none" cap="none" strike="noStrike">
                <a:solidFill>
                  <a:srgbClr val="CCCCCC"/>
                </a:solidFill>
                <a:highlight>
                  <a:srgbClr val="1F1F1F"/>
                </a:highlight>
                <a:latin typeface="Courier New"/>
                <a:ea typeface="Courier New"/>
                <a:cs typeface="Courier New"/>
                <a:sym typeface="Courier New"/>
              </a:rPr>
              <a:t>,</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CASE</a:t>
            </a:r>
            <a:endParaRPr b="1" i="0" sz="55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WHEN</a:t>
            </a:r>
            <a:r>
              <a:rPr b="1" i="0" lang="en" sz="550" u="none" cap="none" strike="noStrike">
                <a:solidFill>
                  <a:srgbClr val="CCCCCC"/>
                </a:solidFill>
                <a:highlight>
                  <a:srgbClr val="1F1F1F"/>
                </a:highlight>
                <a:latin typeface="Courier New"/>
                <a:ea typeface="Courier New"/>
                <a:cs typeface="Courier New"/>
                <a:sym typeface="Courier New"/>
              </a:rPr>
              <a:t> from_league </a:t>
            </a:r>
            <a:r>
              <a:rPr b="1" i="0" lang="en" sz="550" u="none" cap="none" strike="noStrike">
                <a:solidFill>
                  <a:srgbClr val="569CD6"/>
                </a:solidFill>
                <a:highlight>
                  <a:srgbClr val="1F1F1F"/>
                </a:highlight>
                <a:latin typeface="Courier New"/>
                <a:ea typeface="Courier New"/>
                <a:cs typeface="Courier New"/>
                <a:sym typeface="Courier New"/>
              </a:rPr>
              <a:t>NOT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IN</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CE9178"/>
                </a:solidFill>
                <a:highlight>
                  <a:srgbClr val="1F1F1F"/>
                </a:highlight>
                <a:latin typeface="Courier New"/>
                <a:ea typeface="Courier New"/>
                <a:cs typeface="Courier New"/>
                <a:sym typeface="Courier New"/>
              </a:rPr>
              <a:t>'ES1'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CE9178"/>
                </a:solidFill>
                <a:highlight>
                  <a:srgbClr val="1F1F1F"/>
                </a:highlight>
                <a:latin typeface="Courier New"/>
                <a:ea typeface="Courier New"/>
                <a:cs typeface="Courier New"/>
                <a:sym typeface="Courier New"/>
              </a:rPr>
              <a:t>'GB1'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CE9178"/>
                </a:solidFill>
                <a:highlight>
                  <a:srgbClr val="1F1F1F"/>
                </a:highlight>
                <a:latin typeface="Courier New"/>
                <a:ea typeface="Courier New"/>
                <a:cs typeface="Courier New"/>
                <a:sym typeface="Courier New"/>
              </a:rPr>
              <a:t>'FR1'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CE9178"/>
                </a:solidFill>
                <a:highlight>
                  <a:srgbClr val="1F1F1F"/>
                </a:highlight>
                <a:latin typeface="Courier New"/>
                <a:ea typeface="Courier New"/>
                <a:cs typeface="Courier New"/>
                <a:sym typeface="Courier New"/>
              </a:rPr>
              <a:t>'L1'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CE9178"/>
                </a:solidFill>
                <a:highlight>
                  <a:srgbClr val="1F1F1F"/>
                </a:highlight>
                <a:latin typeface="Courier New"/>
                <a:ea typeface="Courier New"/>
                <a:cs typeface="Courier New"/>
                <a:sym typeface="Courier New"/>
              </a:rPr>
              <a:t>'IT1'</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AND</a:t>
            </a:r>
            <a:r>
              <a:rPr b="1" i="0" lang="en" sz="550" u="none" cap="none" strike="noStrike">
                <a:solidFill>
                  <a:srgbClr val="CCCCCC"/>
                </a:solidFill>
                <a:highlight>
                  <a:srgbClr val="1F1F1F"/>
                </a:highlight>
                <a:latin typeface="Courier New"/>
                <a:ea typeface="Courier New"/>
                <a:cs typeface="Courier New"/>
                <a:sym typeface="Courier New"/>
              </a:rPr>
              <a:t> to_league </a:t>
            </a:r>
            <a:r>
              <a:rPr b="1" i="0" lang="en" sz="550" u="none" cap="none" strike="noStrike">
                <a:solidFill>
                  <a:srgbClr val="569CD6"/>
                </a:solidFill>
                <a:highlight>
                  <a:srgbClr val="1F1F1F"/>
                </a:highlight>
                <a:latin typeface="Courier New"/>
                <a:ea typeface="Courier New"/>
                <a:cs typeface="Courier New"/>
                <a:sym typeface="Courier New"/>
              </a:rPr>
              <a:t>IN</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CE9178"/>
                </a:solidFill>
                <a:highlight>
                  <a:srgbClr val="1F1F1F"/>
                </a:highlight>
                <a:latin typeface="Courier New"/>
                <a:ea typeface="Courier New"/>
                <a:cs typeface="Courier New"/>
                <a:sym typeface="Courier New"/>
              </a:rPr>
              <a:t>'ES1'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CE9178"/>
                </a:solidFill>
                <a:highlight>
                  <a:srgbClr val="1F1F1F"/>
                </a:highlight>
                <a:latin typeface="Courier New"/>
                <a:ea typeface="Courier New"/>
                <a:cs typeface="Courier New"/>
                <a:sym typeface="Courier New"/>
              </a:rPr>
              <a:t>'GB1'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CE9178"/>
                </a:solidFill>
                <a:highlight>
                  <a:srgbClr val="1F1F1F"/>
                </a:highlight>
                <a:latin typeface="Courier New"/>
                <a:ea typeface="Courier New"/>
                <a:cs typeface="Courier New"/>
                <a:sym typeface="Courier New"/>
              </a:rPr>
              <a:t>'FR1'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CE9178"/>
                </a:solidFill>
                <a:highlight>
                  <a:srgbClr val="1F1F1F"/>
                </a:highlight>
                <a:latin typeface="Courier New"/>
                <a:ea typeface="Courier New"/>
                <a:cs typeface="Courier New"/>
                <a:sym typeface="Courier New"/>
              </a:rPr>
              <a:t>'L1'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CE9178"/>
                </a:solidFill>
                <a:highlight>
                  <a:srgbClr val="1F1F1F"/>
                </a:highlight>
                <a:latin typeface="Courier New"/>
                <a:ea typeface="Courier New"/>
                <a:cs typeface="Courier New"/>
                <a:sym typeface="Courier New"/>
              </a:rPr>
              <a:t>'IT1'</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THEN</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CE9178"/>
                </a:solidFill>
                <a:highlight>
                  <a:srgbClr val="1F1F1F"/>
                </a:highlight>
                <a:latin typeface="Courier New"/>
                <a:ea typeface="Courier New"/>
                <a:cs typeface="Courier New"/>
                <a:sym typeface="Courier New"/>
              </a:rPr>
              <a:t>'step_up'</a:t>
            </a:r>
            <a:endParaRPr b="1" i="0" sz="550" u="none" cap="none" strike="noStrike">
              <a:solidFill>
                <a:srgbClr val="CE917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WHEN</a:t>
            </a:r>
            <a:r>
              <a:rPr b="1" i="0" lang="en" sz="550" u="none" cap="none" strike="noStrike">
                <a:solidFill>
                  <a:srgbClr val="CCCCCC"/>
                </a:solidFill>
                <a:highlight>
                  <a:srgbClr val="1F1F1F"/>
                </a:highlight>
                <a:latin typeface="Courier New"/>
                <a:ea typeface="Courier New"/>
                <a:cs typeface="Courier New"/>
                <a:sym typeface="Courier New"/>
              </a:rPr>
              <a:t> from_league </a:t>
            </a:r>
            <a:r>
              <a:rPr b="1" i="0" lang="en" sz="550" u="none" cap="none" strike="noStrike">
                <a:solidFill>
                  <a:srgbClr val="569CD6"/>
                </a:solidFill>
                <a:highlight>
                  <a:srgbClr val="1F1F1F"/>
                </a:highlight>
                <a:latin typeface="Courier New"/>
                <a:ea typeface="Courier New"/>
                <a:cs typeface="Courier New"/>
                <a:sym typeface="Courier New"/>
              </a:rPr>
              <a:t>IN</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CE9178"/>
                </a:solidFill>
                <a:highlight>
                  <a:srgbClr val="1F1F1F"/>
                </a:highlight>
                <a:latin typeface="Courier New"/>
                <a:ea typeface="Courier New"/>
                <a:cs typeface="Courier New"/>
                <a:sym typeface="Courier New"/>
              </a:rPr>
              <a:t>'ES1'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CE9178"/>
                </a:solidFill>
                <a:highlight>
                  <a:srgbClr val="1F1F1F"/>
                </a:highlight>
                <a:latin typeface="Courier New"/>
                <a:ea typeface="Courier New"/>
                <a:cs typeface="Courier New"/>
                <a:sym typeface="Courier New"/>
              </a:rPr>
              <a:t>'GB1'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CE9178"/>
                </a:solidFill>
                <a:highlight>
                  <a:srgbClr val="1F1F1F"/>
                </a:highlight>
                <a:latin typeface="Courier New"/>
                <a:ea typeface="Courier New"/>
                <a:cs typeface="Courier New"/>
                <a:sym typeface="Courier New"/>
              </a:rPr>
              <a:t>'FR1'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CE9178"/>
                </a:solidFill>
                <a:highlight>
                  <a:srgbClr val="1F1F1F"/>
                </a:highlight>
                <a:latin typeface="Courier New"/>
                <a:ea typeface="Courier New"/>
                <a:cs typeface="Courier New"/>
                <a:sym typeface="Courier New"/>
              </a:rPr>
              <a:t>'L1'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CE9178"/>
                </a:solidFill>
                <a:highlight>
                  <a:srgbClr val="1F1F1F"/>
                </a:highlight>
                <a:latin typeface="Courier New"/>
                <a:ea typeface="Courier New"/>
                <a:cs typeface="Courier New"/>
                <a:sym typeface="Courier New"/>
              </a:rPr>
              <a:t>'IT1'</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AND</a:t>
            </a:r>
            <a:r>
              <a:rPr b="1" i="0" lang="en" sz="550" u="none" cap="none" strike="noStrike">
                <a:solidFill>
                  <a:srgbClr val="CCCCCC"/>
                </a:solidFill>
                <a:highlight>
                  <a:srgbClr val="1F1F1F"/>
                </a:highlight>
                <a:latin typeface="Courier New"/>
                <a:ea typeface="Courier New"/>
                <a:cs typeface="Courier New"/>
                <a:sym typeface="Courier New"/>
              </a:rPr>
              <a:t> to_league </a:t>
            </a:r>
            <a:r>
              <a:rPr b="1" i="0" lang="en" sz="550" u="none" cap="none" strike="noStrike">
                <a:solidFill>
                  <a:srgbClr val="569CD6"/>
                </a:solidFill>
                <a:highlight>
                  <a:srgbClr val="1F1F1F"/>
                </a:highlight>
                <a:latin typeface="Courier New"/>
                <a:ea typeface="Courier New"/>
                <a:cs typeface="Courier New"/>
                <a:sym typeface="Courier New"/>
              </a:rPr>
              <a:t>NOT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IN</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CE9178"/>
                </a:solidFill>
                <a:highlight>
                  <a:srgbClr val="1F1F1F"/>
                </a:highlight>
                <a:latin typeface="Courier New"/>
                <a:ea typeface="Courier New"/>
                <a:cs typeface="Courier New"/>
                <a:sym typeface="Courier New"/>
              </a:rPr>
              <a:t>'ES1'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CE9178"/>
                </a:solidFill>
                <a:highlight>
                  <a:srgbClr val="1F1F1F"/>
                </a:highlight>
                <a:latin typeface="Courier New"/>
                <a:ea typeface="Courier New"/>
                <a:cs typeface="Courier New"/>
                <a:sym typeface="Courier New"/>
              </a:rPr>
              <a:t>'GB1'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CE9178"/>
                </a:solidFill>
                <a:highlight>
                  <a:srgbClr val="1F1F1F"/>
                </a:highlight>
                <a:latin typeface="Courier New"/>
                <a:ea typeface="Courier New"/>
                <a:cs typeface="Courier New"/>
                <a:sym typeface="Courier New"/>
              </a:rPr>
              <a:t>'FR1'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CE9178"/>
                </a:solidFill>
                <a:highlight>
                  <a:srgbClr val="1F1F1F"/>
                </a:highlight>
                <a:latin typeface="Courier New"/>
                <a:ea typeface="Courier New"/>
                <a:cs typeface="Courier New"/>
                <a:sym typeface="Courier New"/>
              </a:rPr>
              <a:t>'L1'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CE9178"/>
                </a:solidFill>
                <a:highlight>
                  <a:srgbClr val="1F1F1F"/>
                </a:highlight>
                <a:latin typeface="Courier New"/>
                <a:ea typeface="Courier New"/>
                <a:cs typeface="Courier New"/>
                <a:sym typeface="Courier New"/>
              </a:rPr>
              <a:t>'IT1'</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THEN</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CE9178"/>
                </a:solidFill>
                <a:highlight>
                  <a:srgbClr val="1F1F1F"/>
                </a:highlight>
                <a:latin typeface="Courier New"/>
                <a:ea typeface="Courier New"/>
                <a:cs typeface="Courier New"/>
                <a:sym typeface="Courier New"/>
              </a:rPr>
              <a:t>'step_down'</a:t>
            </a:r>
            <a:endParaRPr b="1" i="0" sz="550" u="none" cap="none" strike="noStrike">
              <a:solidFill>
                <a:srgbClr val="CE917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END</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move_type</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FROM</a:t>
            </a:r>
            <a:r>
              <a:rPr b="1" i="0" lang="en" sz="550" u="none" cap="none" strike="noStrike">
                <a:solidFill>
                  <a:srgbClr val="CCCCCC"/>
                </a:solidFill>
                <a:highlight>
                  <a:srgbClr val="1F1F1F"/>
                </a:highlight>
                <a:latin typeface="Courier New"/>
                <a:ea typeface="Courier New"/>
                <a:cs typeface="Courier New"/>
                <a:sym typeface="Courier New"/>
              </a:rPr>
              <a:t> transfer_leagues</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WHERE</a:t>
            </a:r>
            <a:r>
              <a:rPr b="1" i="0" lang="en" sz="550" u="none" cap="none" strike="noStrike">
                <a:solidFill>
                  <a:srgbClr val="CCCCCC"/>
                </a:solidFill>
                <a:highlight>
                  <a:srgbClr val="1F1F1F"/>
                </a:highlight>
                <a:latin typeface="Courier New"/>
                <a:ea typeface="Courier New"/>
                <a:cs typeface="Courier New"/>
                <a:sym typeface="Courier New"/>
              </a:rPr>
              <a:t> from_league </a:t>
            </a:r>
            <a:r>
              <a:rPr b="1" i="0" lang="en" sz="550" u="none" cap="none" strike="noStrike">
                <a:solidFill>
                  <a:srgbClr val="569CD6"/>
                </a:solidFill>
                <a:highlight>
                  <a:srgbClr val="1F1F1F"/>
                </a:highlight>
                <a:latin typeface="Courier New"/>
                <a:ea typeface="Courier New"/>
                <a:cs typeface="Courier New"/>
                <a:sym typeface="Courier New"/>
              </a:rPr>
              <a:t>IS NOT NULL</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AND</a:t>
            </a:r>
            <a:r>
              <a:rPr b="1" i="0" lang="en" sz="550" u="none" cap="none" strike="noStrike">
                <a:solidFill>
                  <a:srgbClr val="CCCCCC"/>
                </a:solidFill>
                <a:highlight>
                  <a:srgbClr val="1F1F1F"/>
                </a:highlight>
                <a:latin typeface="Courier New"/>
                <a:ea typeface="Courier New"/>
                <a:cs typeface="Courier New"/>
                <a:sym typeface="Courier New"/>
              </a:rPr>
              <a:t> to_league </a:t>
            </a:r>
            <a:r>
              <a:rPr b="1" i="0" lang="en" sz="550" u="none" cap="none" strike="noStrike">
                <a:solidFill>
                  <a:srgbClr val="569CD6"/>
                </a:solidFill>
                <a:highlight>
                  <a:srgbClr val="1F1F1F"/>
                </a:highlight>
                <a:latin typeface="Courier New"/>
                <a:ea typeface="Courier New"/>
                <a:cs typeface="Courier New"/>
                <a:sym typeface="Courier New"/>
              </a:rPr>
              <a:t>IS NOT NULL</a:t>
            </a:r>
            <a:r>
              <a:rPr b="1" i="0" lang="en" sz="550" u="none" cap="none" strike="noStrike">
                <a:solidFill>
                  <a:srgbClr val="CCCCCC"/>
                </a:solidFill>
                <a:highlight>
                  <a:srgbClr val="1F1F1F"/>
                </a:highlight>
                <a:latin typeface="Courier New"/>
                <a:ea typeface="Courier New"/>
                <a:cs typeface="Courier New"/>
                <a:sym typeface="Courier New"/>
              </a:rPr>
              <a:t>),</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with_next_value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SELECT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D4D4D4"/>
                </a:solidFill>
                <a:highlight>
                  <a:srgbClr val="1F1F1F"/>
                </a:highlight>
                <a:latin typeface="Courier New"/>
                <a:ea typeface="Courier New"/>
                <a:cs typeface="Courier New"/>
                <a:sym typeface="Courier New"/>
              </a:rPr>
              <a: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DCDCAA"/>
                </a:solidFill>
                <a:highlight>
                  <a:srgbClr val="1F1F1F"/>
                </a:highlight>
                <a:latin typeface="Courier New"/>
                <a:ea typeface="Courier New"/>
                <a:cs typeface="Courier New"/>
                <a:sym typeface="Courier New"/>
              </a:rPr>
              <a:t>LEAD</a:t>
            </a:r>
            <a:r>
              <a:rPr b="1" i="0" lang="en" sz="550" u="none" cap="none" strike="noStrike">
                <a:solidFill>
                  <a:srgbClr val="CCCCCC"/>
                </a:solidFill>
                <a:highlight>
                  <a:srgbClr val="1F1F1F"/>
                </a:highlight>
                <a:latin typeface="Courier New"/>
                <a:ea typeface="Courier New"/>
                <a:cs typeface="Courier New"/>
                <a:sym typeface="Courier New"/>
              </a:rPr>
              <a:t>(value_at_transfer) </a:t>
            </a:r>
            <a:r>
              <a:rPr b="1" i="0" lang="en" sz="550" u="none" cap="none" strike="noStrike">
                <a:solidFill>
                  <a:srgbClr val="569CD6"/>
                </a:solidFill>
                <a:highlight>
                  <a:srgbClr val="1F1F1F"/>
                </a:highlight>
                <a:latin typeface="Courier New"/>
                <a:ea typeface="Courier New"/>
                <a:cs typeface="Courier New"/>
                <a:sym typeface="Courier New"/>
              </a:rPr>
              <a:t>OVER</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PARTITION</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BY</a:t>
            </a:r>
            <a:r>
              <a:rPr b="1" i="0" lang="en" sz="550" u="none" cap="none" strike="noStrike">
                <a:solidFill>
                  <a:srgbClr val="CCCCCC"/>
                </a:solidFill>
                <a:highlight>
                  <a:srgbClr val="1F1F1F"/>
                </a:highlight>
                <a:latin typeface="Courier New"/>
                <a:ea typeface="Courier New"/>
                <a:cs typeface="Courier New"/>
                <a:sym typeface="Courier New"/>
              </a:rPr>
              <a:t> player_id </a:t>
            </a:r>
            <a:r>
              <a:rPr b="1" i="0" lang="en" sz="550" u="none" cap="none" strike="noStrike">
                <a:solidFill>
                  <a:srgbClr val="569CD6"/>
                </a:solidFill>
                <a:highlight>
                  <a:srgbClr val="1F1F1F"/>
                </a:highlight>
                <a:latin typeface="Courier New"/>
                <a:ea typeface="Courier New"/>
                <a:cs typeface="Courier New"/>
                <a:sym typeface="Courier New"/>
              </a:rPr>
              <a:t>ORDER BY</a:t>
            </a:r>
            <a:r>
              <a:rPr b="1" i="0" lang="en" sz="550" u="none" cap="none" strike="noStrike">
                <a:solidFill>
                  <a:srgbClr val="CCCCCC"/>
                </a:solidFill>
                <a:highlight>
                  <a:srgbClr val="1F1F1F"/>
                </a:highlight>
                <a:latin typeface="Courier New"/>
                <a:ea typeface="Courier New"/>
                <a:cs typeface="Courier New"/>
                <a:sym typeface="Courier New"/>
              </a:rPr>
              <a:t> transfer_date)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next_value</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FROM</a:t>
            </a:r>
            <a:r>
              <a:rPr b="1" i="0" lang="en" sz="550" u="none" cap="none" strike="noStrike">
                <a:solidFill>
                  <a:srgbClr val="CCCCCC"/>
                </a:solidFill>
                <a:highlight>
                  <a:srgbClr val="1F1F1F"/>
                </a:highlight>
                <a:latin typeface="Courier New"/>
                <a:ea typeface="Courier New"/>
                <a:cs typeface="Courier New"/>
                <a:sym typeface="Courier New"/>
              </a:rPr>
              <a:t> classified</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WHERE</a:t>
            </a:r>
            <a:r>
              <a:rPr b="1" i="0" lang="en" sz="550" u="none" cap="none" strike="noStrike">
                <a:solidFill>
                  <a:srgbClr val="CCCCCC"/>
                </a:solidFill>
                <a:highlight>
                  <a:srgbClr val="1F1F1F"/>
                </a:highlight>
                <a:latin typeface="Courier New"/>
                <a:ea typeface="Courier New"/>
                <a:cs typeface="Courier New"/>
                <a:sym typeface="Courier New"/>
              </a:rPr>
              <a:t> move_type </a:t>
            </a:r>
            <a:r>
              <a:rPr b="1" i="0" lang="en" sz="550" u="none" cap="none" strike="noStrike">
                <a:solidFill>
                  <a:srgbClr val="569CD6"/>
                </a:solidFill>
                <a:highlight>
                  <a:srgbClr val="1F1F1F"/>
                </a:highlight>
                <a:latin typeface="Courier New"/>
                <a:ea typeface="Courier New"/>
                <a:cs typeface="Courier New"/>
                <a:sym typeface="Courier New"/>
              </a:rPr>
              <a:t>IS NOT NULL</a:t>
            </a:r>
            <a:r>
              <a:rPr b="1" i="0" lang="en" sz="550" u="none" cap="none" strike="noStrike">
                <a:solidFill>
                  <a:srgbClr val="CCCCCC"/>
                </a:solidFill>
                <a:highlight>
                  <a:srgbClr val="1F1F1F"/>
                </a:highlight>
                <a:latin typeface="Courier New"/>
                <a:ea typeface="Courier New"/>
                <a:cs typeface="Courier New"/>
                <a:sym typeface="Courier New"/>
              </a:rPr>
              <a:t>)</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569CD6"/>
                </a:solidFill>
                <a:highlight>
                  <a:srgbClr val="1F1F1F"/>
                </a:highlight>
                <a:latin typeface="Courier New"/>
                <a:ea typeface="Courier New"/>
                <a:cs typeface="Courier New"/>
                <a:sym typeface="Courier New"/>
              </a:rPr>
              <a:t>SELECT</a:t>
            </a:r>
            <a:r>
              <a:rPr b="1" i="0" lang="en" sz="550" u="none" cap="none" strike="noStrike">
                <a:solidFill>
                  <a:srgbClr val="CCCCCC"/>
                </a:solidFill>
                <a:highlight>
                  <a:srgbClr val="1F1F1F"/>
                </a:highlight>
                <a:latin typeface="Courier New"/>
                <a:ea typeface="Courier New"/>
                <a:cs typeface="Courier New"/>
                <a:sym typeface="Courier New"/>
              </a:rPr>
              <a:t> move_type,</a:t>
            </a:r>
            <a:r>
              <a:rPr b="1" i="0" lang="en" sz="550" u="none" cap="none" strike="noStrike">
                <a:solidFill>
                  <a:srgbClr val="DCDCAA"/>
                </a:solidFill>
                <a:highlight>
                  <a:srgbClr val="1F1F1F"/>
                </a:highlight>
                <a:latin typeface="Courier New"/>
                <a:ea typeface="Courier New"/>
                <a:cs typeface="Courier New"/>
                <a:sym typeface="Courier New"/>
              </a:rPr>
              <a:t>COUNT</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D4D4D4"/>
                </a:solidFill>
                <a:highlight>
                  <a:srgbClr val="1F1F1F"/>
                </a:highlight>
                <a:latin typeface="Courier New"/>
                <a:ea typeface="Courier New"/>
                <a:cs typeface="Courier New"/>
                <a:sym typeface="Courier New"/>
              </a:rPr>
              <a: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player_count, </a:t>
            </a:r>
            <a:r>
              <a:rPr b="1" i="0" lang="en" sz="550" u="none" cap="none" strike="noStrike">
                <a:solidFill>
                  <a:srgbClr val="DCDCAA"/>
                </a:solidFill>
                <a:highlight>
                  <a:srgbClr val="1F1F1F"/>
                </a:highlight>
                <a:latin typeface="Courier New"/>
                <a:ea typeface="Courier New"/>
                <a:cs typeface="Courier New"/>
                <a:sym typeface="Courier New"/>
              </a:rPr>
              <a:t>ROUND</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DCDCAA"/>
                </a:solidFill>
                <a:highlight>
                  <a:srgbClr val="1F1F1F"/>
                </a:highlight>
                <a:latin typeface="Courier New"/>
                <a:ea typeface="Courier New"/>
                <a:cs typeface="Courier New"/>
                <a:sym typeface="Courier New"/>
              </a:rPr>
              <a:t>AVG</a:t>
            </a:r>
            <a:r>
              <a:rPr b="1" i="0" lang="en" sz="550" u="none" cap="none" strike="noStrike">
                <a:solidFill>
                  <a:srgbClr val="CCCCCC"/>
                </a:solidFill>
                <a:highlight>
                  <a:srgbClr val="1F1F1F"/>
                </a:highlight>
                <a:latin typeface="Courier New"/>
                <a:ea typeface="Courier New"/>
                <a:cs typeface="Courier New"/>
                <a:sym typeface="Courier New"/>
              </a:rPr>
              <a:t>((next_value </a:t>
            </a:r>
            <a:r>
              <a:rPr b="1" i="0" lang="en" sz="550" u="none" cap="none" strike="noStrike">
                <a:solidFill>
                  <a:srgbClr val="D4D4D4"/>
                </a:solidFill>
                <a:highlight>
                  <a:srgbClr val="1F1F1F"/>
                </a:highlight>
                <a:latin typeface="Courier New"/>
                <a:ea typeface="Courier New"/>
                <a:cs typeface="Courier New"/>
                <a:sym typeface="Courier New"/>
              </a:rPr>
              <a:t>-</a:t>
            </a:r>
            <a:r>
              <a:rPr b="1" i="0" lang="en" sz="550" u="none" cap="none" strike="noStrike">
                <a:solidFill>
                  <a:srgbClr val="CCCCCC"/>
                </a:solidFill>
                <a:highlight>
                  <a:srgbClr val="1F1F1F"/>
                </a:highlight>
                <a:latin typeface="Courier New"/>
                <a:ea typeface="Courier New"/>
                <a:cs typeface="Courier New"/>
                <a:sym typeface="Courier New"/>
              </a:rPr>
              <a:t> value_at_transfer) </a:t>
            </a:r>
            <a:r>
              <a:rPr b="1" i="0" lang="en" sz="550" u="none" cap="none" strike="noStrike">
                <a:solidFill>
                  <a:srgbClr val="D4D4D4"/>
                </a:solidFill>
                <a:highlight>
                  <a:srgbClr val="1F1F1F"/>
                </a:highlight>
                <a:latin typeface="Courier New"/>
                <a:ea typeface="Courier New"/>
                <a:cs typeface="Courier New"/>
                <a:sym typeface="Courier New"/>
              </a:rPr>
              <a: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B5CEA8"/>
                </a:solidFill>
                <a:highlight>
                  <a:srgbClr val="1F1F1F"/>
                </a:highlight>
                <a:latin typeface="Courier New"/>
                <a:ea typeface="Courier New"/>
                <a:cs typeface="Courier New"/>
                <a:sym typeface="Courier New"/>
              </a:rPr>
              <a:t>1</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B5CEA8"/>
                </a:solidFill>
                <a:highlight>
                  <a:srgbClr val="1F1F1F"/>
                </a:highlight>
                <a:latin typeface="Courier New"/>
                <a:ea typeface="Courier New"/>
                <a:cs typeface="Courier New"/>
                <a:sym typeface="Courier New"/>
              </a:rPr>
              <a:t>0</a:t>
            </a:r>
            <a:r>
              <a:rPr b="1" i="0" lang="en" sz="550" u="none" cap="none" strike="noStrike">
                <a:solidFill>
                  <a:srgbClr val="D4D4D4"/>
                </a:solidFill>
                <a:highlight>
                  <a:srgbClr val="1F1F1F"/>
                </a:highlight>
                <a:latin typeface="Courier New"/>
                <a:ea typeface="Courier New"/>
                <a:cs typeface="Courier New"/>
                <a:sym typeface="Courier New"/>
              </a:rPr>
              <a:t>/</a:t>
            </a:r>
            <a:r>
              <a:rPr b="1" i="0" lang="en" sz="550" u="none" cap="none" strike="noStrike">
                <a:solidFill>
                  <a:srgbClr val="CCCCCC"/>
                </a:solidFill>
                <a:highlight>
                  <a:srgbClr val="1F1F1F"/>
                </a:highlight>
                <a:latin typeface="Courier New"/>
                <a:ea typeface="Courier New"/>
                <a:cs typeface="Courier New"/>
                <a:sym typeface="Courier New"/>
              </a:rPr>
              <a:t> value_at_transfer </a:t>
            </a:r>
            <a:r>
              <a:rPr b="1" i="0" lang="en" sz="550" u="none" cap="none" strike="noStrike">
                <a:solidFill>
                  <a:srgbClr val="D4D4D4"/>
                </a:solidFill>
                <a:highlight>
                  <a:srgbClr val="1F1F1F"/>
                </a:highlight>
                <a:latin typeface="Courier New"/>
                <a:ea typeface="Courier New"/>
                <a:cs typeface="Courier New"/>
                <a:sym typeface="Courier New"/>
              </a:rPr>
              <a: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B5CEA8"/>
                </a:solidFill>
                <a:highlight>
                  <a:srgbClr val="1F1F1F"/>
                </a:highlight>
                <a:latin typeface="Courier New"/>
                <a:ea typeface="Courier New"/>
                <a:cs typeface="Courier New"/>
                <a:sym typeface="Courier New"/>
              </a:rPr>
              <a:t>100</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B5CEA8"/>
                </a:solidFill>
                <a:highlight>
                  <a:srgbClr val="1F1F1F"/>
                </a:highlight>
                <a:latin typeface="Courier New"/>
                <a:ea typeface="Courier New"/>
                <a:cs typeface="Courier New"/>
                <a:sym typeface="Courier New"/>
              </a:rPr>
              <a:t>2</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avg_value_change_pct</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569CD6"/>
                </a:solidFill>
                <a:highlight>
                  <a:srgbClr val="1F1F1F"/>
                </a:highlight>
                <a:latin typeface="Courier New"/>
                <a:ea typeface="Courier New"/>
                <a:cs typeface="Courier New"/>
                <a:sym typeface="Courier New"/>
              </a:rPr>
              <a:t>FROM</a:t>
            </a:r>
            <a:r>
              <a:rPr b="1" i="0" lang="en" sz="550" u="none" cap="none" strike="noStrike">
                <a:solidFill>
                  <a:srgbClr val="CCCCCC"/>
                </a:solidFill>
                <a:highlight>
                  <a:srgbClr val="1F1F1F"/>
                </a:highlight>
                <a:latin typeface="Courier New"/>
                <a:ea typeface="Courier New"/>
                <a:cs typeface="Courier New"/>
                <a:sym typeface="Courier New"/>
              </a:rPr>
              <a:t> with_next_value</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569CD6"/>
                </a:solidFill>
                <a:highlight>
                  <a:srgbClr val="1F1F1F"/>
                </a:highlight>
                <a:latin typeface="Courier New"/>
                <a:ea typeface="Courier New"/>
                <a:cs typeface="Courier New"/>
                <a:sym typeface="Courier New"/>
              </a:rPr>
              <a:t>WHERE</a:t>
            </a:r>
            <a:r>
              <a:rPr b="1" i="0" lang="en" sz="550" u="none" cap="none" strike="noStrike">
                <a:solidFill>
                  <a:srgbClr val="CCCCCC"/>
                </a:solidFill>
                <a:highlight>
                  <a:srgbClr val="1F1F1F"/>
                </a:highlight>
                <a:latin typeface="Courier New"/>
                <a:ea typeface="Courier New"/>
                <a:cs typeface="Courier New"/>
                <a:sym typeface="Courier New"/>
              </a:rPr>
              <a:t> next_value </a:t>
            </a:r>
            <a:r>
              <a:rPr b="1" i="0" lang="en" sz="550" u="none" cap="none" strike="noStrike">
                <a:solidFill>
                  <a:srgbClr val="569CD6"/>
                </a:solidFill>
                <a:highlight>
                  <a:srgbClr val="1F1F1F"/>
                </a:highlight>
                <a:latin typeface="Courier New"/>
                <a:ea typeface="Courier New"/>
                <a:cs typeface="Courier New"/>
                <a:sym typeface="Courier New"/>
              </a:rPr>
              <a:t>IS NOT NULL</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AND</a:t>
            </a:r>
            <a:r>
              <a:rPr b="1" i="0" lang="en" sz="550" u="none" cap="none" strike="noStrike">
                <a:solidFill>
                  <a:srgbClr val="CCCCCC"/>
                </a:solidFill>
                <a:highlight>
                  <a:srgbClr val="1F1F1F"/>
                </a:highlight>
                <a:latin typeface="Courier New"/>
                <a:ea typeface="Courier New"/>
                <a:cs typeface="Courier New"/>
                <a:sym typeface="Courier New"/>
              </a:rPr>
              <a:t> next_value </a:t>
            </a:r>
            <a:r>
              <a:rPr b="1" i="0" lang="en" sz="550" u="none" cap="none" strike="noStrike">
                <a:solidFill>
                  <a:srgbClr val="D4D4D4"/>
                </a:solidFill>
                <a:highlight>
                  <a:srgbClr val="1F1F1F"/>
                </a:highlight>
                <a:latin typeface="Courier New"/>
                <a:ea typeface="Courier New"/>
                <a:cs typeface="Courier New"/>
                <a:sym typeface="Courier New"/>
              </a:rPr>
              <a:t>&gt;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B5CEA8"/>
                </a:solidFill>
                <a:highlight>
                  <a:srgbClr val="1F1F1F"/>
                </a:highlight>
                <a:latin typeface="Courier New"/>
                <a:ea typeface="Courier New"/>
                <a:cs typeface="Courier New"/>
                <a:sym typeface="Courier New"/>
              </a:rPr>
              <a:t>0</a:t>
            </a:r>
            <a:endParaRPr b="1" i="0" sz="550" u="none" cap="none" strike="noStrike">
              <a:solidFill>
                <a:srgbClr val="B5CEA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569CD6"/>
                </a:solidFill>
                <a:highlight>
                  <a:srgbClr val="1F1F1F"/>
                </a:highlight>
                <a:latin typeface="Courier New"/>
                <a:ea typeface="Courier New"/>
                <a:cs typeface="Courier New"/>
                <a:sym typeface="Courier New"/>
              </a:rPr>
              <a:t>GROUP BY</a:t>
            </a:r>
            <a:r>
              <a:rPr b="1" i="0" lang="en" sz="550" u="none" cap="none" strike="noStrike">
                <a:solidFill>
                  <a:srgbClr val="CCCCCC"/>
                </a:solidFill>
                <a:highlight>
                  <a:srgbClr val="1F1F1F"/>
                </a:highlight>
                <a:latin typeface="Courier New"/>
                <a:ea typeface="Courier New"/>
                <a:cs typeface="Courier New"/>
                <a:sym typeface="Courier New"/>
              </a:rPr>
              <a:t> move_type</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569CD6"/>
                </a:solidFill>
                <a:highlight>
                  <a:srgbClr val="1F1F1F"/>
                </a:highlight>
                <a:latin typeface="Courier New"/>
                <a:ea typeface="Courier New"/>
                <a:cs typeface="Courier New"/>
                <a:sym typeface="Courier New"/>
              </a:rPr>
              <a:t>ORDER BY</a:t>
            </a:r>
            <a:r>
              <a:rPr b="1" i="0" lang="en" sz="550" u="none" cap="none" strike="noStrike">
                <a:solidFill>
                  <a:srgbClr val="CCCCCC"/>
                </a:solidFill>
                <a:highlight>
                  <a:srgbClr val="1F1F1F"/>
                </a:highlight>
                <a:latin typeface="Courier New"/>
                <a:ea typeface="Courier New"/>
                <a:cs typeface="Courier New"/>
                <a:sym typeface="Courier New"/>
              </a:rPr>
              <a:t> move_type;</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200"/>
              <a:buFont typeface="Arial"/>
              <a:buNone/>
            </a:pPr>
            <a:r>
              <a:t/>
            </a:r>
            <a:endParaRPr b="1" i="0" sz="20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200"/>
              <a:buFont typeface="Arial"/>
              <a:buNone/>
            </a:pPr>
            <a:r>
              <a:t/>
            </a:r>
            <a:endParaRPr b="1" i="0" sz="20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200"/>
              <a:buFont typeface="Arial"/>
              <a:buNone/>
            </a:pPr>
            <a:r>
              <a:t/>
            </a:r>
            <a:endParaRPr b="1" i="0" sz="20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
              <a:buFont typeface="Arial"/>
              <a:buNone/>
            </a:pPr>
            <a:r>
              <a:t/>
            </a:r>
            <a:endParaRPr b="1" i="0" sz="200" u="none" cap="none" strike="noStrike">
              <a:solidFill>
                <a:schemeClr val="dk2"/>
              </a:solidFill>
              <a:latin typeface="Nunito"/>
              <a:ea typeface="Nunito"/>
              <a:cs typeface="Nunito"/>
              <a:sym typeface="Nunito"/>
            </a:endParaRPr>
          </a:p>
        </p:txBody>
      </p:sp>
      <p:pic>
        <p:nvPicPr>
          <p:cNvPr id="447" name="Google Shape;447;p21"/>
          <p:cNvPicPr preferRelativeResize="0"/>
          <p:nvPr/>
        </p:nvPicPr>
        <p:blipFill rotWithShape="1">
          <a:blip r:embed="rId3">
            <a:alphaModFix/>
          </a:blip>
          <a:srcRect b="0" l="0" r="0" t="0"/>
          <a:stretch/>
        </p:blipFill>
        <p:spPr>
          <a:xfrm>
            <a:off x="4973963" y="3272450"/>
            <a:ext cx="3479825" cy="951800"/>
          </a:xfrm>
          <a:prstGeom prst="rect">
            <a:avLst/>
          </a:prstGeom>
          <a:noFill/>
          <a:ln>
            <a:noFill/>
          </a:ln>
        </p:spPr>
      </p:pic>
      <p:sp>
        <p:nvSpPr>
          <p:cNvPr id="448" name="Google Shape;448;p21"/>
          <p:cNvSpPr txBox="1"/>
          <p:nvPr/>
        </p:nvSpPr>
        <p:spPr>
          <a:xfrm>
            <a:off x="4572024" y="1978550"/>
            <a:ext cx="4283700" cy="865200"/>
          </a:xfrm>
          <a:prstGeom prst="rect">
            <a:avLst/>
          </a:prstGeom>
          <a:solidFill>
            <a:srgbClr val="1F1F1F"/>
          </a:solidFill>
          <a:ln>
            <a:noFill/>
          </a:ln>
        </p:spPr>
        <p:txBody>
          <a:bodyPr anchorCtr="0" anchor="t" bIns="91425" lIns="91425" spcFirstLastPara="1" rIns="91425" wrap="square" tIns="91425">
            <a:noAutofit/>
          </a:bodyPr>
          <a:lstStyle/>
          <a:p>
            <a:pPr indent="0" lvl="0" marL="0" marR="0" rtl="0" algn="ctr">
              <a:lnSpc>
                <a:spcPct val="135714"/>
              </a:lnSpc>
              <a:spcBef>
                <a:spcPts val="0"/>
              </a:spcBef>
              <a:spcAft>
                <a:spcPts val="0"/>
              </a:spcAft>
              <a:buClr>
                <a:srgbClr val="000000"/>
              </a:buClr>
              <a:buSzPts val="1050"/>
              <a:buFont typeface="Arial"/>
              <a:buNone/>
            </a:pPr>
            <a:r>
              <a:rPr b="1" i="0" lang="en" sz="1050" u="none" cap="none" strike="noStrike">
                <a:solidFill>
                  <a:srgbClr val="DCDCAA"/>
                </a:solidFill>
                <a:highlight>
                  <a:srgbClr val="1F1F1F"/>
                </a:highlight>
                <a:latin typeface="Courier New"/>
                <a:ea typeface="Courier New"/>
                <a:cs typeface="Courier New"/>
                <a:sym typeface="Courier New"/>
              </a:rPr>
              <a:t>ROUND</a:t>
            </a:r>
            <a:r>
              <a:rPr b="1" i="0" lang="en" sz="1050" u="none" cap="none" strike="noStrike">
                <a:solidFill>
                  <a:srgbClr val="CCCCCC"/>
                </a:solidFill>
                <a:highlight>
                  <a:srgbClr val="1F1F1F"/>
                </a:highlight>
                <a:latin typeface="Courier New"/>
                <a:ea typeface="Courier New"/>
                <a:cs typeface="Courier New"/>
                <a:sym typeface="Courier New"/>
              </a:rPr>
              <a:t>(</a:t>
            </a:r>
            <a:r>
              <a:rPr b="1" i="0" lang="en" sz="1050" u="none" cap="none" strike="noStrike">
                <a:solidFill>
                  <a:srgbClr val="DCDCAA"/>
                </a:solidFill>
                <a:highlight>
                  <a:srgbClr val="1F1F1F"/>
                </a:highlight>
                <a:latin typeface="Courier New"/>
                <a:ea typeface="Courier New"/>
                <a:cs typeface="Courier New"/>
                <a:sym typeface="Courier New"/>
              </a:rPr>
              <a:t>AVG</a:t>
            </a:r>
            <a:r>
              <a:rPr b="1" i="0" lang="en" sz="1050" u="none" cap="none" strike="noStrike">
                <a:solidFill>
                  <a:srgbClr val="CCCCCC"/>
                </a:solidFill>
                <a:highlight>
                  <a:srgbClr val="1F1F1F"/>
                </a:highlight>
                <a:latin typeface="Courier New"/>
                <a:ea typeface="Courier New"/>
                <a:cs typeface="Courier New"/>
                <a:sym typeface="Courier New"/>
              </a:rPr>
              <a:t>((next_value </a:t>
            </a:r>
            <a:r>
              <a:rPr b="1" i="0" lang="en" sz="1050" u="none" cap="none" strike="noStrike">
                <a:solidFill>
                  <a:srgbClr val="D4D4D4"/>
                </a:solidFill>
                <a:highlight>
                  <a:srgbClr val="1F1F1F"/>
                </a:highlight>
                <a:latin typeface="Courier New"/>
                <a:ea typeface="Courier New"/>
                <a:cs typeface="Courier New"/>
                <a:sym typeface="Courier New"/>
              </a:rPr>
              <a:t>-</a:t>
            </a:r>
            <a:r>
              <a:rPr b="1" i="0" lang="en" sz="1050" u="none" cap="none" strike="noStrike">
                <a:solidFill>
                  <a:srgbClr val="CCCCCC"/>
                </a:solidFill>
                <a:highlight>
                  <a:srgbClr val="1F1F1F"/>
                </a:highlight>
                <a:latin typeface="Courier New"/>
                <a:ea typeface="Courier New"/>
                <a:cs typeface="Courier New"/>
                <a:sym typeface="Courier New"/>
              </a:rPr>
              <a:t> value_at_transfer) </a:t>
            </a:r>
            <a:r>
              <a:rPr b="1" i="0" lang="en" sz="1050" u="none" cap="none" strike="noStrike">
                <a:solidFill>
                  <a:srgbClr val="D4D4D4"/>
                </a:solidFill>
                <a:highlight>
                  <a:srgbClr val="1F1F1F"/>
                </a:highlight>
                <a:latin typeface="Courier New"/>
                <a:ea typeface="Courier New"/>
                <a:cs typeface="Courier New"/>
                <a:sym typeface="Courier New"/>
              </a:rPr>
              <a:t>*</a:t>
            </a:r>
            <a:r>
              <a:rPr b="1" i="0" lang="en" sz="1050" u="none" cap="none" strike="noStrike">
                <a:solidFill>
                  <a:srgbClr val="CCCCCC"/>
                </a:solidFill>
                <a:highlight>
                  <a:srgbClr val="1F1F1F"/>
                </a:highlight>
                <a:latin typeface="Courier New"/>
                <a:ea typeface="Courier New"/>
                <a:cs typeface="Courier New"/>
                <a:sym typeface="Courier New"/>
              </a:rPr>
              <a:t> </a:t>
            </a:r>
            <a:r>
              <a:rPr b="1" i="0" lang="en" sz="1050" u="none" cap="none" strike="noStrike">
                <a:solidFill>
                  <a:srgbClr val="B5CEA8"/>
                </a:solidFill>
                <a:highlight>
                  <a:srgbClr val="1F1F1F"/>
                </a:highlight>
                <a:latin typeface="Courier New"/>
                <a:ea typeface="Courier New"/>
                <a:cs typeface="Courier New"/>
                <a:sym typeface="Courier New"/>
              </a:rPr>
              <a:t>1</a:t>
            </a:r>
            <a:r>
              <a:rPr b="1" i="0" lang="en" sz="1050" u="none" cap="none" strike="noStrike">
                <a:solidFill>
                  <a:srgbClr val="CCCCCC"/>
                </a:solidFill>
                <a:highlight>
                  <a:srgbClr val="1F1F1F"/>
                </a:highlight>
                <a:latin typeface="Courier New"/>
                <a:ea typeface="Courier New"/>
                <a:cs typeface="Courier New"/>
                <a:sym typeface="Courier New"/>
              </a:rPr>
              <a:t>.</a:t>
            </a:r>
            <a:r>
              <a:rPr b="1" i="0" lang="en" sz="1050" u="none" cap="none" strike="noStrike">
                <a:solidFill>
                  <a:srgbClr val="B5CEA8"/>
                </a:solidFill>
                <a:highlight>
                  <a:srgbClr val="1F1F1F"/>
                </a:highlight>
                <a:latin typeface="Courier New"/>
                <a:ea typeface="Courier New"/>
                <a:cs typeface="Courier New"/>
                <a:sym typeface="Courier New"/>
              </a:rPr>
              <a:t>0</a:t>
            </a:r>
            <a:r>
              <a:rPr b="1" i="0" lang="en" sz="1050" u="none" cap="none" strike="noStrike">
                <a:solidFill>
                  <a:srgbClr val="D4D4D4"/>
                </a:solidFill>
                <a:highlight>
                  <a:srgbClr val="1F1F1F"/>
                </a:highlight>
                <a:latin typeface="Courier New"/>
                <a:ea typeface="Courier New"/>
                <a:cs typeface="Courier New"/>
                <a:sym typeface="Courier New"/>
              </a:rPr>
              <a:t>/</a:t>
            </a:r>
            <a:r>
              <a:rPr b="1" i="0" lang="en" sz="1050" u="none" cap="none" strike="noStrike">
                <a:solidFill>
                  <a:srgbClr val="CCCCCC"/>
                </a:solidFill>
                <a:highlight>
                  <a:srgbClr val="1F1F1F"/>
                </a:highlight>
                <a:latin typeface="Courier New"/>
                <a:ea typeface="Courier New"/>
                <a:cs typeface="Courier New"/>
                <a:sym typeface="Courier New"/>
              </a:rPr>
              <a:t> value_at_transfer </a:t>
            </a:r>
            <a:r>
              <a:rPr b="1" i="0" lang="en" sz="1050" u="none" cap="none" strike="noStrike">
                <a:solidFill>
                  <a:srgbClr val="D4D4D4"/>
                </a:solidFill>
                <a:highlight>
                  <a:srgbClr val="1F1F1F"/>
                </a:highlight>
                <a:latin typeface="Courier New"/>
                <a:ea typeface="Courier New"/>
                <a:cs typeface="Courier New"/>
                <a:sym typeface="Courier New"/>
              </a:rPr>
              <a:t>*</a:t>
            </a:r>
            <a:r>
              <a:rPr b="1" i="0" lang="en" sz="1050" u="none" cap="none" strike="noStrike">
                <a:solidFill>
                  <a:srgbClr val="CCCCCC"/>
                </a:solidFill>
                <a:highlight>
                  <a:srgbClr val="1F1F1F"/>
                </a:highlight>
                <a:latin typeface="Courier New"/>
                <a:ea typeface="Courier New"/>
                <a:cs typeface="Courier New"/>
                <a:sym typeface="Courier New"/>
              </a:rPr>
              <a:t> </a:t>
            </a:r>
            <a:r>
              <a:rPr b="1" i="0" lang="en" sz="1050" u="none" cap="none" strike="noStrike">
                <a:solidFill>
                  <a:srgbClr val="B5CEA8"/>
                </a:solidFill>
                <a:highlight>
                  <a:srgbClr val="1F1F1F"/>
                </a:highlight>
                <a:latin typeface="Courier New"/>
                <a:ea typeface="Courier New"/>
                <a:cs typeface="Courier New"/>
                <a:sym typeface="Courier New"/>
              </a:rPr>
              <a:t>100</a:t>
            </a:r>
            <a:r>
              <a:rPr b="1" i="0" lang="en" sz="1050" u="none" cap="none" strike="noStrike">
                <a:solidFill>
                  <a:srgbClr val="CCCCCC"/>
                </a:solidFill>
                <a:highlight>
                  <a:srgbClr val="1F1F1F"/>
                </a:highlight>
                <a:latin typeface="Courier New"/>
                <a:ea typeface="Courier New"/>
                <a:cs typeface="Courier New"/>
                <a:sym typeface="Courier New"/>
              </a:rPr>
              <a:t>), </a:t>
            </a:r>
            <a:r>
              <a:rPr b="1" i="0" lang="en" sz="1050" u="none" cap="none" strike="noStrike">
                <a:solidFill>
                  <a:srgbClr val="B5CEA8"/>
                </a:solidFill>
                <a:highlight>
                  <a:srgbClr val="1F1F1F"/>
                </a:highlight>
                <a:latin typeface="Courier New"/>
                <a:ea typeface="Courier New"/>
                <a:cs typeface="Courier New"/>
                <a:sym typeface="Courier New"/>
              </a:rPr>
              <a:t>2</a:t>
            </a:r>
            <a:r>
              <a:rPr b="1" i="0" lang="en" sz="1050" u="none" cap="none" strike="noStrike">
                <a:solidFill>
                  <a:srgbClr val="CCCCCC"/>
                </a:solidFill>
                <a:highlight>
                  <a:srgbClr val="1F1F1F"/>
                </a:highlight>
                <a:latin typeface="Courier New"/>
                <a:ea typeface="Courier New"/>
                <a:cs typeface="Courier New"/>
                <a:sym typeface="Courier New"/>
              </a:rPr>
              <a:t>) </a:t>
            </a:r>
            <a:r>
              <a:rPr b="1" i="0" lang="en" sz="1050" u="none" cap="none" strike="noStrike">
                <a:solidFill>
                  <a:srgbClr val="569CD6"/>
                </a:solidFill>
                <a:highlight>
                  <a:srgbClr val="1F1F1F"/>
                </a:highlight>
                <a:latin typeface="Courier New"/>
                <a:ea typeface="Courier New"/>
                <a:cs typeface="Courier New"/>
                <a:sym typeface="Courier New"/>
              </a:rPr>
              <a:t>AS</a:t>
            </a:r>
            <a:r>
              <a:rPr b="1" i="0" lang="en" sz="1050" u="none" cap="none" strike="noStrike">
                <a:solidFill>
                  <a:srgbClr val="CCCCCC"/>
                </a:solidFill>
                <a:highlight>
                  <a:srgbClr val="1F1F1F"/>
                </a:highlight>
                <a:latin typeface="Courier New"/>
                <a:ea typeface="Courier New"/>
                <a:cs typeface="Courier New"/>
                <a:sym typeface="Courier New"/>
              </a:rPr>
              <a:t> avg_value_change_pct</a:t>
            </a:r>
            <a:endParaRPr b="1" i="0" sz="1050" u="none" cap="none" strike="noStrike">
              <a:solidFill>
                <a:srgbClr val="CCCCCC"/>
              </a:solidFill>
              <a:highlight>
                <a:srgbClr val="1F1F1F"/>
              </a:highlight>
              <a:latin typeface="Courier New"/>
              <a:ea typeface="Courier New"/>
              <a:cs typeface="Courier New"/>
              <a:sym typeface="Courier New"/>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2"/>
              </a:solidFill>
              <a:latin typeface="Nunito"/>
              <a:ea typeface="Nunito"/>
              <a:cs typeface="Nunito"/>
              <a:sym typeface="Nunito"/>
            </a:endParaRPr>
          </a:p>
        </p:txBody>
      </p:sp>
      <p:cxnSp>
        <p:nvCxnSpPr>
          <p:cNvPr id="449" name="Google Shape;449;p21"/>
          <p:cNvCxnSpPr>
            <a:stCxn id="448" idx="2"/>
            <a:endCxn id="447" idx="0"/>
          </p:cNvCxnSpPr>
          <p:nvPr/>
        </p:nvCxnSpPr>
        <p:spPr>
          <a:xfrm>
            <a:off x="6713874" y="2843750"/>
            <a:ext cx="0" cy="4287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22"/>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lang="en" sz="2100"/>
              <a:t>10. Do players with more international caps have a higher market value?</a:t>
            </a:r>
            <a:endParaRPr sz="2100"/>
          </a:p>
        </p:txBody>
      </p:sp>
      <p:sp>
        <p:nvSpPr>
          <p:cNvPr id="455" name="Google Shape;455;p22"/>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rgbClr val="DE935F"/>
                </a:solidFill>
                <a:latin typeface="Maven Pro"/>
                <a:ea typeface="Maven Pro"/>
                <a:cs typeface="Maven Pro"/>
                <a:sym typeface="Maven Pro"/>
              </a:rPr>
              <a:t>Career &amp; Value Trajectories</a:t>
            </a:r>
            <a:r>
              <a:rPr b="1" i="0" lang="en" sz="1766" u="none" cap="none" strike="noStrike">
                <a:solidFill>
                  <a:srgbClr val="6AA84F"/>
                </a:solidFill>
                <a:latin typeface="Maven Pro"/>
                <a:ea typeface="Maven Pro"/>
                <a:cs typeface="Maven Pro"/>
                <a:sym typeface="Maven Pro"/>
              </a:rPr>
              <a:t> 🔀</a:t>
            </a:r>
            <a:endParaRPr b="1" i="0" sz="1766" u="none" cap="none" strike="noStrike">
              <a:solidFill>
                <a:srgbClr val="6AA84F"/>
              </a:solidFill>
              <a:latin typeface="Maven Pro"/>
              <a:ea typeface="Maven Pro"/>
              <a:cs typeface="Maven Pro"/>
              <a:sym typeface="Maven Pro"/>
            </a:endParaRPr>
          </a:p>
        </p:txBody>
      </p:sp>
      <p:sp>
        <p:nvSpPr>
          <p:cNvPr id="456" name="Google Shape;456;p22"/>
          <p:cNvSpPr txBox="1"/>
          <p:nvPr/>
        </p:nvSpPr>
        <p:spPr>
          <a:xfrm>
            <a:off x="475350" y="1455450"/>
            <a:ext cx="4096800" cy="3453000"/>
          </a:xfrm>
          <a:prstGeom prst="rect">
            <a:avLst/>
          </a:prstGeom>
          <a:noFill/>
          <a:ln>
            <a:noFill/>
          </a:ln>
        </p:spPr>
        <p:txBody>
          <a:bodyPr anchorCtr="0" anchor="t" bIns="91425" lIns="91425" spcFirstLastPara="1" rIns="91425" wrap="square" tIns="91425">
            <a:noAutofit/>
          </a:bodyPr>
          <a:lstStyle/>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569CD6"/>
                </a:solidFill>
                <a:highlight>
                  <a:srgbClr val="1F1F1F"/>
                </a:highlight>
                <a:latin typeface="Courier New"/>
                <a:ea typeface="Courier New"/>
                <a:cs typeface="Courier New"/>
                <a:sym typeface="Courier New"/>
              </a:rPr>
              <a:t>WITH</a:t>
            </a:r>
            <a:r>
              <a:rPr b="1" i="0" lang="en" sz="550" u="none" cap="none" strike="noStrike">
                <a:solidFill>
                  <a:srgbClr val="CCCCCC"/>
                </a:solidFill>
                <a:highlight>
                  <a:srgbClr val="1F1F1F"/>
                </a:highlight>
                <a:latin typeface="Courier New"/>
                <a:ea typeface="Courier New"/>
                <a:cs typeface="Courier New"/>
                <a:sym typeface="Courier New"/>
              </a:rPr>
              <a:t> active_players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SELECT</a:t>
            </a:r>
            <a:r>
              <a:rPr b="1" i="0" lang="en" sz="550" u="none" cap="none" strike="noStrike">
                <a:solidFill>
                  <a:srgbClr val="CCCCCC"/>
                </a:solidFill>
                <a:highlight>
                  <a:srgbClr val="1F1F1F"/>
                </a:highlight>
                <a:latin typeface="Courier New"/>
                <a:ea typeface="Courier New"/>
                <a:cs typeface="Courier New"/>
                <a:sym typeface="Courier New"/>
              </a:rPr>
              <a:t> player_id </a:t>
            </a:r>
            <a:r>
              <a:rPr b="1" i="0" lang="en" sz="550" u="none" cap="none" strike="noStrike">
                <a:solidFill>
                  <a:srgbClr val="569CD6"/>
                </a:solidFill>
                <a:highlight>
                  <a:srgbClr val="1F1F1F"/>
                </a:highlight>
                <a:latin typeface="Courier New"/>
                <a:ea typeface="Courier New"/>
                <a:cs typeface="Courier New"/>
                <a:sym typeface="Courier New"/>
              </a:rPr>
              <a:t>FROM</a:t>
            </a:r>
            <a:r>
              <a:rPr b="1" i="0" lang="en" sz="550" u="none" cap="none" strike="noStrike">
                <a:solidFill>
                  <a:srgbClr val="CCCCCC"/>
                </a:solidFill>
                <a:highlight>
                  <a:srgbClr val="1F1F1F"/>
                </a:highlight>
                <a:latin typeface="Courier New"/>
                <a:ea typeface="Courier New"/>
                <a:cs typeface="Courier New"/>
                <a:sym typeface="Courier New"/>
              </a:rPr>
              <a:t> player_profiles </a:t>
            </a:r>
            <a:r>
              <a:rPr b="1" i="0" lang="en" sz="550" u="none" cap="none" strike="noStrike">
                <a:solidFill>
                  <a:srgbClr val="569CD6"/>
                </a:solidFill>
                <a:highlight>
                  <a:srgbClr val="1F1F1F"/>
                </a:highlight>
                <a:latin typeface="Courier New"/>
                <a:ea typeface="Courier New"/>
                <a:cs typeface="Courier New"/>
                <a:sym typeface="Courier New"/>
              </a:rPr>
              <a:t>WHERE</a:t>
            </a:r>
            <a:r>
              <a:rPr b="1" i="0" lang="en" sz="550" u="none" cap="none" strike="noStrike">
                <a:solidFill>
                  <a:srgbClr val="CCCCCC"/>
                </a:solidFill>
                <a:highlight>
                  <a:srgbClr val="1F1F1F"/>
                </a:highlight>
                <a:latin typeface="Courier New"/>
                <a:ea typeface="Courier New"/>
                <a:cs typeface="Courier New"/>
                <a:sym typeface="Courier New"/>
              </a:rPr>
              <a:t> current_club_name </a:t>
            </a:r>
            <a:r>
              <a:rPr b="1" i="0" lang="en" sz="550" u="none" cap="none" strike="noStrike">
                <a:solidFill>
                  <a:srgbClr val="569CD6"/>
                </a:solidFill>
                <a:highlight>
                  <a:srgbClr val="1F1F1F"/>
                </a:highlight>
                <a:latin typeface="Courier New"/>
                <a:ea typeface="Courier New"/>
                <a:cs typeface="Courier New"/>
                <a:sym typeface="Courier New"/>
              </a:rPr>
              <a:t>NOT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IN</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CE9178"/>
                </a:solidFill>
                <a:highlight>
                  <a:srgbClr val="1F1F1F"/>
                </a:highlight>
                <a:latin typeface="Courier New"/>
                <a:ea typeface="Courier New"/>
                <a:cs typeface="Courier New"/>
                <a:sym typeface="Courier New"/>
              </a:rPr>
              <a:t>'Retired'</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CE9178"/>
                </a:solidFill>
                <a:highlight>
                  <a:srgbClr val="1F1F1F"/>
                </a:highlight>
                <a:latin typeface="Courier New"/>
                <a:ea typeface="Courier New"/>
                <a:cs typeface="Courier New"/>
                <a:sym typeface="Courier New"/>
              </a:rPr>
              <a: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CE9178"/>
                </a:solidFill>
                <a:highlight>
                  <a:srgbClr val="1F1F1F"/>
                </a:highlight>
                <a:latin typeface="Courier New"/>
                <a:ea typeface="Courier New"/>
                <a:cs typeface="Courier New"/>
                <a:sym typeface="Courier New"/>
              </a:rPr>
              <a:t>'0'</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569CD6"/>
                </a:solidFill>
                <a:highlight>
                  <a:srgbClr val="1F1F1F"/>
                </a:highlight>
                <a:latin typeface="Courier New"/>
                <a:ea typeface="Courier New"/>
                <a:cs typeface="Courier New"/>
                <a:sym typeface="Courier New"/>
              </a:rPr>
              <a:t>AND</a:t>
            </a:r>
            <a:r>
              <a:rPr b="1" i="0" lang="en" sz="550" u="none" cap="none" strike="noStrike">
                <a:solidFill>
                  <a:srgbClr val="CCCCCC"/>
                </a:solidFill>
                <a:highlight>
                  <a:srgbClr val="1F1F1F"/>
                </a:highlight>
                <a:latin typeface="Courier New"/>
                <a:ea typeface="Courier New"/>
                <a:cs typeface="Courier New"/>
                <a:sym typeface="Courier New"/>
              </a:rPr>
              <a:t> current_club_name </a:t>
            </a:r>
            <a:r>
              <a:rPr b="1" i="0" lang="en" sz="550" u="none" cap="none" strike="noStrike">
                <a:solidFill>
                  <a:srgbClr val="569CD6"/>
                </a:solidFill>
                <a:highlight>
                  <a:srgbClr val="1F1F1F"/>
                </a:highlight>
                <a:latin typeface="Courier New"/>
                <a:ea typeface="Courier New"/>
                <a:cs typeface="Courier New"/>
                <a:sym typeface="Courier New"/>
              </a:rPr>
              <a:t>IS NOT NULL</a:t>
            </a:r>
            <a:r>
              <a:rPr b="1" i="0" lang="en" sz="550" u="none" cap="none" strike="noStrike">
                <a:solidFill>
                  <a:srgbClr val="CCCCCC"/>
                </a:solidFill>
                <a:highlight>
                  <a:srgbClr val="1F1F1F"/>
                </a:highlight>
                <a:latin typeface="Courier New"/>
                <a:ea typeface="Courier New"/>
                <a:cs typeface="Courier New"/>
                <a:sym typeface="Courier New"/>
              </a:rPr>
              <a:t>),</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national_caps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SELECT</a:t>
            </a:r>
            <a:r>
              <a:rPr b="1" i="0" lang="en" sz="550" u="none" cap="none" strike="noStrike">
                <a:solidFill>
                  <a:srgbClr val="CCCCCC"/>
                </a:solidFill>
                <a:highlight>
                  <a:srgbClr val="1F1F1F"/>
                </a:highlight>
                <a:latin typeface="Courier New"/>
                <a:ea typeface="Courier New"/>
                <a:cs typeface="Courier New"/>
                <a:sym typeface="Courier New"/>
              </a:rPr>
              <a:t> player_id, </a:t>
            </a:r>
            <a:r>
              <a:rPr b="1" i="0" lang="en" sz="550" u="none" cap="none" strike="noStrike">
                <a:solidFill>
                  <a:srgbClr val="DCDCAA"/>
                </a:solidFill>
                <a:highlight>
                  <a:srgbClr val="1F1F1F"/>
                </a:highlight>
                <a:latin typeface="Courier New"/>
                <a:ea typeface="Courier New"/>
                <a:cs typeface="Courier New"/>
                <a:sym typeface="Courier New"/>
              </a:rPr>
              <a:t>SUM</a:t>
            </a:r>
            <a:r>
              <a:rPr b="1" i="0" lang="en" sz="550" u="none" cap="none" strike="noStrike">
                <a:solidFill>
                  <a:srgbClr val="CCCCCC"/>
                </a:solidFill>
                <a:highlight>
                  <a:srgbClr val="1F1F1F"/>
                </a:highlight>
                <a:latin typeface="Courier New"/>
                <a:ea typeface="Courier New"/>
                <a:cs typeface="Courier New"/>
                <a:sym typeface="Courier New"/>
              </a:rPr>
              <a:t>(matches)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total_caps</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FROM</a:t>
            </a:r>
            <a:r>
              <a:rPr b="1" i="0" lang="en" sz="550" u="none" cap="none" strike="noStrike">
                <a:solidFill>
                  <a:srgbClr val="CCCCCC"/>
                </a:solidFill>
                <a:highlight>
                  <a:srgbClr val="1F1F1F"/>
                </a:highlight>
                <a:latin typeface="Courier New"/>
                <a:ea typeface="Courier New"/>
                <a:cs typeface="Courier New"/>
                <a:sym typeface="Courier New"/>
              </a:rPr>
              <a:t> player_national_performances</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WHERE</a:t>
            </a:r>
            <a:r>
              <a:rPr b="1" i="0" lang="en" sz="550" u="none" cap="none" strike="noStrike">
                <a:solidFill>
                  <a:srgbClr val="CCCCCC"/>
                </a:solidFill>
                <a:highlight>
                  <a:srgbClr val="1F1F1F"/>
                </a:highlight>
                <a:latin typeface="Courier New"/>
                <a:ea typeface="Courier New"/>
                <a:cs typeface="Courier New"/>
                <a:sym typeface="Courier New"/>
              </a:rPr>
              <a:t> career_state </a:t>
            </a:r>
            <a:r>
              <a:rPr b="1" i="0" lang="en" sz="550" u="none" cap="none" strike="noStrike">
                <a:solidFill>
                  <a:srgbClr val="D4D4D4"/>
                </a:solidFill>
                <a:highlight>
                  <a:srgbClr val="1F1F1F"/>
                </a:highlight>
                <a:latin typeface="Courier New"/>
                <a:ea typeface="Courier New"/>
                <a:cs typeface="Courier New"/>
                <a:sym typeface="Courier New"/>
              </a:rPr>
              <a: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CE9178"/>
                </a:solidFill>
                <a:highlight>
                  <a:srgbClr val="1F1F1F"/>
                </a:highlight>
                <a:latin typeface="Courier New"/>
                <a:ea typeface="Courier New"/>
                <a:cs typeface="Courier New"/>
                <a:sym typeface="Courier New"/>
              </a:rPr>
              <a:t>'CURRENT_NATIONAL_PLAYER'</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AND</a:t>
            </a:r>
            <a:r>
              <a:rPr b="1" i="0" lang="en" sz="550" u="none" cap="none" strike="noStrike">
                <a:solidFill>
                  <a:srgbClr val="CCCCCC"/>
                </a:solidFill>
                <a:highlight>
                  <a:srgbClr val="1F1F1F"/>
                </a:highlight>
                <a:latin typeface="Courier New"/>
                <a:ea typeface="Courier New"/>
                <a:cs typeface="Courier New"/>
                <a:sym typeface="Courier New"/>
              </a:rPr>
              <a:t> matches </a:t>
            </a:r>
            <a:r>
              <a:rPr b="1" i="0" lang="en" sz="550" u="none" cap="none" strike="noStrike">
                <a:solidFill>
                  <a:srgbClr val="D4D4D4"/>
                </a:solidFill>
                <a:highlight>
                  <a:srgbClr val="1F1F1F"/>
                </a:highlight>
                <a:latin typeface="Courier New"/>
                <a:ea typeface="Courier New"/>
                <a:cs typeface="Courier New"/>
                <a:sym typeface="Courier New"/>
              </a:rPr>
              <a:t>&gt;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B5CEA8"/>
                </a:solidFill>
                <a:highlight>
                  <a:srgbClr val="1F1F1F"/>
                </a:highlight>
                <a:latin typeface="Courier New"/>
                <a:ea typeface="Courier New"/>
                <a:cs typeface="Courier New"/>
                <a:sym typeface="Courier New"/>
              </a:rPr>
              <a:t>0</a:t>
            </a:r>
            <a:endParaRPr b="1" i="0" sz="550" u="none" cap="none" strike="noStrike">
              <a:solidFill>
                <a:srgbClr val="B5CEA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GROUP BY</a:t>
            </a:r>
            <a:r>
              <a:rPr b="1" i="0" lang="en" sz="550" u="none" cap="none" strike="noStrike">
                <a:solidFill>
                  <a:srgbClr val="CCCCCC"/>
                </a:solidFill>
                <a:highlight>
                  <a:srgbClr val="1F1F1F"/>
                </a:highlight>
                <a:latin typeface="Courier New"/>
                <a:ea typeface="Courier New"/>
                <a:cs typeface="Courier New"/>
                <a:sym typeface="Courier New"/>
              </a:rPr>
              <a:t> player_id), market_values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SELECT</a:t>
            </a:r>
            <a:r>
              <a:rPr b="1" i="0" lang="en" sz="550" u="none" cap="none" strike="noStrike">
                <a:solidFill>
                  <a:srgbClr val="CCCCCC"/>
                </a:solidFill>
                <a:highlight>
                  <a:srgbClr val="1F1F1F"/>
                </a:highlight>
                <a:latin typeface="Courier New"/>
                <a:ea typeface="Courier New"/>
                <a:cs typeface="Courier New"/>
                <a:sym typeface="Courier New"/>
              </a:rPr>
              <a:t> p.player_id,</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CASE</a:t>
            </a:r>
            <a:endParaRPr b="1" i="0" sz="55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WHEN</a:t>
            </a:r>
            <a:r>
              <a:rPr b="1" i="0" lang="en" sz="550" u="none" cap="none" strike="noStrike">
                <a:solidFill>
                  <a:srgbClr val="CCCCCC"/>
                </a:solidFill>
                <a:highlight>
                  <a:srgbClr val="1F1F1F"/>
                </a:highlight>
                <a:latin typeface="Courier New"/>
                <a:ea typeface="Courier New"/>
                <a:cs typeface="Courier New"/>
                <a:sym typeface="Courier New"/>
              </a:rPr>
              <a:t> lmv.value </a:t>
            </a:r>
            <a:r>
              <a:rPr b="1" i="0" lang="en" sz="550" u="none" cap="none" strike="noStrike">
                <a:solidFill>
                  <a:srgbClr val="D4D4D4"/>
                </a:solidFill>
                <a:highlight>
                  <a:srgbClr val="1F1F1F"/>
                </a:highlight>
                <a:latin typeface="Courier New"/>
                <a:ea typeface="Courier New"/>
                <a:cs typeface="Courier New"/>
                <a:sym typeface="Courier New"/>
              </a:rPr>
              <a:t>&gt;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B5CEA8"/>
                </a:solidFill>
                <a:highlight>
                  <a:srgbClr val="1F1F1F"/>
                </a:highlight>
                <a:latin typeface="Courier New"/>
                <a:ea typeface="Courier New"/>
                <a:cs typeface="Courier New"/>
                <a:sym typeface="Courier New"/>
              </a:rPr>
              <a:t>0</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AND</a:t>
            </a:r>
            <a:r>
              <a:rPr b="1" i="0" lang="en" sz="550" u="none" cap="none" strike="noStrike">
                <a:solidFill>
                  <a:srgbClr val="CCCCCC"/>
                </a:solidFill>
                <a:highlight>
                  <a:srgbClr val="1F1F1F"/>
                </a:highlight>
                <a:latin typeface="Courier New"/>
                <a:ea typeface="Courier New"/>
                <a:cs typeface="Courier New"/>
                <a:sym typeface="Courier New"/>
              </a:rPr>
              <a:t> lmv.value </a:t>
            </a:r>
            <a:r>
              <a:rPr b="1" i="0" lang="en" sz="550" u="none" cap="none" strike="noStrike">
                <a:solidFill>
                  <a:srgbClr val="569CD6"/>
                </a:solidFill>
                <a:highlight>
                  <a:srgbClr val="1F1F1F"/>
                </a:highlight>
                <a:latin typeface="Courier New"/>
                <a:ea typeface="Courier New"/>
                <a:cs typeface="Courier New"/>
                <a:sym typeface="Courier New"/>
              </a:rPr>
              <a:t>IS NOT NULL</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THEN</a:t>
            </a:r>
            <a:r>
              <a:rPr b="1" i="0" lang="en" sz="550" u="none" cap="none" strike="noStrike">
                <a:solidFill>
                  <a:srgbClr val="CCCCCC"/>
                </a:solidFill>
                <a:highlight>
                  <a:srgbClr val="1F1F1F"/>
                </a:highlight>
                <a:latin typeface="Courier New"/>
                <a:ea typeface="Courier New"/>
                <a:cs typeface="Courier New"/>
                <a:sym typeface="Courier New"/>
              </a:rPr>
              <a:t> lmv.value</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WHEN</a:t>
            </a:r>
            <a:r>
              <a:rPr b="1" i="0" lang="en" sz="550" u="none" cap="none" strike="noStrike">
                <a:solidFill>
                  <a:srgbClr val="CCCCCC"/>
                </a:solidFill>
                <a:highlight>
                  <a:srgbClr val="1F1F1F"/>
                </a:highlight>
                <a:latin typeface="Courier New"/>
                <a:ea typeface="Courier New"/>
                <a:cs typeface="Courier New"/>
                <a:sym typeface="Courier New"/>
              </a:rPr>
              <a:t> mv.value </a:t>
            </a:r>
            <a:r>
              <a:rPr b="1" i="0" lang="en" sz="550" u="none" cap="none" strike="noStrike">
                <a:solidFill>
                  <a:srgbClr val="D4D4D4"/>
                </a:solidFill>
                <a:highlight>
                  <a:srgbClr val="1F1F1F"/>
                </a:highlight>
                <a:latin typeface="Courier New"/>
                <a:ea typeface="Courier New"/>
                <a:cs typeface="Courier New"/>
                <a:sym typeface="Courier New"/>
              </a:rPr>
              <a:t>&gt;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B5CEA8"/>
                </a:solidFill>
                <a:highlight>
                  <a:srgbClr val="1F1F1F"/>
                </a:highlight>
                <a:latin typeface="Courier New"/>
                <a:ea typeface="Courier New"/>
                <a:cs typeface="Courier New"/>
                <a:sym typeface="Courier New"/>
              </a:rPr>
              <a:t>0</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AND</a:t>
            </a:r>
            <a:r>
              <a:rPr b="1" i="0" lang="en" sz="550" u="none" cap="none" strike="noStrike">
                <a:solidFill>
                  <a:srgbClr val="CCCCCC"/>
                </a:solidFill>
                <a:highlight>
                  <a:srgbClr val="1F1F1F"/>
                </a:highlight>
                <a:latin typeface="Courier New"/>
                <a:ea typeface="Courier New"/>
                <a:cs typeface="Courier New"/>
                <a:sym typeface="Courier New"/>
              </a:rPr>
              <a:t> mv.value  </a:t>
            </a:r>
            <a:r>
              <a:rPr b="1" i="0" lang="en" sz="550" u="none" cap="none" strike="noStrike">
                <a:solidFill>
                  <a:srgbClr val="569CD6"/>
                </a:solidFill>
                <a:highlight>
                  <a:srgbClr val="1F1F1F"/>
                </a:highlight>
                <a:latin typeface="Courier New"/>
                <a:ea typeface="Courier New"/>
                <a:cs typeface="Courier New"/>
                <a:sym typeface="Courier New"/>
              </a:rPr>
              <a:t>IS NOT NULL</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THEN</a:t>
            </a:r>
            <a:r>
              <a:rPr b="1" i="0" lang="en" sz="550" u="none" cap="none" strike="noStrike">
                <a:solidFill>
                  <a:srgbClr val="CCCCCC"/>
                </a:solidFill>
                <a:highlight>
                  <a:srgbClr val="1F1F1F"/>
                </a:highlight>
                <a:latin typeface="Courier New"/>
                <a:ea typeface="Courier New"/>
                <a:cs typeface="Courier New"/>
                <a:sym typeface="Courier New"/>
              </a:rPr>
              <a:t> mv.value</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ELSE</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NULL</a:t>
            </a:r>
            <a:endParaRPr b="1" i="0" sz="55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END</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market_value</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FROM</a:t>
            </a:r>
            <a:r>
              <a:rPr b="1" i="0" lang="en" sz="550" u="none" cap="none" strike="noStrike">
                <a:solidFill>
                  <a:srgbClr val="CCCCCC"/>
                </a:solidFill>
                <a:highlight>
                  <a:srgbClr val="1F1F1F"/>
                </a:highlight>
                <a:latin typeface="Courier New"/>
                <a:ea typeface="Courier New"/>
                <a:cs typeface="Courier New"/>
                <a:sym typeface="Courier New"/>
              </a:rPr>
              <a:t> active_players p</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LEFT JOIN</a:t>
            </a:r>
            <a:r>
              <a:rPr b="1" i="0" lang="en" sz="550" u="none" cap="none" strike="noStrike">
                <a:solidFill>
                  <a:srgbClr val="CCCCCC"/>
                </a:solidFill>
                <a:highlight>
                  <a:srgbClr val="1F1F1F"/>
                </a:highlight>
                <a:latin typeface="Courier New"/>
                <a:ea typeface="Courier New"/>
                <a:cs typeface="Courier New"/>
                <a:sym typeface="Courier New"/>
              </a:rPr>
              <a:t> player_latest_market_value lmv </a:t>
            </a:r>
            <a:r>
              <a:rPr b="1" i="0" lang="en" sz="550" u="none" cap="none" strike="noStrike">
                <a:solidFill>
                  <a:srgbClr val="569CD6"/>
                </a:solidFill>
                <a:highlight>
                  <a:srgbClr val="1F1F1F"/>
                </a:highlight>
                <a:latin typeface="Courier New"/>
                <a:ea typeface="Courier New"/>
                <a:cs typeface="Courier New"/>
                <a:sym typeface="Courier New"/>
              </a:rPr>
              <a:t>ON</a:t>
            </a:r>
            <a:r>
              <a:rPr b="1" i="0" lang="en" sz="550" u="none" cap="none" strike="noStrike">
                <a:solidFill>
                  <a:srgbClr val="CCCCCC"/>
                </a:solidFill>
                <a:highlight>
                  <a:srgbClr val="1F1F1F"/>
                </a:highlight>
                <a:latin typeface="Courier New"/>
                <a:ea typeface="Courier New"/>
                <a:cs typeface="Courier New"/>
                <a:sym typeface="Courier New"/>
              </a:rPr>
              <a:t> p.player_id </a:t>
            </a:r>
            <a:r>
              <a:rPr b="1" i="0" lang="en" sz="550" u="none" cap="none" strike="noStrike">
                <a:solidFill>
                  <a:srgbClr val="D4D4D4"/>
                </a:solidFill>
                <a:highlight>
                  <a:srgbClr val="1F1F1F"/>
                </a:highlight>
                <a:latin typeface="Courier New"/>
                <a:ea typeface="Courier New"/>
                <a:cs typeface="Courier New"/>
                <a:sym typeface="Courier New"/>
              </a:rPr>
              <a:t>=</a:t>
            </a:r>
            <a:r>
              <a:rPr b="1" i="0" lang="en" sz="550" u="none" cap="none" strike="noStrike">
                <a:solidFill>
                  <a:srgbClr val="CCCCCC"/>
                </a:solidFill>
                <a:highlight>
                  <a:srgbClr val="1F1F1F"/>
                </a:highlight>
                <a:latin typeface="Courier New"/>
                <a:ea typeface="Courier New"/>
                <a:cs typeface="Courier New"/>
                <a:sym typeface="Courier New"/>
              </a:rPr>
              <a:t> lmv.player_id</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LEFT JOIN</a:t>
            </a:r>
            <a:r>
              <a:rPr b="1" i="0" lang="en" sz="550" u="none" cap="none" strike="noStrike">
                <a:solidFill>
                  <a:srgbClr val="CCCCCC"/>
                </a:solidFill>
                <a:highlight>
                  <a:srgbClr val="1F1F1F"/>
                </a:highlight>
                <a:latin typeface="Courier New"/>
                <a:ea typeface="Courier New"/>
                <a:cs typeface="Courier New"/>
                <a:sym typeface="Courier New"/>
              </a:rPr>
              <a:t> player_market_value        mv  </a:t>
            </a:r>
            <a:r>
              <a:rPr b="1" i="0" lang="en" sz="550" u="none" cap="none" strike="noStrike">
                <a:solidFill>
                  <a:srgbClr val="569CD6"/>
                </a:solidFill>
                <a:highlight>
                  <a:srgbClr val="1F1F1F"/>
                </a:highlight>
                <a:latin typeface="Courier New"/>
                <a:ea typeface="Courier New"/>
                <a:cs typeface="Courier New"/>
                <a:sym typeface="Courier New"/>
              </a:rPr>
              <a:t>ON</a:t>
            </a:r>
            <a:r>
              <a:rPr b="1" i="0" lang="en" sz="550" u="none" cap="none" strike="noStrike">
                <a:solidFill>
                  <a:srgbClr val="CCCCCC"/>
                </a:solidFill>
                <a:highlight>
                  <a:srgbClr val="1F1F1F"/>
                </a:highlight>
                <a:latin typeface="Courier New"/>
                <a:ea typeface="Courier New"/>
                <a:cs typeface="Courier New"/>
                <a:sym typeface="Courier New"/>
              </a:rPr>
              <a:t> p.player_id </a:t>
            </a:r>
            <a:r>
              <a:rPr b="1" i="0" lang="en" sz="550" u="none" cap="none" strike="noStrike">
                <a:solidFill>
                  <a:srgbClr val="D4D4D4"/>
                </a:solidFill>
                <a:highlight>
                  <a:srgbClr val="1F1F1F"/>
                </a:highlight>
                <a:latin typeface="Courier New"/>
                <a:ea typeface="Courier New"/>
                <a:cs typeface="Courier New"/>
                <a:sym typeface="Courier New"/>
              </a:rPr>
              <a:t>=</a:t>
            </a:r>
            <a:r>
              <a:rPr b="1" i="0" lang="en" sz="550" u="none" cap="none" strike="noStrike">
                <a:solidFill>
                  <a:srgbClr val="CCCCCC"/>
                </a:solidFill>
                <a:highlight>
                  <a:srgbClr val="1F1F1F"/>
                </a:highlight>
                <a:latin typeface="Courier New"/>
                <a:ea typeface="Courier New"/>
                <a:cs typeface="Courier New"/>
                <a:sym typeface="Courier New"/>
              </a:rPr>
              <a:t> mv.player_id)</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569CD6"/>
                </a:solidFill>
                <a:highlight>
                  <a:srgbClr val="1F1F1F"/>
                </a:highlight>
                <a:latin typeface="Courier New"/>
                <a:ea typeface="Courier New"/>
                <a:cs typeface="Courier New"/>
                <a:sym typeface="Courier New"/>
              </a:rPr>
              <a:t>SELECT</a:t>
            </a:r>
            <a:endParaRPr b="1" i="0" sz="55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CASE</a:t>
            </a:r>
            <a:endParaRPr b="1" i="0" sz="550" u="none" cap="none" strike="noStrike">
              <a:solidFill>
                <a:srgbClr val="569CD6"/>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WHEN</a:t>
            </a:r>
            <a:r>
              <a:rPr b="1" i="0" lang="en" sz="550" u="none" cap="none" strike="noStrike">
                <a:solidFill>
                  <a:srgbClr val="CCCCCC"/>
                </a:solidFill>
                <a:highlight>
                  <a:srgbClr val="1F1F1F"/>
                </a:highlight>
                <a:latin typeface="Courier New"/>
                <a:ea typeface="Courier New"/>
                <a:cs typeface="Courier New"/>
                <a:sym typeface="Courier New"/>
              </a:rPr>
              <a:t> nc.total_caps </a:t>
            </a:r>
            <a:r>
              <a:rPr b="1" i="0" lang="en" sz="550" u="none" cap="none" strike="noStrike">
                <a:solidFill>
                  <a:srgbClr val="569CD6"/>
                </a:solidFill>
                <a:highlight>
                  <a:srgbClr val="1F1F1F"/>
                </a:highlight>
                <a:latin typeface="Courier New"/>
                <a:ea typeface="Courier New"/>
                <a:cs typeface="Courier New"/>
                <a:sym typeface="Courier New"/>
              </a:rPr>
              <a:t>BETWEEN</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B5CEA8"/>
                </a:solidFill>
                <a:highlight>
                  <a:srgbClr val="1F1F1F"/>
                </a:highlight>
                <a:latin typeface="Courier New"/>
                <a:ea typeface="Courier New"/>
                <a:cs typeface="Courier New"/>
                <a:sym typeface="Courier New"/>
              </a:rPr>
              <a:t>1</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AND</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B5CEA8"/>
                </a:solidFill>
                <a:highlight>
                  <a:srgbClr val="1F1F1F"/>
                </a:highlight>
                <a:latin typeface="Courier New"/>
                <a:ea typeface="Courier New"/>
                <a:cs typeface="Courier New"/>
                <a:sym typeface="Courier New"/>
              </a:rPr>
              <a:t>10</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THEN</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CE9178"/>
                </a:solidFill>
                <a:highlight>
                  <a:srgbClr val="1F1F1F"/>
                </a:highlight>
                <a:latin typeface="Courier New"/>
                <a:ea typeface="Courier New"/>
                <a:cs typeface="Courier New"/>
                <a:sym typeface="Courier New"/>
              </a:rPr>
              <a:t>'1–10'</a:t>
            </a:r>
            <a:endParaRPr b="1" i="0" sz="550" u="none" cap="none" strike="noStrike">
              <a:solidFill>
                <a:srgbClr val="CE917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WHEN</a:t>
            </a:r>
            <a:r>
              <a:rPr b="1" i="0" lang="en" sz="550" u="none" cap="none" strike="noStrike">
                <a:solidFill>
                  <a:srgbClr val="CCCCCC"/>
                </a:solidFill>
                <a:highlight>
                  <a:srgbClr val="1F1F1F"/>
                </a:highlight>
                <a:latin typeface="Courier New"/>
                <a:ea typeface="Courier New"/>
                <a:cs typeface="Courier New"/>
                <a:sym typeface="Courier New"/>
              </a:rPr>
              <a:t> nc.total_caps </a:t>
            </a:r>
            <a:r>
              <a:rPr b="1" i="0" lang="en" sz="550" u="none" cap="none" strike="noStrike">
                <a:solidFill>
                  <a:srgbClr val="569CD6"/>
                </a:solidFill>
                <a:highlight>
                  <a:srgbClr val="1F1F1F"/>
                </a:highlight>
                <a:latin typeface="Courier New"/>
                <a:ea typeface="Courier New"/>
                <a:cs typeface="Courier New"/>
                <a:sym typeface="Courier New"/>
              </a:rPr>
              <a:t>BETWEEN</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B5CEA8"/>
                </a:solidFill>
                <a:highlight>
                  <a:srgbClr val="1F1F1F"/>
                </a:highlight>
                <a:latin typeface="Courier New"/>
                <a:ea typeface="Courier New"/>
                <a:cs typeface="Courier New"/>
                <a:sym typeface="Courier New"/>
              </a:rPr>
              <a:t>11</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AND</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B5CEA8"/>
                </a:solidFill>
                <a:highlight>
                  <a:srgbClr val="1F1F1F"/>
                </a:highlight>
                <a:latin typeface="Courier New"/>
                <a:ea typeface="Courier New"/>
                <a:cs typeface="Courier New"/>
                <a:sym typeface="Courier New"/>
              </a:rPr>
              <a:t>50</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THEN</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CE9178"/>
                </a:solidFill>
                <a:highlight>
                  <a:srgbClr val="1F1F1F"/>
                </a:highlight>
                <a:latin typeface="Courier New"/>
                <a:ea typeface="Courier New"/>
                <a:cs typeface="Courier New"/>
                <a:sym typeface="Courier New"/>
              </a:rPr>
              <a:t>'11–50'</a:t>
            </a:r>
            <a:endParaRPr b="1" i="0" sz="550" u="none" cap="none" strike="noStrike">
              <a:solidFill>
                <a:srgbClr val="CE917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ELSE</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CE9178"/>
                </a:solidFill>
                <a:highlight>
                  <a:srgbClr val="1F1F1F"/>
                </a:highlight>
                <a:latin typeface="Courier New"/>
                <a:ea typeface="Courier New"/>
                <a:cs typeface="Courier New"/>
                <a:sym typeface="Courier New"/>
              </a:rPr>
              <a:t>'50+'</a:t>
            </a:r>
            <a:endParaRPr b="1" i="0" sz="550" u="none" cap="none" strike="noStrike">
              <a:solidFill>
                <a:srgbClr val="CE917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END</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cap_bucket,</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DCDCAA"/>
                </a:solidFill>
                <a:highlight>
                  <a:srgbClr val="1F1F1F"/>
                </a:highlight>
                <a:latin typeface="Courier New"/>
                <a:ea typeface="Courier New"/>
                <a:cs typeface="Courier New"/>
                <a:sym typeface="Courier New"/>
              </a:rPr>
              <a:t>COUNT</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D4D4D4"/>
                </a:solidFill>
                <a:highlight>
                  <a:srgbClr val="1F1F1F"/>
                </a:highlight>
                <a:latin typeface="Courier New"/>
                <a:ea typeface="Courier New"/>
                <a:cs typeface="Courier New"/>
                <a:sym typeface="Courier New"/>
              </a:rPr>
              <a: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player_count,</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DCDCAA"/>
                </a:solidFill>
                <a:highlight>
                  <a:srgbClr val="1F1F1F"/>
                </a:highlight>
                <a:latin typeface="Courier New"/>
                <a:ea typeface="Courier New"/>
                <a:cs typeface="Courier New"/>
                <a:sym typeface="Courier New"/>
              </a:rPr>
              <a:t>ROUND</a:t>
            </a:r>
            <a:r>
              <a:rPr b="1" i="0" lang="en" sz="550" u="none" cap="none" strike="noStrike">
                <a:solidFill>
                  <a:srgbClr val="CCCCCC"/>
                </a:solidFill>
                <a:highlight>
                  <a:srgbClr val="1F1F1F"/>
                </a:highlight>
                <a:latin typeface="Courier New"/>
                <a:ea typeface="Courier New"/>
                <a:cs typeface="Courier New"/>
                <a:sym typeface="Courier New"/>
              </a:rPr>
              <a:t>(</a:t>
            </a:r>
            <a:r>
              <a:rPr b="1" i="0" lang="en" sz="550" u="none" cap="none" strike="noStrike">
                <a:solidFill>
                  <a:srgbClr val="DCDCAA"/>
                </a:solidFill>
                <a:highlight>
                  <a:srgbClr val="1F1F1F"/>
                </a:highlight>
                <a:latin typeface="Courier New"/>
                <a:ea typeface="Courier New"/>
                <a:cs typeface="Courier New"/>
                <a:sym typeface="Courier New"/>
              </a:rPr>
              <a:t>AVG</a:t>
            </a:r>
            <a:r>
              <a:rPr b="1" i="0" lang="en" sz="550" u="none" cap="none" strike="noStrike">
                <a:solidFill>
                  <a:srgbClr val="CCCCCC"/>
                </a:solidFill>
                <a:highlight>
                  <a:srgbClr val="1F1F1F"/>
                </a:highlight>
                <a:latin typeface="Courier New"/>
                <a:ea typeface="Courier New"/>
                <a:cs typeface="Courier New"/>
                <a:sym typeface="Courier New"/>
              </a:rPr>
              <a:t>(mv.market_value)) </a:t>
            </a:r>
            <a:r>
              <a:rPr b="1" i="0" lang="en" sz="550" u="none" cap="none" strike="noStrike">
                <a:solidFill>
                  <a:srgbClr val="569CD6"/>
                </a:solidFill>
                <a:highlight>
                  <a:srgbClr val="1F1F1F"/>
                </a:highlight>
                <a:latin typeface="Courier New"/>
                <a:ea typeface="Courier New"/>
                <a:cs typeface="Courier New"/>
                <a:sym typeface="Courier New"/>
              </a:rPr>
              <a:t>AS</a:t>
            </a:r>
            <a:r>
              <a:rPr b="1" i="0" lang="en" sz="550" u="none" cap="none" strike="noStrike">
                <a:solidFill>
                  <a:srgbClr val="CCCCCC"/>
                </a:solidFill>
                <a:highlight>
                  <a:srgbClr val="1F1F1F"/>
                </a:highlight>
                <a:latin typeface="Courier New"/>
                <a:ea typeface="Courier New"/>
                <a:cs typeface="Courier New"/>
                <a:sym typeface="Courier New"/>
              </a:rPr>
              <a:t> avg_market_value</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569CD6"/>
                </a:solidFill>
                <a:highlight>
                  <a:srgbClr val="1F1F1F"/>
                </a:highlight>
                <a:latin typeface="Courier New"/>
                <a:ea typeface="Courier New"/>
                <a:cs typeface="Courier New"/>
                <a:sym typeface="Courier New"/>
              </a:rPr>
              <a:t>FROM</a:t>
            </a:r>
            <a:r>
              <a:rPr b="1" i="0" lang="en" sz="550" u="none" cap="none" strike="noStrike">
                <a:solidFill>
                  <a:srgbClr val="CCCCCC"/>
                </a:solidFill>
                <a:highlight>
                  <a:srgbClr val="1F1F1F"/>
                </a:highlight>
                <a:latin typeface="Courier New"/>
                <a:ea typeface="Courier New"/>
                <a:cs typeface="Courier New"/>
                <a:sym typeface="Courier New"/>
              </a:rPr>
              <a:t> national_caps nc</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569CD6"/>
                </a:solidFill>
                <a:highlight>
                  <a:srgbClr val="1F1F1F"/>
                </a:highlight>
                <a:latin typeface="Courier New"/>
                <a:ea typeface="Courier New"/>
                <a:cs typeface="Courier New"/>
                <a:sym typeface="Courier New"/>
              </a:rPr>
              <a:t>INNER JOIN</a:t>
            </a:r>
            <a:r>
              <a:rPr b="1" i="0" lang="en" sz="550" u="none" cap="none" strike="noStrike">
                <a:solidFill>
                  <a:srgbClr val="CCCCCC"/>
                </a:solidFill>
                <a:highlight>
                  <a:srgbClr val="1F1F1F"/>
                </a:highlight>
                <a:latin typeface="Courier New"/>
                <a:ea typeface="Courier New"/>
                <a:cs typeface="Courier New"/>
                <a:sym typeface="Courier New"/>
              </a:rPr>
              <a:t> market_values mv </a:t>
            </a:r>
            <a:r>
              <a:rPr b="1" i="0" lang="en" sz="550" u="none" cap="none" strike="noStrike">
                <a:solidFill>
                  <a:srgbClr val="569CD6"/>
                </a:solidFill>
                <a:highlight>
                  <a:srgbClr val="1F1F1F"/>
                </a:highlight>
                <a:latin typeface="Courier New"/>
                <a:ea typeface="Courier New"/>
                <a:cs typeface="Courier New"/>
                <a:sym typeface="Courier New"/>
              </a:rPr>
              <a:t>ON</a:t>
            </a:r>
            <a:r>
              <a:rPr b="1" i="0" lang="en" sz="550" u="none" cap="none" strike="noStrike">
                <a:solidFill>
                  <a:srgbClr val="CCCCCC"/>
                </a:solidFill>
                <a:highlight>
                  <a:srgbClr val="1F1F1F"/>
                </a:highlight>
                <a:latin typeface="Courier New"/>
                <a:ea typeface="Courier New"/>
                <a:cs typeface="Courier New"/>
                <a:sym typeface="Courier New"/>
              </a:rPr>
              <a:t> nc.player_id </a:t>
            </a:r>
            <a:r>
              <a:rPr b="1" i="0" lang="en" sz="550" u="none" cap="none" strike="noStrike">
                <a:solidFill>
                  <a:srgbClr val="D4D4D4"/>
                </a:solidFill>
                <a:highlight>
                  <a:srgbClr val="1F1F1F"/>
                </a:highlight>
                <a:latin typeface="Courier New"/>
                <a:ea typeface="Courier New"/>
                <a:cs typeface="Courier New"/>
                <a:sym typeface="Courier New"/>
              </a:rPr>
              <a:t>=</a:t>
            </a:r>
            <a:r>
              <a:rPr b="1" i="0" lang="en" sz="550" u="none" cap="none" strike="noStrike">
                <a:solidFill>
                  <a:srgbClr val="CCCCCC"/>
                </a:solidFill>
                <a:highlight>
                  <a:srgbClr val="1F1F1F"/>
                </a:highlight>
                <a:latin typeface="Courier New"/>
                <a:ea typeface="Courier New"/>
                <a:cs typeface="Courier New"/>
                <a:sym typeface="Courier New"/>
              </a:rPr>
              <a:t> mv.player_id</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569CD6"/>
                </a:solidFill>
                <a:highlight>
                  <a:srgbClr val="1F1F1F"/>
                </a:highlight>
                <a:latin typeface="Courier New"/>
                <a:ea typeface="Courier New"/>
                <a:cs typeface="Courier New"/>
                <a:sym typeface="Courier New"/>
              </a:rPr>
              <a:t>WHERE</a:t>
            </a:r>
            <a:r>
              <a:rPr b="1" i="0" lang="en" sz="550" u="none" cap="none" strike="noStrike">
                <a:solidFill>
                  <a:srgbClr val="CCCCCC"/>
                </a:solidFill>
                <a:highlight>
                  <a:srgbClr val="1F1F1F"/>
                </a:highlight>
                <a:latin typeface="Courier New"/>
                <a:ea typeface="Courier New"/>
                <a:cs typeface="Courier New"/>
                <a:sym typeface="Courier New"/>
              </a:rPr>
              <a:t> mv.market_value </a:t>
            </a:r>
            <a:r>
              <a:rPr b="1" i="0" lang="en" sz="550" u="none" cap="none" strike="noStrike">
                <a:solidFill>
                  <a:srgbClr val="569CD6"/>
                </a:solidFill>
                <a:highlight>
                  <a:srgbClr val="1F1F1F"/>
                </a:highlight>
                <a:latin typeface="Courier New"/>
                <a:ea typeface="Courier New"/>
                <a:cs typeface="Courier New"/>
                <a:sym typeface="Courier New"/>
              </a:rPr>
              <a:t>IS NOT NULL</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569CD6"/>
                </a:solidFill>
                <a:highlight>
                  <a:srgbClr val="1F1F1F"/>
                </a:highlight>
                <a:latin typeface="Courier New"/>
                <a:ea typeface="Courier New"/>
                <a:cs typeface="Courier New"/>
                <a:sym typeface="Courier New"/>
              </a:rPr>
              <a:t>AND</a:t>
            </a:r>
            <a:r>
              <a:rPr b="1" i="0" lang="en" sz="550" u="none" cap="none" strike="noStrike">
                <a:solidFill>
                  <a:srgbClr val="CCCCCC"/>
                </a:solidFill>
                <a:highlight>
                  <a:srgbClr val="1F1F1F"/>
                </a:highlight>
                <a:latin typeface="Courier New"/>
                <a:ea typeface="Courier New"/>
                <a:cs typeface="Courier New"/>
                <a:sym typeface="Courier New"/>
              </a:rPr>
              <a:t> nc.total_caps </a:t>
            </a:r>
            <a:r>
              <a:rPr b="1" i="0" lang="en" sz="550" u="none" cap="none" strike="noStrike">
                <a:solidFill>
                  <a:srgbClr val="D4D4D4"/>
                </a:solidFill>
                <a:highlight>
                  <a:srgbClr val="1F1F1F"/>
                </a:highlight>
                <a:latin typeface="Courier New"/>
                <a:ea typeface="Courier New"/>
                <a:cs typeface="Courier New"/>
                <a:sym typeface="Courier New"/>
              </a:rPr>
              <a:t>&gt;</a:t>
            </a:r>
            <a:r>
              <a:rPr b="1" i="0" lang="en" sz="550" u="none" cap="none" strike="noStrike">
                <a:solidFill>
                  <a:srgbClr val="CCCCCC"/>
                </a:solidFill>
                <a:highlight>
                  <a:srgbClr val="1F1F1F"/>
                </a:highlight>
                <a:latin typeface="Courier New"/>
                <a:ea typeface="Courier New"/>
                <a:cs typeface="Courier New"/>
                <a:sym typeface="Courier New"/>
              </a:rPr>
              <a:t> </a:t>
            </a:r>
            <a:r>
              <a:rPr b="1" i="0" lang="en" sz="550" u="none" cap="none" strike="noStrike">
                <a:solidFill>
                  <a:srgbClr val="B5CEA8"/>
                </a:solidFill>
                <a:highlight>
                  <a:srgbClr val="1F1F1F"/>
                </a:highlight>
                <a:latin typeface="Courier New"/>
                <a:ea typeface="Courier New"/>
                <a:cs typeface="Courier New"/>
                <a:sym typeface="Courier New"/>
              </a:rPr>
              <a:t>0</a:t>
            </a:r>
            <a:endParaRPr b="1" i="0" sz="550" u="none" cap="none" strike="noStrike">
              <a:solidFill>
                <a:srgbClr val="B5CEA8"/>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569CD6"/>
                </a:solidFill>
                <a:highlight>
                  <a:srgbClr val="1F1F1F"/>
                </a:highlight>
                <a:latin typeface="Courier New"/>
                <a:ea typeface="Courier New"/>
                <a:cs typeface="Courier New"/>
                <a:sym typeface="Courier New"/>
              </a:rPr>
              <a:t>GROUP BY</a:t>
            </a:r>
            <a:r>
              <a:rPr b="1" i="0" lang="en" sz="550" u="none" cap="none" strike="noStrike">
                <a:solidFill>
                  <a:srgbClr val="CCCCCC"/>
                </a:solidFill>
                <a:highlight>
                  <a:srgbClr val="1F1F1F"/>
                </a:highlight>
                <a:latin typeface="Courier New"/>
                <a:ea typeface="Courier New"/>
                <a:cs typeface="Courier New"/>
                <a:sym typeface="Courier New"/>
              </a:rPr>
              <a:t> cap_bucket</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550"/>
              <a:buFont typeface="Arial"/>
              <a:buNone/>
            </a:pPr>
            <a:r>
              <a:rPr b="1" i="0" lang="en" sz="550" u="none" cap="none" strike="noStrike">
                <a:solidFill>
                  <a:srgbClr val="569CD6"/>
                </a:solidFill>
                <a:highlight>
                  <a:srgbClr val="1F1F1F"/>
                </a:highlight>
                <a:latin typeface="Courier New"/>
                <a:ea typeface="Courier New"/>
                <a:cs typeface="Courier New"/>
                <a:sym typeface="Courier New"/>
              </a:rPr>
              <a:t>ORDER BY</a:t>
            </a:r>
            <a:r>
              <a:rPr b="1" i="0" lang="en" sz="550" u="none" cap="none" strike="noStrike">
                <a:solidFill>
                  <a:srgbClr val="CCCCCC"/>
                </a:solidFill>
                <a:highlight>
                  <a:srgbClr val="1F1F1F"/>
                </a:highlight>
                <a:latin typeface="Courier New"/>
                <a:ea typeface="Courier New"/>
                <a:cs typeface="Courier New"/>
                <a:sym typeface="Courier New"/>
              </a:rPr>
              <a:t> cap_bucket;</a:t>
            </a:r>
            <a:endParaRPr b="1" i="0" sz="550" u="none" cap="none" strike="noStrike">
              <a:solidFill>
                <a:srgbClr val="CCCCCC"/>
              </a:solidFill>
              <a:highlight>
                <a:srgbClr val="1F1F1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800"/>
              <a:buFont typeface="Arial"/>
              <a:buNone/>
            </a:pPr>
            <a:r>
              <a:t/>
            </a:r>
            <a:endParaRPr b="1" i="0" sz="800" u="none" cap="none" strike="noStrike">
              <a:solidFill>
                <a:schemeClr val="dk2"/>
              </a:solidFill>
              <a:latin typeface="Nunito"/>
              <a:ea typeface="Nunito"/>
              <a:cs typeface="Nunito"/>
              <a:sym typeface="Nunito"/>
            </a:endParaRPr>
          </a:p>
        </p:txBody>
      </p:sp>
      <p:pic>
        <p:nvPicPr>
          <p:cNvPr id="457" name="Google Shape;457;p22"/>
          <p:cNvPicPr preferRelativeResize="0"/>
          <p:nvPr/>
        </p:nvPicPr>
        <p:blipFill rotWithShape="1">
          <a:blip r:embed="rId3">
            <a:alphaModFix/>
          </a:blip>
          <a:srcRect b="0" l="0" r="0" t="0"/>
          <a:stretch/>
        </p:blipFill>
        <p:spPr>
          <a:xfrm>
            <a:off x="4769625" y="2429475"/>
            <a:ext cx="3402425" cy="13306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3"/>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lang="en" sz="2100"/>
              <a:t>10. Do players with more international caps have a higher market value?</a:t>
            </a:r>
            <a:endParaRPr sz="2100"/>
          </a:p>
        </p:txBody>
      </p:sp>
      <p:sp>
        <p:nvSpPr>
          <p:cNvPr id="463" name="Google Shape;463;p23"/>
          <p:cNvSpPr txBox="1"/>
          <p:nvPr/>
        </p:nvSpPr>
        <p:spPr>
          <a:xfrm>
            <a:off x="0" y="0"/>
            <a:ext cx="9144000" cy="45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66"/>
              <a:buFont typeface="Arial"/>
              <a:buNone/>
            </a:pPr>
            <a:r>
              <a:rPr b="1" i="0" lang="en" sz="1766" u="none" cap="none" strike="noStrike">
                <a:solidFill>
                  <a:srgbClr val="DE935F"/>
                </a:solidFill>
                <a:latin typeface="Maven Pro"/>
                <a:ea typeface="Maven Pro"/>
                <a:cs typeface="Maven Pro"/>
                <a:sym typeface="Maven Pro"/>
              </a:rPr>
              <a:t>Career &amp; Value Trajectories</a:t>
            </a:r>
            <a:r>
              <a:rPr b="1" i="0" lang="en" sz="1766" u="none" cap="none" strike="noStrike">
                <a:solidFill>
                  <a:srgbClr val="6AA84F"/>
                </a:solidFill>
                <a:latin typeface="Maven Pro"/>
                <a:ea typeface="Maven Pro"/>
                <a:cs typeface="Maven Pro"/>
                <a:sym typeface="Maven Pro"/>
              </a:rPr>
              <a:t> 🔀</a:t>
            </a:r>
            <a:endParaRPr b="1" i="0" sz="1766" u="none" cap="none" strike="noStrike">
              <a:solidFill>
                <a:srgbClr val="6AA84F"/>
              </a:solidFill>
              <a:latin typeface="Maven Pro"/>
              <a:ea typeface="Maven Pro"/>
              <a:cs typeface="Maven Pro"/>
              <a:sym typeface="Maven Pro"/>
            </a:endParaRPr>
          </a:p>
        </p:txBody>
      </p:sp>
      <p:pic>
        <p:nvPicPr>
          <p:cNvPr id="464" name="Google Shape;464;p23"/>
          <p:cNvPicPr preferRelativeResize="0"/>
          <p:nvPr/>
        </p:nvPicPr>
        <p:blipFill rotWithShape="1">
          <a:blip r:embed="rId3">
            <a:alphaModFix/>
          </a:blip>
          <a:srcRect b="0" l="0" r="0" t="0"/>
          <a:stretch/>
        </p:blipFill>
        <p:spPr>
          <a:xfrm>
            <a:off x="349100" y="1739850"/>
            <a:ext cx="8445788" cy="32408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4"/>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Challenges and Solutions</a:t>
            </a:r>
            <a:endParaRPr/>
          </a:p>
        </p:txBody>
      </p:sp>
      <p:sp>
        <p:nvSpPr>
          <p:cNvPr id="470" name="Google Shape;470;p24"/>
          <p:cNvSpPr txBox="1"/>
          <p:nvPr>
            <p:ph idx="1" type="body"/>
          </p:nvPr>
        </p:nvSpPr>
        <p:spPr>
          <a:xfrm>
            <a:off x="1303800" y="1685600"/>
            <a:ext cx="7030500" cy="25416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813"/>
              <a:buNone/>
            </a:pPr>
            <a:r>
              <a:rPr b="1" lang="en" sz="1212"/>
              <a:t>Outliers collapsing visualizations</a:t>
            </a:r>
            <a:endParaRPr sz="1212"/>
          </a:p>
          <a:p>
            <a:pPr indent="0" lvl="0" marL="0" rtl="0" algn="l">
              <a:lnSpc>
                <a:spcPct val="95000"/>
              </a:lnSpc>
              <a:spcBef>
                <a:spcPts val="800"/>
              </a:spcBef>
              <a:spcAft>
                <a:spcPts val="0"/>
              </a:spcAft>
              <a:buSzPts val="813"/>
              <a:buNone/>
            </a:pPr>
            <a:r>
              <a:rPr lang="en" sz="1212"/>
              <a:t>Extreme transfer ratios (up to 40,000%) compressed all meaningful data to the left. Fixed by capping axes and switching from mean to median to reduce outlier influence.</a:t>
            </a:r>
            <a:endParaRPr sz="1212"/>
          </a:p>
          <a:p>
            <a:pPr indent="0" lvl="0" marL="0" rtl="0" algn="l">
              <a:lnSpc>
                <a:spcPct val="95000"/>
              </a:lnSpc>
              <a:spcBef>
                <a:spcPts val="1200"/>
              </a:spcBef>
              <a:spcAft>
                <a:spcPts val="0"/>
              </a:spcAft>
              <a:buSzPts val="813"/>
              <a:buNone/>
            </a:pPr>
            <a:r>
              <a:rPr b="1" lang="en" sz="1212"/>
              <a:t>Buyer filter contaminating seller analysis</a:t>
            </a:r>
            <a:endParaRPr sz="1212"/>
          </a:p>
          <a:p>
            <a:pPr indent="0" lvl="0" marL="0" rtl="0" algn="l">
              <a:lnSpc>
                <a:spcPct val="95000"/>
              </a:lnSpc>
              <a:spcBef>
                <a:spcPts val="800"/>
              </a:spcBef>
              <a:spcAft>
                <a:spcPts val="0"/>
              </a:spcAft>
              <a:buSzPts val="813"/>
              <a:buNone/>
            </a:pPr>
            <a:r>
              <a:rPr lang="en" sz="1212"/>
              <a:t>Applying the min-transfer threshold only to buyers was silently dropping valid sellers. Fixed by splitting into separate df_buy and df_sell DataFrames before filtering.</a:t>
            </a:r>
            <a:endParaRPr sz="1212"/>
          </a:p>
          <a:p>
            <a:pPr indent="0" lvl="0" marL="0" rtl="0" algn="l">
              <a:lnSpc>
                <a:spcPct val="95000"/>
              </a:lnSpc>
              <a:spcBef>
                <a:spcPts val="800"/>
              </a:spcBef>
              <a:spcAft>
                <a:spcPts val="0"/>
              </a:spcAft>
              <a:buSzPts val="813"/>
              <a:buNone/>
            </a:pPr>
            <a:r>
              <a:t/>
            </a:r>
            <a:endParaRPr sz="1212"/>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25"/>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Tools and Technologies</a:t>
            </a:r>
            <a:endParaRPr/>
          </a:p>
        </p:txBody>
      </p:sp>
      <p:sp>
        <p:nvSpPr>
          <p:cNvPr id="476" name="Google Shape;476;p25"/>
          <p:cNvSpPr txBox="1"/>
          <p:nvPr>
            <p:ph idx="1" type="body"/>
          </p:nvPr>
        </p:nvSpPr>
        <p:spPr>
          <a:xfrm>
            <a:off x="1303800" y="1717650"/>
            <a:ext cx="7030500" cy="25416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0000"/>
              <a:buNone/>
            </a:pPr>
            <a:r>
              <a:rPr b="1" lang="en"/>
              <a:t>Python (pandas, matplotlib, numpy)</a:t>
            </a:r>
            <a:endParaRPr/>
          </a:p>
          <a:p>
            <a:pPr indent="0" lvl="0" marL="0" rtl="0" algn="l">
              <a:lnSpc>
                <a:spcPct val="115000"/>
              </a:lnSpc>
              <a:spcBef>
                <a:spcPts val="800"/>
              </a:spcBef>
              <a:spcAft>
                <a:spcPts val="0"/>
              </a:spcAft>
              <a:buSzPct val="100000"/>
              <a:buNone/>
            </a:pPr>
            <a:r>
              <a:rPr lang="en"/>
              <a:t>Core stack for data loading, cleaning, transformation, and all visualizations. Codebase handles EDA, filtering, aggregation, and charting without switching tools.</a:t>
            </a:r>
            <a:endParaRPr/>
          </a:p>
          <a:p>
            <a:pPr indent="0" lvl="0" marL="0" rtl="0" algn="l">
              <a:lnSpc>
                <a:spcPct val="115000"/>
              </a:lnSpc>
              <a:spcBef>
                <a:spcPts val="1200"/>
              </a:spcBef>
              <a:spcAft>
                <a:spcPts val="0"/>
              </a:spcAft>
              <a:buSzPct val="100000"/>
              <a:buNone/>
            </a:pPr>
            <a:r>
              <a:rPr b="1" lang="en"/>
              <a:t>SQLite3 + DB Browser</a:t>
            </a:r>
            <a:endParaRPr/>
          </a:p>
          <a:p>
            <a:pPr indent="0" lvl="0" marL="0" rtl="0" algn="l">
              <a:lnSpc>
                <a:spcPct val="115000"/>
              </a:lnSpc>
              <a:spcBef>
                <a:spcPts val="800"/>
              </a:spcBef>
              <a:spcAft>
                <a:spcPts val="0"/>
              </a:spcAft>
              <a:buSzPct val="100000"/>
              <a:buNone/>
            </a:pPr>
            <a:r>
              <a:rPr lang="en"/>
              <a:t>Used to ingest all CSV files into a relational database via glob and pandas.to_sql(), then queried with DB Browser. Lightweight and zero-setup, ideal for a local dataset of this size.</a:t>
            </a:r>
            <a:endParaRPr/>
          </a:p>
          <a:p>
            <a:pPr indent="0" lvl="0" marL="0" rtl="0" algn="l">
              <a:lnSpc>
                <a:spcPct val="115000"/>
              </a:lnSpc>
              <a:spcBef>
                <a:spcPts val="1200"/>
              </a:spcBef>
              <a:spcAft>
                <a:spcPts val="0"/>
              </a:spcAft>
              <a:buSzPct val="100000"/>
              <a:buNone/>
            </a:pPr>
            <a:r>
              <a:rPr b="1" lang="en"/>
              <a:t>Transfermarkt Open Dataset</a:t>
            </a:r>
            <a:endParaRPr/>
          </a:p>
          <a:p>
            <a:pPr indent="0" lvl="0" marL="0" rtl="0" algn="l">
              <a:lnSpc>
                <a:spcPct val="115000"/>
              </a:lnSpc>
              <a:spcBef>
                <a:spcPts val="800"/>
              </a:spcBef>
              <a:spcAft>
                <a:spcPts val="0"/>
              </a:spcAft>
              <a:buSzPct val="100000"/>
              <a:buNone/>
            </a:pPr>
            <a:r>
              <a:rPr lang="en"/>
              <a:t>Free-source database covering player profiles, transfer history, market valuations, performance stats, and national team appearances, rich enough to answer all 10 questions without external APIs.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26"/>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Major Obstacle</a:t>
            </a:r>
            <a:endParaRPr/>
          </a:p>
        </p:txBody>
      </p:sp>
      <p:sp>
        <p:nvSpPr>
          <p:cNvPr id="482" name="Google Shape;482;p26"/>
          <p:cNvSpPr txBox="1"/>
          <p:nvPr>
            <p:ph idx="1" type="body"/>
          </p:nvPr>
        </p:nvSpPr>
        <p:spPr>
          <a:xfrm>
            <a:off x="1303800" y="1990050"/>
            <a:ext cx="7030500" cy="25416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0000"/>
              <a:buNone/>
            </a:pPr>
            <a:r>
              <a:rPr b="1" lang="en"/>
              <a:t>Keeping SQL and Python analyses in sync</a:t>
            </a:r>
            <a:endParaRPr/>
          </a:p>
          <a:p>
            <a:pPr indent="0" lvl="0" marL="0" rtl="0" algn="l">
              <a:lnSpc>
                <a:spcPct val="115000"/>
              </a:lnSpc>
              <a:spcBef>
                <a:spcPts val="800"/>
              </a:spcBef>
              <a:spcAft>
                <a:spcPts val="0"/>
              </a:spcAft>
              <a:buSzPct val="100000"/>
              <a:buNone/>
            </a:pPr>
            <a:r>
              <a:rPr lang="en"/>
              <a:t>The biggest challenge was ensuring SQL and Python produced consistent results. Subtle differences in scope, which side of a transfer to filter, how to handle both-team Big 5 constraints, or which table to join, meant the two tools returned different clubs for the same question. </a:t>
            </a:r>
            <a:endParaRPr/>
          </a:p>
          <a:p>
            <a:pPr indent="0" lvl="0" marL="0" rtl="0" algn="l">
              <a:lnSpc>
                <a:spcPct val="115000"/>
              </a:lnSpc>
              <a:spcBef>
                <a:spcPts val="800"/>
              </a:spcBef>
              <a:spcAft>
                <a:spcPts val="0"/>
              </a:spcAft>
              <a:buSzPct val="100000"/>
              <a:buNone/>
            </a:pPr>
            <a:r>
              <a:rPr b="1" lang="en"/>
              <a:t>What we learned</a:t>
            </a:r>
            <a:endParaRPr/>
          </a:p>
          <a:p>
            <a:pPr indent="0" lvl="0" marL="0" rtl="0" algn="l">
              <a:lnSpc>
                <a:spcPct val="115000"/>
              </a:lnSpc>
              <a:spcBef>
                <a:spcPts val="800"/>
              </a:spcBef>
              <a:spcAft>
                <a:spcPts val="0"/>
              </a:spcAft>
              <a:buSzPct val="100000"/>
              <a:buNone/>
            </a:pPr>
            <a:r>
              <a:rPr lang="en"/>
              <a:t>Defining the exact scope of each question before writing any code would have saved significant rework. Ambiguity in the question directly causes ambiguity in the filter logic.</a:t>
            </a:r>
            <a:endParaRPr/>
          </a:p>
          <a:p>
            <a:pPr indent="0" lvl="0" marL="0" rtl="0" algn="l">
              <a:lnSpc>
                <a:spcPct val="115000"/>
              </a:lnSpc>
              <a:spcBef>
                <a:spcPts val="1200"/>
              </a:spcBef>
              <a:spcAft>
                <a:spcPts val="0"/>
              </a:spcAft>
              <a:buSzPct val="100000"/>
              <a:buNone/>
            </a:pPr>
            <a:r>
              <a:rPr b="1" lang="en"/>
              <a:t>What we would do differently</a:t>
            </a:r>
            <a:endParaRPr/>
          </a:p>
          <a:p>
            <a:pPr indent="0" lvl="0" marL="0" rtl="0" algn="l">
              <a:lnSpc>
                <a:spcPct val="115000"/>
              </a:lnSpc>
              <a:spcBef>
                <a:spcPts val="800"/>
              </a:spcBef>
              <a:spcAft>
                <a:spcPts val="0"/>
              </a:spcAft>
              <a:buSzPct val="100000"/>
              <a:buNone/>
            </a:pPr>
            <a:r>
              <a:rPr lang="en"/>
              <a:t>Write a shared data dictionary upfront, agreeing on exact table names, column semantics, and filter rules before coding in either tool.</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7"/>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Conclusion and Insights</a:t>
            </a:r>
            <a:endParaRPr/>
          </a:p>
        </p:txBody>
      </p:sp>
      <p:sp>
        <p:nvSpPr>
          <p:cNvPr id="488" name="Google Shape;488;p27"/>
          <p:cNvSpPr txBox="1"/>
          <p:nvPr>
            <p:ph idx="1" type="body"/>
          </p:nvPr>
        </p:nvSpPr>
        <p:spPr>
          <a:xfrm>
            <a:off x="1303800" y="1990050"/>
            <a:ext cx="7030500" cy="2541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n" sz="1200"/>
              <a:t>Objectives met</a:t>
            </a:r>
            <a:endParaRPr sz="1200"/>
          </a:p>
          <a:p>
            <a:pPr indent="0" lvl="0" marL="0" rtl="0" algn="l">
              <a:lnSpc>
                <a:spcPct val="115000"/>
              </a:lnSpc>
              <a:spcBef>
                <a:spcPts val="800"/>
              </a:spcBef>
              <a:spcAft>
                <a:spcPts val="0"/>
              </a:spcAft>
              <a:buSzPts val="1300"/>
              <a:buNone/>
            </a:pPr>
            <a:r>
              <a:rPr lang="en" sz="1200"/>
              <a:t>All 10 questions were answered using SQL/Python, with consistent results across both tools. The project successfully combined EDA, aggregation, and visual storytelling on a real-world dataset.</a:t>
            </a:r>
            <a:endParaRPr sz="1200"/>
          </a:p>
          <a:p>
            <a:pPr indent="0" lvl="0" marL="0" rtl="0" algn="l">
              <a:lnSpc>
                <a:spcPct val="115000"/>
              </a:lnSpc>
              <a:spcBef>
                <a:spcPts val="1000"/>
              </a:spcBef>
              <a:spcAft>
                <a:spcPts val="0"/>
              </a:spcAft>
              <a:buSzPts val="1300"/>
              <a:buNone/>
            </a:pPr>
            <a:r>
              <a:rPr b="1" lang="en" sz="1200"/>
              <a:t>Limitations and open questions</a:t>
            </a:r>
            <a:endParaRPr sz="1200"/>
          </a:p>
          <a:p>
            <a:pPr indent="0" lvl="0" marL="0" rtl="0" algn="l">
              <a:lnSpc>
                <a:spcPct val="115000"/>
              </a:lnSpc>
              <a:spcBef>
                <a:spcPts val="800"/>
              </a:spcBef>
              <a:spcAft>
                <a:spcPts val="0"/>
              </a:spcAft>
              <a:buSzPts val="1300"/>
              <a:buNone/>
            </a:pPr>
            <a:r>
              <a:rPr lang="en" sz="1200"/>
              <a:t>Value_at_transfer may not always reflect updated market values between consecutive transfers, limiting the reliability of value evolution analysis. Age-adjusted performance and injury history were not available, which would significantly strengthen causal claims.</a:t>
            </a:r>
            <a:endParaRPr sz="12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g3cd3b42584c_0_0"/>
          <p:cNvSpPr txBox="1"/>
          <p:nvPr>
            <p:ph type="title"/>
          </p:nvPr>
        </p:nvSpPr>
        <p:spPr>
          <a:xfrm>
            <a:off x="1388550" y="1640100"/>
            <a:ext cx="6366900" cy="1863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4500"/>
              <a:t>Any Questions? </a:t>
            </a:r>
            <a:endParaRPr sz="45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